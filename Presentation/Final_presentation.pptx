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26"/>
  </p:notesMasterIdLst>
  <p:handoutMasterIdLst>
    <p:handoutMasterId r:id="rId27"/>
  </p:handoutMasterIdLst>
  <p:sldIdLst>
    <p:sldId id="256" r:id="rId2"/>
    <p:sldId id="257" r:id="rId3"/>
    <p:sldId id="262" r:id="rId4"/>
    <p:sldId id="258" r:id="rId5"/>
    <p:sldId id="264" r:id="rId6"/>
    <p:sldId id="265" r:id="rId7"/>
    <p:sldId id="268" r:id="rId8"/>
    <p:sldId id="274" r:id="rId9"/>
    <p:sldId id="275" r:id="rId10"/>
    <p:sldId id="271" r:id="rId11"/>
    <p:sldId id="276" r:id="rId12"/>
    <p:sldId id="288" r:id="rId13"/>
    <p:sldId id="266" r:id="rId14"/>
    <p:sldId id="280" r:id="rId15"/>
    <p:sldId id="281" r:id="rId16"/>
    <p:sldId id="282" r:id="rId17"/>
    <p:sldId id="283" r:id="rId18"/>
    <p:sldId id="284" r:id="rId19"/>
    <p:sldId id="285" r:id="rId20"/>
    <p:sldId id="286" r:id="rId21"/>
    <p:sldId id="287" r:id="rId22"/>
    <p:sldId id="267" r:id="rId23"/>
    <p:sldId id="261" r:id="rId24"/>
    <p:sldId id="259" r:id="rId25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1D133A8-10DB-113A-B64D-C35A8A056F8D}" name="Kai-Ze Deng" initials="KD" userId="6e388ab0673ed798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B3774"/>
    <a:srgbClr val="E5F2FD"/>
    <a:srgbClr val="008000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C8CEC0E-2F09-9E32-1EAD-B4A4B90ACD99}" v="163" dt="2025-03-06T12:25:29.608"/>
    <p1510:client id="{1CBD283B-5DA9-B481-B46E-6527DE7D24FA}" v="922" dt="2025-03-06T15:28:55.298"/>
    <p1510:client id="{33A7D74C-FCD4-0A90-A60B-EC9BA09845CC}" v="127" dt="2025-03-06T09:06:17.987"/>
    <p1510:client id="{77267FEC-E155-054D-B086-4A5D1CAFA148}" v="182" dt="2025-03-06T10:59:36.787"/>
    <p1510:client id="{9605C611-FA62-7801-CD42-57136BC4A7B8}" v="31" dt="2025-03-06T12:35:38.901"/>
    <p1510:client id="{F0B8429D-718F-4947-803A-16361CD36A25}" v="1474" dt="2025-03-06T15:10:38.135"/>
    <p1510:client id="{F596844E-A7D6-B7A0-9A2F-0EDAD62AAF64}" v="2" dt="2025-03-06T12:59:22.36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162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8/10/relationships/authors" Target="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38CD63F-75AC-4A2A-AEF9-DE7599854BE2}" type="doc">
      <dgm:prSet loTypeId="urn:microsoft.com/office/officeart/2005/8/layout/process2" loCatId="process" qsTypeId="urn:microsoft.com/office/officeart/2005/8/quickstyle/simple1" qsCatId="simple" csTypeId="urn:microsoft.com/office/officeart/2005/8/colors/accent2_2" csCatId="accent2" phldr="1"/>
      <dgm:spPr/>
    </dgm:pt>
    <dgm:pt modelId="{2C831853-2DC1-4026-A2C8-66E244425B04}">
      <dgm:prSet phldrT="[Text]" phldr="0"/>
      <dgm:spPr/>
      <dgm:t>
        <a:bodyPr/>
        <a:lstStyle/>
        <a:p>
          <a:pPr rtl="0"/>
          <a:r>
            <a:rPr lang="en-US">
              <a:latin typeface="TUM Neue Helvetica 55 Regular"/>
            </a:rPr>
            <a:t>Input Data</a:t>
          </a:r>
          <a:endParaRPr lang="en-US"/>
        </a:p>
      </dgm:t>
    </dgm:pt>
    <dgm:pt modelId="{E5D4D1B7-A5B1-4901-9428-9B2BEB148B5C}" type="parTrans" cxnId="{5444262E-542B-41A6-B27C-A1F9B7657A67}">
      <dgm:prSet/>
      <dgm:spPr/>
      <dgm:t>
        <a:bodyPr/>
        <a:lstStyle/>
        <a:p>
          <a:endParaRPr lang="en-US"/>
        </a:p>
      </dgm:t>
    </dgm:pt>
    <dgm:pt modelId="{C55CF54E-E0D2-4533-B347-0E31B52139C9}" type="sibTrans" cxnId="{5444262E-542B-41A6-B27C-A1F9B7657A67}">
      <dgm:prSet/>
      <dgm:spPr/>
      <dgm:t>
        <a:bodyPr/>
        <a:lstStyle/>
        <a:p>
          <a:endParaRPr lang="en-US"/>
        </a:p>
      </dgm:t>
    </dgm:pt>
    <dgm:pt modelId="{47A37439-C183-431B-AB3D-03460CC06141}">
      <dgm:prSet phldrT="[Text]" phldr="0"/>
      <dgm:spPr/>
      <dgm:t>
        <a:bodyPr/>
        <a:lstStyle/>
        <a:p>
          <a:pPr rtl="0"/>
          <a:r>
            <a:rPr lang="en-US">
              <a:latin typeface="TUM Neue Helvetica 55 Regular"/>
            </a:rPr>
            <a:t>Feature representation</a:t>
          </a:r>
          <a:endParaRPr lang="en-US"/>
        </a:p>
      </dgm:t>
    </dgm:pt>
    <dgm:pt modelId="{1D31C842-923C-4DB6-8329-08ACBA779C1D}" type="parTrans" cxnId="{132D53BD-286C-4BF5-8EE0-3BE157CE39D7}">
      <dgm:prSet/>
      <dgm:spPr/>
      <dgm:t>
        <a:bodyPr/>
        <a:lstStyle/>
        <a:p>
          <a:endParaRPr lang="en-US"/>
        </a:p>
      </dgm:t>
    </dgm:pt>
    <dgm:pt modelId="{EE98CF9A-55FD-4AC5-991A-C3AD6A32812C}" type="sibTrans" cxnId="{132D53BD-286C-4BF5-8EE0-3BE157CE39D7}">
      <dgm:prSet/>
      <dgm:spPr/>
      <dgm:t>
        <a:bodyPr/>
        <a:lstStyle/>
        <a:p>
          <a:endParaRPr lang="en-US"/>
        </a:p>
      </dgm:t>
    </dgm:pt>
    <dgm:pt modelId="{31A2DA02-CA8D-4DB5-B0A0-B3943766173B}">
      <dgm:prSet phldrT="[Text]" phldr="0"/>
      <dgm:spPr/>
      <dgm:t>
        <a:bodyPr/>
        <a:lstStyle/>
        <a:p>
          <a:pPr rtl="0"/>
          <a:r>
            <a:rPr lang="en-US">
              <a:latin typeface="TUM Neue Helvetica 55 Regular"/>
            </a:rPr>
            <a:t>Graph Representation</a:t>
          </a:r>
          <a:endParaRPr lang="en-US"/>
        </a:p>
      </dgm:t>
    </dgm:pt>
    <dgm:pt modelId="{6809DD24-A972-4D0A-854B-B6D0770FCCF4}" type="parTrans" cxnId="{9A2B5CEB-EB55-4D28-8442-0235F33B1EE6}">
      <dgm:prSet/>
      <dgm:spPr/>
      <dgm:t>
        <a:bodyPr/>
        <a:lstStyle/>
        <a:p>
          <a:endParaRPr lang="en-US"/>
        </a:p>
      </dgm:t>
    </dgm:pt>
    <dgm:pt modelId="{D421F6A4-7867-4C77-955E-6F23CC1AD61C}" type="sibTrans" cxnId="{9A2B5CEB-EB55-4D28-8442-0235F33B1EE6}">
      <dgm:prSet/>
      <dgm:spPr/>
      <dgm:t>
        <a:bodyPr/>
        <a:lstStyle/>
        <a:p>
          <a:endParaRPr lang="en-US"/>
        </a:p>
      </dgm:t>
    </dgm:pt>
    <dgm:pt modelId="{86220A1E-5CF2-4A8F-B270-392D1BD0990E}" type="pres">
      <dgm:prSet presAssocID="{938CD63F-75AC-4A2A-AEF9-DE7599854BE2}" presName="linearFlow" presStyleCnt="0">
        <dgm:presLayoutVars>
          <dgm:resizeHandles val="exact"/>
        </dgm:presLayoutVars>
      </dgm:prSet>
      <dgm:spPr/>
    </dgm:pt>
    <dgm:pt modelId="{F8A0B70F-3B16-41E6-83AB-674D2C027F2A}" type="pres">
      <dgm:prSet presAssocID="{2C831853-2DC1-4026-A2C8-66E244425B04}" presName="node" presStyleLbl="node1" presStyleIdx="0" presStyleCnt="3">
        <dgm:presLayoutVars>
          <dgm:bulletEnabled val="1"/>
        </dgm:presLayoutVars>
      </dgm:prSet>
      <dgm:spPr/>
    </dgm:pt>
    <dgm:pt modelId="{8FCFEB70-42BC-4AEB-9B17-3BF6FFF1AB10}" type="pres">
      <dgm:prSet presAssocID="{C55CF54E-E0D2-4533-B347-0E31B52139C9}" presName="sibTrans" presStyleLbl="sibTrans2D1" presStyleIdx="0" presStyleCnt="2"/>
      <dgm:spPr/>
    </dgm:pt>
    <dgm:pt modelId="{EEDE4FEE-89A3-4C19-9EE0-754412D59151}" type="pres">
      <dgm:prSet presAssocID="{C55CF54E-E0D2-4533-B347-0E31B52139C9}" presName="connectorText" presStyleLbl="sibTrans2D1" presStyleIdx="0" presStyleCnt="2"/>
      <dgm:spPr/>
    </dgm:pt>
    <dgm:pt modelId="{DFFD23D7-D84F-43DC-A599-AD1CAA330EE7}" type="pres">
      <dgm:prSet presAssocID="{47A37439-C183-431B-AB3D-03460CC06141}" presName="node" presStyleLbl="node1" presStyleIdx="1" presStyleCnt="3">
        <dgm:presLayoutVars>
          <dgm:bulletEnabled val="1"/>
        </dgm:presLayoutVars>
      </dgm:prSet>
      <dgm:spPr/>
    </dgm:pt>
    <dgm:pt modelId="{2EF6853A-858B-44B5-9BFB-DC9EAB0B1B87}" type="pres">
      <dgm:prSet presAssocID="{EE98CF9A-55FD-4AC5-991A-C3AD6A32812C}" presName="sibTrans" presStyleLbl="sibTrans2D1" presStyleIdx="1" presStyleCnt="2"/>
      <dgm:spPr/>
    </dgm:pt>
    <dgm:pt modelId="{0B99572C-CEB5-4048-86C5-EB417A2EBABE}" type="pres">
      <dgm:prSet presAssocID="{EE98CF9A-55FD-4AC5-991A-C3AD6A32812C}" presName="connectorText" presStyleLbl="sibTrans2D1" presStyleIdx="1" presStyleCnt="2"/>
      <dgm:spPr/>
    </dgm:pt>
    <dgm:pt modelId="{060E4C0F-B5D7-4E7C-A578-C598248DCFCD}" type="pres">
      <dgm:prSet presAssocID="{31A2DA02-CA8D-4DB5-B0A0-B3943766173B}" presName="node" presStyleLbl="node1" presStyleIdx="2" presStyleCnt="3">
        <dgm:presLayoutVars>
          <dgm:bulletEnabled val="1"/>
        </dgm:presLayoutVars>
      </dgm:prSet>
      <dgm:spPr/>
    </dgm:pt>
  </dgm:ptLst>
  <dgm:cxnLst>
    <dgm:cxn modelId="{A634B10A-116C-4CFC-838E-E58AC7220760}" type="presOf" srcId="{EE98CF9A-55FD-4AC5-991A-C3AD6A32812C}" destId="{0B99572C-CEB5-4048-86C5-EB417A2EBABE}" srcOrd="1" destOrd="0" presId="urn:microsoft.com/office/officeart/2005/8/layout/process2"/>
    <dgm:cxn modelId="{E8C4D32D-AF72-42C9-851E-16FCA2BD20CB}" type="presOf" srcId="{2C831853-2DC1-4026-A2C8-66E244425B04}" destId="{F8A0B70F-3B16-41E6-83AB-674D2C027F2A}" srcOrd="0" destOrd="0" presId="urn:microsoft.com/office/officeart/2005/8/layout/process2"/>
    <dgm:cxn modelId="{5444262E-542B-41A6-B27C-A1F9B7657A67}" srcId="{938CD63F-75AC-4A2A-AEF9-DE7599854BE2}" destId="{2C831853-2DC1-4026-A2C8-66E244425B04}" srcOrd="0" destOrd="0" parTransId="{E5D4D1B7-A5B1-4901-9428-9B2BEB148B5C}" sibTransId="{C55CF54E-E0D2-4533-B347-0E31B52139C9}"/>
    <dgm:cxn modelId="{4396B64A-F690-4A2C-A910-C49CDFDFB3E0}" type="presOf" srcId="{938CD63F-75AC-4A2A-AEF9-DE7599854BE2}" destId="{86220A1E-5CF2-4A8F-B270-392D1BD0990E}" srcOrd="0" destOrd="0" presId="urn:microsoft.com/office/officeart/2005/8/layout/process2"/>
    <dgm:cxn modelId="{E257B492-12FA-46E2-B8EB-C8B0F6DAD583}" type="presOf" srcId="{47A37439-C183-431B-AB3D-03460CC06141}" destId="{DFFD23D7-D84F-43DC-A599-AD1CAA330EE7}" srcOrd="0" destOrd="0" presId="urn:microsoft.com/office/officeart/2005/8/layout/process2"/>
    <dgm:cxn modelId="{A4A37B9B-E94D-454F-A6F8-E1B9F78C9A80}" type="presOf" srcId="{C55CF54E-E0D2-4533-B347-0E31B52139C9}" destId="{8FCFEB70-42BC-4AEB-9B17-3BF6FFF1AB10}" srcOrd="0" destOrd="0" presId="urn:microsoft.com/office/officeart/2005/8/layout/process2"/>
    <dgm:cxn modelId="{208C17AF-5B16-4B7E-B8DC-0865E60A7687}" type="presOf" srcId="{C55CF54E-E0D2-4533-B347-0E31B52139C9}" destId="{EEDE4FEE-89A3-4C19-9EE0-754412D59151}" srcOrd="1" destOrd="0" presId="urn:microsoft.com/office/officeart/2005/8/layout/process2"/>
    <dgm:cxn modelId="{132D53BD-286C-4BF5-8EE0-3BE157CE39D7}" srcId="{938CD63F-75AC-4A2A-AEF9-DE7599854BE2}" destId="{47A37439-C183-431B-AB3D-03460CC06141}" srcOrd="1" destOrd="0" parTransId="{1D31C842-923C-4DB6-8329-08ACBA779C1D}" sibTransId="{EE98CF9A-55FD-4AC5-991A-C3AD6A32812C}"/>
    <dgm:cxn modelId="{8E2D37DE-33D0-48BA-947E-FE93E844F4F1}" type="presOf" srcId="{31A2DA02-CA8D-4DB5-B0A0-B3943766173B}" destId="{060E4C0F-B5D7-4E7C-A578-C598248DCFCD}" srcOrd="0" destOrd="0" presId="urn:microsoft.com/office/officeart/2005/8/layout/process2"/>
    <dgm:cxn modelId="{9A2B5CEB-EB55-4D28-8442-0235F33B1EE6}" srcId="{938CD63F-75AC-4A2A-AEF9-DE7599854BE2}" destId="{31A2DA02-CA8D-4DB5-B0A0-B3943766173B}" srcOrd="2" destOrd="0" parTransId="{6809DD24-A972-4D0A-854B-B6D0770FCCF4}" sibTransId="{D421F6A4-7867-4C77-955E-6F23CC1AD61C}"/>
    <dgm:cxn modelId="{1FFF78FC-3677-4EB3-99A6-7D4062AAF4C0}" type="presOf" srcId="{EE98CF9A-55FD-4AC5-991A-C3AD6A32812C}" destId="{2EF6853A-858B-44B5-9BFB-DC9EAB0B1B87}" srcOrd="0" destOrd="0" presId="urn:microsoft.com/office/officeart/2005/8/layout/process2"/>
    <dgm:cxn modelId="{0D0DBB4E-116E-4879-9056-61E2E6067413}" type="presParOf" srcId="{86220A1E-5CF2-4A8F-B270-392D1BD0990E}" destId="{F8A0B70F-3B16-41E6-83AB-674D2C027F2A}" srcOrd="0" destOrd="0" presId="urn:microsoft.com/office/officeart/2005/8/layout/process2"/>
    <dgm:cxn modelId="{6DA8C0CF-0491-4ADE-8363-C09101837CB8}" type="presParOf" srcId="{86220A1E-5CF2-4A8F-B270-392D1BD0990E}" destId="{8FCFEB70-42BC-4AEB-9B17-3BF6FFF1AB10}" srcOrd="1" destOrd="0" presId="urn:microsoft.com/office/officeart/2005/8/layout/process2"/>
    <dgm:cxn modelId="{60626CF1-5355-4C71-9733-1F2E4AFC3632}" type="presParOf" srcId="{8FCFEB70-42BC-4AEB-9B17-3BF6FFF1AB10}" destId="{EEDE4FEE-89A3-4C19-9EE0-754412D59151}" srcOrd="0" destOrd="0" presId="urn:microsoft.com/office/officeart/2005/8/layout/process2"/>
    <dgm:cxn modelId="{9F74B564-EB48-49BB-B8BA-B1FC45A82A20}" type="presParOf" srcId="{86220A1E-5CF2-4A8F-B270-392D1BD0990E}" destId="{DFFD23D7-D84F-43DC-A599-AD1CAA330EE7}" srcOrd="2" destOrd="0" presId="urn:microsoft.com/office/officeart/2005/8/layout/process2"/>
    <dgm:cxn modelId="{A23A189C-C1BD-41C4-A27B-36FFE3B7ADBE}" type="presParOf" srcId="{86220A1E-5CF2-4A8F-B270-392D1BD0990E}" destId="{2EF6853A-858B-44B5-9BFB-DC9EAB0B1B87}" srcOrd="3" destOrd="0" presId="urn:microsoft.com/office/officeart/2005/8/layout/process2"/>
    <dgm:cxn modelId="{DE4B3231-0EDC-4969-8782-864BF0C70365}" type="presParOf" srcId="{2EF6853A-858B-44B5-9BFB-DC9EAB0B1B87}" destId="{0B99572C-CEB5-4048-86C5-EB417A2EBABE}" srcOrd="0" destOrd="0" presId="urn:microsoft.com/office/officeart/2005/8/layout/process2"/>
    <dgm:cxn modelId="{AECDD4FD-C70A-48C3-8981-2884DA298AE9}" type="presParOf" srcId="{86220A1E-5CF2-4A8F-B270-392D1BD0990E}" destId="{060E4C0F-B5D7-4E7C-A578-C598248DCFCD}" srcOrd="4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38CD63F-75AC-4A2A-AEF9-DE7599854BE2}" type="doc">
      <dgm:prSet loTypeId="urn:microsoft.com/office/officeart/2005/8/layout/process2" loCatId="process" qsTypeId="urn:microsoft.com/office/officeart/2005/8/quickstyle/simple1" qsCatId="simple" csTypeId="urn:microsoft.com/office/officeart/2005/8/colors/accent2_2" csCatId="accent2" phldr="1"/>
      <dgm:spPr/>
    </dgm:pt>
    <dgm:pt modelId="{47A37439-C183-431B-AB3D-03460CC06141}">
      <dgm:prSet phldrT="[Text]" phldr="0"/>
      <dgm:spPr/>
      <dgm:t>
        <a:bodyPr/>
        <a:lstStyle/>
        <a:p>
          <a:pPr rtl="0"/>
          <a:r>
            <a:rPr lang="en-US">
              <a:latin typeface="TUM Neue Helvetica 55 Regular"/>
            </a:rPr>
            <a:t>Integration of F1 and F2</a:t>
          </a:r>
        </a:p>
      </dgm:t>
    </dgm:pt>
    <dgm:pt modelId="{1D31C842-923C-4DB6-8329-08ACBA779C1D}" type="parTrans" cxnId="{132D53BD-286C-4BF5-8EE0-3BE157CE39D7}">
      <dgm:prSet/>
      <dgm:spPr/>
      <dgm:t>
        <a:bodyPr/>
        <a:lstStyle/>
        <a:p>
          <a:endParaRPr lang="en-US"/>
        </a:p>
      </dgm:t>
    </dgm:pt>
    <dgm:pt modelId="{EE98CF9A-55FD-4AC5-991A-C3AD6A32812C}" type="sibTrans" cxnId="{132D53BD-286C-4BF5-8EE0-3BE157CE39D7}">
      <dgm:prSet/>
      <dgm:spPr/>
      <dgm:t>
        <a:bodyPr/>
        <a:lstStyle/>
        <a:p>
          <a:endParaRPr lang="en-US"/>
        </a:p>
      </dgm:t>
    </dgm:pt>
    <dgm:pt modelId="{05030FD0-E8D8-44BC-8D09-BEA3C2DF11E4}">
      <dgm:prSet phldr="0"/>
      <dgm:spPr/>
      <dgm:t>
        <a:bodyPr/>
        <a:lstStyle/>
        <a:p>
          <a:r>
            <a:rPr lang="en-US">
              <a:latin typeface="TUM Neue Helvetica 55 Regular"/>
            </a:rPr>
            <a:t>Classification</a:t>
          </a:r>
          <a:endParaRPr lang="en-US"/>
        </a:p>
      </dgm:t>
    </dgm:pt>
    <dgm:pt modelId="{869FB100-9FE4-44E2-A2C2-5DC02F411B74}" type="parTrans" cxnId="{623D046E-F738-40D2-804E-096AA9CDAF06}">
      <dgm:prSet/>
      <dgm:spPr/>
    </dgm:pt>
    <dgm:pt modelId="{4F46DC6C-1043-44C4-A0A0-602C618D8C50}" type="sibTrans" cxnId="{623D046E-F738-40D2-804E-096AA9CDAF06}">
      <dgm:prSet/>
      <dgm:spPr/>
      <dgm:t>
        <a:bodyPr/>
        <a:lstStyle/>
        <a:p>
          <a:endParaRPr lang="en-US"/>
        </a:p>
      </dgm:t>
    </dgm:pt>
    <dgm:pt modelId="{D97481F7-E5AE-4628-8C05-BEE5A2B790B8}">
      <dgm:prSet phldr="0"/>
      <dgm:spPr/>
      <dgm:t>
        <a:bodyPr/>
        <a:lstStyle/>
        <a:p>
          <a:r>
            <a:rPr lang="en-US">
              <a:latin typeface="TUM Neue Helvetica 55 Regular"/>
            </a:rPr>
            <a:t>End</a:t>
          </a:r>
        </a:p>
      </dgm:t>
    </dgm:pt>
    <dgm:pt modelId="{A71CA74D-D12D-4A13-B999-BBA646540596}" type="parTrans" cxnId="{AD03A77F-05BC-49F4-B3ED-9FFDC10F8BD1}">
      <dgm:prSet/>
      <dgm:spPr/>
    </dgm:pt>
    <dgm:pt modelId="{0B0672C0-AF59-4259-B42A-B99CA767A651}" type="sibTrans" cxnId="{AD03A77F-05BC-49F4-B3ED-9FFDC10F8BD1}">
      <dgm:prSet/>
      <dgm:spPr/>
    </dgm:pt>
    <dgm:pt modelId="{86220A1E-5CF2-4A8F-B270-392D1BD0990E}" type="pres">
      <dgm:prSet presAssocID="{938CD63F-75AC-4A2A-AEF9-DE7599854BE2}" presName="linearFlow" presStyleCnt="0">
        <dgm:presLayoutVars>
          <dgm:resizeHandles val="exact"/>
        </dgm:presLayoutVars>
      </dgm:prSet>
      <dgm:spPr/>
    </dgm:pt>
    <dgm:pt modelId="{DFFD23D7-D84F-43DC-A599-AD1CAA330EE7}" type="pres">
      <dgm:prSet presAssocID="{47A37439-C183-431B-AB3D-03460CC06141}" presName="node" presStyleLbl="node1" presStyleIdx="0" presStyleCnt="3">
        <dgm:presLayoutVars>
          <dgm:bulletEnabled val="1"/>
        </dgm:presLayoutVars>
      </dgm:prSet>
      <dgm:spPr/>
    </dgm:pt>
    <dgm:pt modelId="{F531A719-1C8C-475A-B67D-3DA206680A6C}" type="pres">
      <dgm:prSet presAssocID="{EE98CF9A-55FD-4AC5-991A-C3AD6A32812C}" presName="sibTrans" presStyleLbl="sibTrans2D1" presStyleIdx="0" presStyleCnt="2"/>
      <dgm:spPr/>
    </dgm:pt>
    <dgm:pt modelId="{A7A88C91-D8A4-4E02-9F38-1DA155B16548}" type="pres">
      <dgm:prSet presAssocID="{EE98CF9A-55FD-4AC5-991A-C3AD6A32812C}" presName="connectorText" presStyleLbl="sibTrans2D1" presStyleIdx="0" presStyleCnt="2"/>
      <dgm:spPr/>
    </dgm:pt>
    <dgm:pt modelId="{B3E1FAF0-E952-4496-A0B7-6B29ADEE531C}" type="pres">
      <dgm:prSet presAssocID="{05030FD0-E8D8-44BC-8D09-BEA3C2DF11E4}" presName="node" presStyleLbl="node1" presStyleIdx="1" presStyleCnt="3">
        <dgm:presLayoutVars>
          <dgm:bulletEnabled val="1"/>
        </dgm:presLayoutVars>
      </dgm:prSet>
      <dgm:spPr/>
    </dgm:pt>
    <dgm:pt modelId="{CF4EE94E-3F05-4EF0-90F9-3AE80053655A}" type="pres">
      <dgm:prSet presAssocID="{4F46DC6C-1043-44C4-A0A0-602C618D8C50}" presName="sibTrans" presStyleLbl="sibTrans2D1" presStyleIdx="1" presStyleCnt="2"/>
      <dgm:spPr/>
    </dgm:pt>
    <dgm:pt modelId="{BD249F16-04F5-4421-B64B-E71AFDEB2240}" type="pres">
      <dgm:prSet presAssocID="{4F46DC6C-1043-44C4-A0A0-602C618D8C50}" presName="connectorText" presStyleLbl="sibTrans2D1" presStyleIdx="1" presStyleCnt="2"/>
      <dgm:spPr/>
    </dgm:pt>
    <dgm:pt modelId="{34609887-C397-4FC6-B321-05AB4F660867}" type="pres">
      <dgm:prSet presAssocID="{D97481F7-E5AE-4628-8C05-BEE5A2B790B8}" presName="node" presStyleLbl="node1" presStyleIdx="2" presStyleCnt="3">
        <dgm:presLayoutVars>
          <dgm:bulletEnabled val="1"/>
        </dgm:presLayoutVars>
      </dgm:prSet>
      <dgm:spPr/>
    </dgm:pt>
  </dgm:ptLst>
  <dgm:cxnLst>
    <dgm:cxn modelId="{C45B3D18-382A-43CE-8A84-79832E8DE0D0}" type="presOf" srcId="{47A37439-C183-431B-AB3D-03460CC06141}" destId="{DFFD23D7-D84F-43DC-A599-AD1CAA330EE7}" srcOrd="0" destOrd="0" presId="urn:microsoft.com/office/officeart/2005/8/layout/process2"/>
    <dgm:cxn modelId="{4396B64A-F690-4A2C-A910-C49CDFDFB3E0}" type="presOf" srcId="{938CD63F-75AC-4A2A-AEF9-DE7599854BE2}" destId="{86220A1E-5CF2-4A8F-B270-392D1BD0990E}" srcOrd="0" destOrd="0" presId="urn:microsoft.com/office/officeart/2005/8/layout/process2"/>
    <dgm:cxn modelId="{623D046E-F738-40D2-804E-096AA9CDAF06}" srcId="{938CD63F-75AC-4A2A-AEF9-DE7599854BE2}" destId="{05030FD0-E8D8-44BC-8D09-BEA3C2DF11E4}" srcOrd="1" destOrd="0" parTransId="{869FB100-9FE4-44E2-A2C2-5DC02F411B74}" sibTransId="{4F46DC6C-1043-44C4-A0A0-602C618D8C50}"/>
    <dgm:cxn modelId="{DBF48276-F39F-4FC3-8E55-8B76FC19EA6E}" type="presOf" srcId="{EE98CF9A-55FD-4AC5-991A-C3AD6A32812C}" destId="{F531A719-1C8C-475A-B67D-3DA206680A6C}" srcOrd="0" destOrd="0" presId="urn:microsoft.com/office/officeart/2005/8/layout/process2"/>
    <dgm:cxn modelId="{BE14EF78-F6A4-45F1-A586-0EC6FAEB64C9}" type="presOf" srcId="{D97481F7-E5AE-4628-8C05-BEE5A2B790B8}" destId="{34609887-C397-4FC6-B321-05AB4F660867}" srcOrd="0" destOrd="0" presId="urn:microsoft.com/office/officeart/2005/8/layout/process2"/>
    <dgm:cxn modelId="{AD03A77F-05BC-49F4-B3ED-9FFDC10F8BD1}" srcId="{938CD63F-75AC-4A2A-AEF9-DE7599854BE2}" destId="{D97481F7-E5AE-4628-8C05-BEE5A2B790B8}" srcOrd="2" destOrd="0" parTransId="{A71CA74D-D12D-4A13-B999-BBA646540596}" sibTransId="{0B0672C0-AF59-4259-B42A-B99CA767A651}"/>
    <dgm:cxn modelId="{35ED6489-B861-4D2F-A76E-5EE46E4D1E40}" type="presOf" srcId="{4F46DC6C-1043-44C4-A0A0-602C618D8C50}" destId="{BD249F16-04F5-4421-B64B-E71AFDEB2240}" srcOrd="1" destOrd="0" presId="urn:microsoft.com/office/officeart/2005/8/layout/process2"/>
    <dgm:cxn modelId="{04CBCFB8-06DC-484F-84F6-491F17911E86}" type="presOf" srcId="{4F46DC6C-1043-44C4-A0A0-602C618D8C50}" destId="{CF4EE94E-3F05-4EF0-90F9-3AE80053655A}" srcOrd="0" destOrd="0" presId="urn:microsoft.com/office/officeart/2005/8/layout/process2"/>
    <dgm:cxn modelId="{132D53BD-286C-4BF5-8EE0-3BE157CE39D7}" srcId="{938CD63F-75AC-4A2A-AEF9-DE7599854BE2}" destId="{47A37439-C183-431B-AB3D-03460CC06141}" srcOrd="0" destOrd="0" parTransId="{1D31C842-923C-4DB6-8329-08ACBA779C1D}" sibTransId="{EE98CF9A-55FD-4AC5-991A-C3AD6A32812C}"/>
    <dgm:cxn modelId="{C5F25FDF-EB6E-4B5B-8C52-38F4F47D8166}" type="presOf" srcId="{05030FD0-E8D8-44BC-8D09-BEA3C2DF11E4}" destId="{B3E1FAF0-E952-4496-A0B7-6B29ADEE531C}" srcOrd="0" destOrd="0" presId="urn:microsoft.com/office/officeart/2005/8/layout/process2"/>
    <dgm:cxn modelId="{7A7011E7-132B-4C93-997E-E58B680BC6FE}" type="presOf" srcId="{EE98CF9A-55FD-4AC5-991A-C3AD6A32812C}" destId="{A7A88C91-D8A4-4E02-9F38-1DA155B16548}" srcOrd="1" destOrd="0" presId="urn:microsoft.com/office/officeart/2005/8/layout/process2"/>
    <dgm:cxn modelId="{E69782B7-7980-4ABB-AD92-DB1129DBE115}" type="presParOf" srcId="{86220A1E-5CF2-4A8F-B270-392D1BD0990E}" destId="{DFFD23D7-D84F-43DC-A599-AD1CAA330EE7}" srcOrd="0" destOrd="0" presId="urn:microsoft.com/office/officeart/2005/8/layout/process2"/>
    <dgm:cxn modelId="{64812E68-A3E7-4E76-B300-ADA8D55A6FCF}" type="presParOf" srcId="{86220A1E-5CF2-4A8F-B270-392D1BD0990E}" destId="{F531A719-1C8C-475A-B67D-3DA206680A6C}" srcOrd="1" destOrd="0" presId="urn:microsoft.com/office/officeart/2005/8/layout/process2"/>
    <dgm:cxn modelId="{A19461C4-01BC-4427-8224-72B70FA1AE7B}" type="presParOf" srcId="{F531A719-1C8C-475A-B67D-3DA206680A6C}" destId="{A7A88C91-D8A4-4E02-9F38-1DA155B16548}" srcOrd="0" destOrd="0" presId="urn:microsoft.com/office/officeart/2005/8/layout/process2"/>
    <dgm:cxn modelId="{5F4AC95E-1C5D-4280-A2D3-DAB2617BB3FE}" type="presParOf" srcId="{86220A1E-5CF2-4A8F-B270-392D1BD0990E}" destId="{B3E1FAF0-E952-4496-A0B7-6B29ADEE531C}" srcOrd="2" destOrd="0" presId="urn:microsoft.com/office/officeart/2005/8/layout/process2"/>
    <dgm:cxn modelId="{DB131C54-B433-44F4-B514-2E7A4451AA4F}" type="presParOf" srcId="{86220A1E-5CF2-4A8F-B270-392D1BD0990E}" destId="{CF4EE94E-3F05-4EF0-90F9-3AE80053655A}" srcOrd="3" destOrd="0" presId="urn:microsoft.com/office/officeart/2005/8/layout/process2"/>
    <dgm:cxn modelId="{FAB22818-894D-49C5-B103-56E1937BF462}" type="presParOf" srcId="{CF4EE94E-3F05-4EF0-90F9-3AE80053655A}" destId="{BD249F16-04F5-4421-B64B-E71AFDEB2240}" srcOrd="0" destOrd="0" presId="urn:microsoft.com/office/officeart/2005/8/layout/process2"/>
    <dgm:cxn modelId="{EA9CDE39-5E6C-42EC-81A1-45B89C3D9CF1}" type="presParOf" srcId="{86220A1E-5CF2-4A8F-B270-392D1BD0990E}" destId="{34609887-C397-4FC6-B321-05AB4F660867}" srcOrd="4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38CD63F-75AC-4A2A-AEF9-DE7599854BE2}" type="doc">
      <dgm:prSet loTypeId="urn:microsoft.com/office/officeart/2005/8/layout/process2" loCatId="process" qsTypeId="urn:microsoft.com/office/officeart/2005/8/quickstyle/simple1" qsCatId="simple" csTypeId="urn:microsoft.com/office/officeart/2005/8/colors/accent2_2" csCatId="accent2" phldr="1"/>
      <dgm:spPr/>
    </dgm:pt>
    <dgm:pt modelId="{2C831853-2DC1-4026-A2C8-66E244425B04}">
      <dgm:prSet phldrT="[Text]" phldr="0"/>
      <dgm:spPr/>
      <dgm:t>
        <a:bodyPr/>
        <a:lstStyle/>
        <a:p>
          <a:pPr rtl="0"/>
          <a:r>
            <a:rPr lang="en-US">
              <a:latin typeface="TUM Neue Helvetica 55 Regular"/>
            </a:rPr>
            <a:t>Latent Space Transformation</a:t>
          </a:r>
          <a:endParaRPr lang="en-US"/>
        </a:p>
      </dgm:t>
    </dgm:pt>
    <dgm:pt modelId="{E5D4D1B7-A5B1-4901-9428-9B2BEB148B5C}" type="parTrans" cxnId="{5444262E-542B-41A6-B27C-A1F9B7657A67}">
      <dgm:prSet/>
      <dgm:spPr/>
      <dgm:t>
        <a:bodyPr/>
        <a:lstStyle/>
        <a:p>
          <a:endParaRPr lang="en-US"/>
        </a:p>
      </dgm:t>
    </dgm:pt>
    <dgm:pt modelId="{C55CF54E-E0D2-4533-B347-0E31B52139C9}" type="sibTrans" cxnId="{5444262E-542B-41A6-B27C-A1F9B7657A67}">
      <dgm:prSet/>
      <dgm:spPr/>
      <dgm:t>
        <a:bodyPr/>
        <a:lstStyle/>
        <a:p>
          <a:endParaRPr lang="en-US"/>
        </a:p>
      </dgm:t>
    </dgm:pt>
    <dgm:pt modelId="{47A37439-C183-431B-AB3D-03460CC06141}">
      <dgm:prSet phldrT="[Text]" phldr="0"/>
      <dgm:spPr/>
      <dgm:t>
        <a:bodyPr/>
        <a:lstStyle/>
        <a:p>
          <a:pPr rtl="0"/>
          <a:r>
            <a:rPr lang="en-US">
              <a:latin typeface="TUM Neue Helvetica 55 Regular"/>
            </a:rPr>
            <a:t>Population Graphs</a:t>
          </a:r>
          <a:endParaRPr lang="en-US"/>
        </a:p>
      </dgm:t>
    </dgm:pt>
    <dgm:pt modelId="{1D31C842-923C-4DB6-8329-08ACBA779C1D}" type="parTrans" cxnId="{132D53BD-286C-4BF5-8EE0-3BE157CE39D7}">
      <dgm:prSet/>
      <dgm:spPr/>
      <dgm:t>
        <a:bodyPr/>
        <a:lstStyle/>
        <a:p>
          <a:endParaRPr lang="en-US"/>
        </a:p>
      </dgm:t>
    </dgm:pt>
    <dgm:pt modelId="{EE98CF9A-55FD-4AC5-991A-C3AD6A32812C}" type="sibTrans" cxnId="{132D53BD-286C-4BF5-8EE0-3BE157CE39D7}">
      <dgm:prSet/>
      <dgm:spPr/>
      <dgm:t>
        <a:bodyPr/>
        <a:lstStyle/>
        <a:p>
          <a:endParaRPr lang="en-US"/>
        </a:p>
      </dgm:t>
    </dgm:pt>
    <dgm:pt modelId="{8840E953-6801-481A-9C55-D006FEF29C02}">
      <dgm:prSet phldr="0"/>
      <dgm:spPr/>
      <dgm:t>
        <a:bodyPr/>
        <a:lstStyle/>
        <a:p>
          <a:pPr rtl="0"/>
          <a:r>
            <a:rPr lang="en-US">
              <a:latin typeface="TUM Neue Helvetica 55 Regular"/>
            </a:rPr>
            <a:t>Building Connection</a:t>
          </a:r>
        </a:p>
      </dgm:t>
    </dgm:pt>
    <dgm:pt modelId="{F7230E21-4DCA-4532-931F-BEE29B435BC0}" type="parTrans" cxnId="{BB7ADB66-74D1-4B7A-AFBE-DDFAA7DF3074}">
      <dgm:prSet/>
      <dgm:spPr/>
    </dgm:pt>
    <dgm:pt modelId="{75E81A45-280B-41BE-B82A-F4EF45BD6454}" type="sibTrans" cxnId="{BB7ADB66-74D1-4B7A-AFBE-DDFAA7DF3074}">
      <dgm:prSet/>
      <dgm:spPr/>
      <dgm:t>
        <a:bodyPr/>
        <a:lstStyle/>
        <a:p>
          <a:endParaRPr lang="en-US"/>
        </a:p>
      </dgm:t>
    </dgm:pt>
    <dgm:pt modelId="{86220A1E-5CF2-4A8F-B270-392D1BD0990E}" type="pres">
      <dgm:prSet presAssocID="{938CD63F-75AC-4A2A-AEF9-DE7599854BE2}" presName="linearFlow" presStyleCnt="0">
        <dgm:presLayoutVars>
          <dgm:resizeHandles val="exact"/>
        </dgm:presLayoutVars>
      </dgm:prSet>
      <dgm:spPr/>
    </dgm:pt>
    <dgm:pt modelId="{F8A0B70F-3B16-41E6-83AB-674D2C027F2A}" type="pres">
      <dgm:prSet presAssocID="{2C831853-2DC1-4026-A2C8-66E244425B04}" presName="node" presStyleLbl="node1" presStyleIdx="0" presStyleCnt="3">
        <dgm:presLayoutVars>
          <dgm:bulletEnabled val="1"/>
        </dgm:presLayoutVars>
      </dgm:prSet>
      <dgm:spPr/>
    </dgm:pt>
    <dgm:pt modelId="{8FCFEB70-42BC-4AEB-9B17-3BF6FFF1AB10}" type="pres">
      <dgm:prSet presAssocID="{C55CF54E-E0D2-4533-B347-0E31B52139C9}" presName="sibTrans" presStyleLbl="sibTrans2D1" presStyleIdx="0" presStyleCnt="2"/>
      <dgm:spPr/>
    </dgm:pt>
    <dgm:pt modelId="{EEDE4FEE-89A3-4C19-9EE0-754412D59151}" type="pres">
      <dgm:prSet presAssocID="{C55CF54E-E0D2-4533-B347-0E31B52139C9}" presName="connectorText" presStyleLbl="sibTrans2D1" presStyleIdx="0" presStyleCnt="2"/>
      <dgm:spPr/>
    </dgm:pt>
    <dgm:pt modelId="{EF23DAEC-E140-4AC6-90E5-EB62AD93D6A8}" type="pres">
      <dgm:prSet presAssocID="{8840E953-6801-481A-9C55-D006FEF29C02}" presName="node" presStyleLbl="node1" presStyleIdx="1" presStyleCnt="3">
        <dgm:presLayoutVars>
          <dgm:bulletEnabled val="1"/>
        </dgm:presLayoutVars>
      </dgm:prSet>
      <dgm:spPr/>
    </dgm:pt>
    <dgm:pt modelId="{4AD6471F-D9DF-4016-A0AA-E309E945FFC6}" type="pres">
      <dgm:prSet presAssocID="{75E81A45-280B-41BE-B82A-F4EF45BD6454}" presName="sibTrans" presStyleLbl="sibTrans2D1" presStyleIdx="1" presStyleCnt="2"/>
      <dgm:spPr/>
    </dgm:pt>
    <dgm:pt modelId="{6518487E-CA58-4274-9C28-B976AFF75ABE}" type="pres">
      <dgm:prSet presAssocID="{75E81A45-280B-41BE-B82A-F4EF45BD6454}" presName="connectorText" presStyleLbl="sibTrans2D1" presStyleIdx="1" presStyleCnt="2"/>
      <dgm:spPr/>
    </dgm:pt>
    <dgm:pt modelId="{DFFD23D7-D84F-43DC-A599-AD1CAA330EE7}" type="pres">
      <dgm:prSet presAssocID="{47A37439-C183-431B-AB3D-03460CC06141}" presName="node" presStyleLbl="node1" presStyleIdx="2" presStyleCnt="3">
        <dgm:presLayoutVars>
          <dgm:bulletEnabled val="1"/>
        </dgm:presLayoutVars>
      </dgm:prSet>
      <dgm:spPr/>
    </dgm:pt>
  </dgm:ptLst>
  <dgm:cxnLst>
    <dgm:cxn modelId="{B83BF90A-D64E-4265-9FFC-D655E7E996F6}" type="presOf" srcId="{47A37439-C183-431B-AB3D-03460CC06141}" destId="{DFFD23D7-D84F-43DC-A599-AD1CAA330EE7}" srcOrd="0" destOrd="0" presId="urn:microsoft.com/office/officeart/2005/8/layout/process2"/>
    <dgm:cxn modelId="{19148D15-196B-4C33-8403-39D28B3EB6A5}" type="presOf" srcId="{75E81A45-280B-41BE-B82A-F4EF45BD6454}" destId="{6518487E-CA58-4274-9C28-B976AFF75ABE}" srcOrd="1" destOrd="0" presId="urn:microsoft.com/office/officeart/2005/8/layout/process2"/>
    <dgm:cxn modelId="{FF04F62A-3965-413F-8228-20DA87424ABD}" type="presOf" srcId="{C55CF54E-E0D2-4533-B347-0E31B52139C9}" destId="{8FCFEB70-42BC-4AEB-9B17-3BF6FFF1AB10}" srcOrd="0" destOrd="0" presId="urn:microsoft.com/office/officeart/2005/8/layout/process2"/>
    <dgm:cxn modelId="{5444262E-542B-41A6-B27C-A1F9B7657A67}" srcId="{938CD63F-75AC-4A2A-AEF9-DE7599854BE2}" destId="{2C831853-2DC1-4026-A2C8-66E244425B04}" srcOrd="0" destOrd="0" parTransId="{E5D4D1B7-A5B1-4901-9428-9B2BEB148B5C}" sibTransId="{C55CF54E-E0D2-4533-B347-0E31B52139C9}"/>
    <dgm:cxn modelId="{BB7ADB66-74D1-4B7A-AFBE-DDFAA7DF3074}" srcId="{938CD63F-75AC-4A2A-AEF9-DE7599854BE2}" destId="{8840E953-6801-481A-9C55-D006FEF29C02}" srcOrd="1" destOrd="0" parTransId="{F7230E21-4DCA-4532-931F-BEE29B435BC0}" sibTransId="{75E81A45-280B-41BE-B82A-F4EF45BD6454}"/>
    <dgm:cxn modelId="{4396B64A-F690-4A2C-A910-C49CDFDFB3E0}" type="presOf" srcId="{938CD63F-75AC-4A2A-AEF9-DE7599854BE2}" destId="{86220A1E-5CF2-4A8F-B270-392D1BD0990E}" srcOrd="0" destOrd="0" presId="urn:microsoft.com/office/officeart/2005/8/layout/process2"/>
    <dgm:cxn modelId="{D098B694-4CCB-490C-AA3D-9EBDDD2D7488}" type="presOf" srcId="{2C831853-2DC1-4026-A2C8-66E244425B04}" destId="{F8A0B70F-3B16-41E6-83AB-674D2C027F2A}" srcOrd="0" destOrd="0" presId="urn:microsoft.com/office/officeart/2005/8/layout/process2"/>
    <dgm:cxn modelId="{4775E89C-1814-466E-A8C7-357904420B52}" type="presOf" srcId="{75E81A45-280B-41BE-B82A-F4EF45BD6454}" destId="{4AD6471F-D9DF-4016-A0AA-E309E945FFC6}" srcOrd="0" destOrd="0" presId="urn:microsoft.com/office/officeart/2005/8/layout/process2"/>
    <dgm:cxn modelId="{5297E2A4-46F6-49F7-B85E-45E8D5CBFE7C}" type="presOf" srcId="{C55CF54E-E0D2-4533-B347-0E31B52139C9}" destId="{EEDE4FEE-89A3-4C19-9EE0-754412D59151}" srcOrd="1" destOrd="0" presId="urn:microsoft.com/office/officeart/2005/8/layout/process2"/>
    <dgm:cxn modelId="{132D53BD-286C-4BF5-8EE0-3BE157CE39D7}" srcId="{938CD63F-75AC-4A2A-AEF9-DE7599854BE2}" destId="{47A37439-C183-431B-AB3D-03460CC06141}" srcOrd="2" destOrd="0" parTransId="{1D31C842-923C-4DB6-8329-08ACBA779C1D}" sibTransId="{EE98CF9A-55FD-4AC5-991A-C3AD6A32812C}"/>
    <dgm:cxn modelId="{E0A21EFF-CCF1-4C67-9649-D85AA96A1D6D}" type="presOf" srcId="{8840E953-6801-481A-9C55-D006FEF29C02}" destId="{EF23DAEC-E140-4AC6-90E5-EB62AD93D6A8}" srcOrd="0" destOrd="0" presId="urn:microsoft.com/office/officeart/2005/8/layout/process2"/>
    <dgm:cxn modelId="{BE1D4106-2784-41DE-A005-63B6CADD6F4C}" type="presParOf" srcId="{86220A1E-5CF2-4A8F-B270-392D1BD0990E}" destId="{F8A0B70F-3B16-41E6-83AB-674D2C027F2A}" srcOrd="0" destOrd="0" presId="urn:microsoft.com/office/officeart/2005/8/layout/process2"/>
    <dgm:cxn modelId="{7767015F-6D67-4CBE-A26A-1060C776FDD7}" type="presParOf" srcId="{86220A1E-5CF2-4A8F-B270-392D1BD0990E}" destId="{8FCFEB70-42BC-4AEB-9B17-3BF6FFF1AB10}" srcOrd="1" destOrd="0" presId="urn:microsoft.com/office/officeart/2005/8/layout/process2"/>
    <dgm:cxn modelId="{FE71907C-6EB3-45EC-AB41-63087EE54637}" type="presParOf" srcId="{8FCFEB70-42BC-4AEB-9B17-3BF6FFF1AB10}" destId="{EEDE4FEE-89A3-4C19-9EE0-754412D59151}" srcOrd="0" destOrd="0" presId="urn:microsoft.com/office/officeart/2005/8/layout/process2"/>
    <dgm:cxn modelId="{122C70E8-0FD5-4D7A-B860-2B90F69F6231}" type="presParOf" srcId="{86220A1E-5CF2-4A8F-B270-392D1BD0990E}" destId="{EF23DAEC-E140-4AC6-90E5-EB62AD93D6A8}" srcOrd="2" destOrd="0" presId="urn:microsoft.com/office/officeart/2005/8/layout/process2"/>
    <dgm:cxn modelId="{2E3614DD-5DB1-48CD-B3D0-5DFEBE6E7ECD}" type="presParOf" srcId="{86220A1E-5CF2-4A8F-B270-392D1BD0990E}" destId="{4AD6471F-D9DF-4016-A0AA-E309E945FFC6}" srcOrd="3" destOrd="0" presId="urn:microsoft.com/office/officeart/2005/8/layout/process2"/>
    <dgm:cxn modelId="{65B6B185-D572-4135-8FAF-1B6276EEA7F3}" type="presParOf" srcId="{4AD6471F-D9DF-4016-A0AA-E309E945FFC6}" destId="{6518487E-CA58-4274-9C28-B976AFF75ABE}" srcOrd="0" destOrd="0" presId="urn:microsoft.com/office/officeart/2005/8/layout/process2"/>
    <dgm:cxn modelId="{C443848A-EDFB-43CD-BCD1-ECE534A7072F}" type="presParOf" srcId="{86220A1E-5CF2-4A8F-B270-392D1BD0990E}" destId="{DFFD23D7-D84F-43DC-A599-AD1CAA330EE7}" srcOrd="4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1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8A0B70F-3B16-41E6-83AB-674D2C027F2A}">
      <dsp:nvSpPr>
        <dsp:cNvPr id="0" name=""/>
        <dsp:cNvSpPr/>
      </dsp:nvSpPr>
      <dsp:spPr>
        <a:xfrm>
          <a:off x="1463040" y="0"/>
          <a:ext cx="1645919" cy="914399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>
              <a:latin typeface="TUM Neue Helvetica 55 Regular"/>
            </a:rPr>
            <a:t>Input Data</a:t>
          </a:r>
          <a:endParaRPr lang="en-US" sz="1800" kern="1200"/>
        </a:p>
      </dsp:txBody>
      <dsp:txXfrm>
        <a:off x="1489822" y="26782"/>
        <a:ext cx="1592355" cy="860835"/>
      </dsp:txXfrm>
    </dsp:sp>
    <dsp:sp modelId="{8FCFEB70-42BC-4AEB-9B17-3BF6FFF1AB10}">
      <dsp:nvSpPr>
        <dsp:cNvPr id="0" name=""/>
        <dsp:cNvSpPr/>
      </dsp:nvSpPr>
      <dsp:spPr>
        <a:xfrm rot="5400000">
          <a:off x="2114550" y="937260"/>
          <a:ext cx="342899" cy="411479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 rot="-5400000">
        <a:off x="2162556" y="971550"/>
        <a:ext cx="246887" cy="240029"/>
      </dsp:txXfrm>
    </dsp:sp>
    <dsp:sp modelId="{DFFD23D7-D84F-43DC-A599-AD1CAA330EE7}">
      <dsp:nvSpPr>
        <dsp:cNvPr id="0" name=""/>
        <dsp:cNvSpPr/>
      </dsp:nvSpPr>
      <dsp:spPr>
        <a:xfrm>
          <a:off x="1463040" y="1371600"/>
          <a:ext cx="1645919" cy="914399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>
              <a:latin typeface="TUM Neue Helvetica 55 Regular"/>
            </a:rPr>
            <a:t>Feature representation</a:t>
          </a:r>
          <a:endParaRPr lang="en-US" sz="1800" kern="1200"/>
        </a:p>
      </dsp:txBody>
      <dsp:txXfrm>
        <a:off x="1489822" y="1398382"/>
        <a:ext cx="1592355" cy="860835"/>
      </dsp:txXfrm>
    </dsp:sp>
    <dsp:sp modelId="{2EF6853A-858B-44B5-9BFB-DC9EAB0B1B87}">
      <dsp:nvSpPr>
        <dsp:cNvPr id="0" name=""/>
        <dsp:cNvSpPr/>
      </dsp:nvSpPr>
      <dsp:spPr>
        <a:xfrm rot="5400000">
          <a:off x="2114550" y="2308859"/>
          <a:ext cx="342899" cy="411479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 rot="-5400000">
        <a:off x="2162556" y="2343149"/>
        <a:ext cx="246887" cy="240029"/>
      </dsp:txXfrm>
    </dsp:sp>
    <dsp:sp modelId="{060E4C0F-B5D7-4E7C-A578-C598248DCFCD}">
      <dsp:nvSpPr>
        <dsp:cNvPr id="0" name=""/>
        <dsp:cNvSpPr/>
      </dsp:nvSpPr>
      <dsp:spPr>
        <a:xfrm>
          <a:off x="1463040" y="2743199"/>
          <a:ext cx="1645919" cy="914399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>
              <a:latin typeface="TUM Neue Helvetica 55 Regular"/>
            </a:rPr>
            <a:t>Graph Representation</a:t>
          </a:r>
          <a:endParaRPr lang="en-US" sz="1800" kern="1200"/>
        </a:p>
      </dsp:txBody>
      <dsp:txXfrm>
        <a:off x="1489822" y="2769981"/>
        <a:ext cx="1592355" cy="86083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FFD23D7-D84F-43DC-A599-AD1CAA330EE7}">
      <dsp:nvSpPr>
        <dsp:cNvPr id="0" name=""/>
        <dsp:cNvSpPr/>
      </dsp:nvSpPr>
      <dsp:spPr>
        <a:xfrm>
          <a:off x="1463040" y="0"/>
          <a:ext cx="1645919" cy="914399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>
              <a:latin typeface="TUM Neue Helvetica 55 Regular"/>
            </a:rPr>
            <a:t>Integration of F1 and F2</a:t>
          </a:r>
        </a:p>
      </dsp:txBody>
      <dsp:txXfrm>
        <a:off x="1489822" y="26782"/>
        <a:ext cx="1592355" cy="860835"/>
      </dsp:txXfrm>
    </dsp:sp>
    <dsp:sp modelId="{F531A719-1C8C-475A-B67D-3DA206680A6C}">
      <dsp:nvSpPr>
        <dsp:cNvPr id="0" name=""/>
        <dsp:cNvSpPr/>
      </dsp:nvSpPr>
      <dsp:spPr>
        <a:xfrm rot="5400000">
          <a:off x="2114550" y="937260"/>
          <a:ext cx="342899" cy="411479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700" kern="1200"/>
        </a:p>
      </dsp:txBody>
      <dsp:txXfrm rot="-5400000">
        <a:off x="2162556" y="971550"/>
        <a:ext cx="246887" cy="240029"/>
      </dsp:txXfrm>
    </dsp:sp>
    <dsp:sp modelId="{B3E1FAF0-E952-4496-A0B7-6B29ADEE531C}">
      <dsp:nvSpPr>
        <dsp:cNvPr id="0" name=""/>
        <dsp:cNvSpPr/>
      </dsp:nvSpPr>
      <dsp:spPr>
        <a:xfrm>
          <a:off x="1463040" y="1371600"/>
          <a:ext cx="1645919" cy="914399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>
              <a:latin typeface="TUM Neue Helvetica 55 Regular"/>
            </a:rPr>
            <a:t>Classification</a:t>
          </a:r>
          <a:endParaRPr lang="en-US" sz="2100" kern="1200"/>
        </a:p>
      </dsp:txBody>
      <dsp:txXfrm>
        <a:off x="1489822" y="1398382"/>
        <a:ext cx="1592355" cy="860835"/>
      </dsp:txXfrm>
    </dsp:sp>
    <dsp:sp modelId="{CF4EE94E-3F05-4EF0-90F9-3AE80053655A}">
      <dsp:nvSpPr>
        <dsp:cNvPr id="0" name=""/>
        <dsp:cNvSpPr/>
      </dsp:nvSpPr>
      <dsp:spPr>
        <a:xfrm rot="5400000">
          <a:off x="2114550" y="2308859"/>
          <a:ext cx="342899" cy="411479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700" kern="1200"/>
        </a:p>
      </dsp:txBody>
      <dsp:txXfrm rot="-5400000">
        <a:off x="2162556" y="2343149"/>
        <a:ext cx="246887" cy="240029"/>
      </dsp:txXfrm>
    </dsp:sp>
    <dsp:sp modelId="{34609887-C397-4FC6-B321-05AB4F660867}">
      <dsp:nvSpPr>
        <dsp:cNvPr id="0" name=""/>
        <dsp:cNvSpPr/>
      </dsp:nvSpPr>
      <dsp:spPr>
        <a:xfrm>
          <a:off x="1463040" y="2743199"/>
          <a:ext cx="1645919" cy="914399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>
              <a:latin typeface="TUM Neue Helvetica 55 Regular"/>
            </a:rPr>
            <a:t>End</a:t>
          </a:r>
        </a:p>
      </dsp:txBody>
      <dsp:txXfrm>
        <a:off x="1489822" y="2769981"/>
        <a:ext cx="1592355" cy="86083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8A0B70F-3B16-41E6-83AB-674D2C027F2A}">
      <dsp:nvSpPr>
        <dsp:cNvPr id="0" name=""/>
        <dsp:cNvSpPr/>
      </dsp:nvSpPr>
      <dsp:spPr>
        <a:xfrm>
          <a:off x="1463040" y="0"/>
          <a:ext cx="1645919" cy="914399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>
              <a:latin typeface="TUM Neue Helvetica 55 Regular"/>
            </a:rPr>
            <a:t>Latent Space Transformation</a:t>
          </a:r>
          <a:endParaRPr lang="en-US" sz="1800" kern="1200"/>
        </a:p>
      </dsp:txBody>
      <dsp:txXfrm>
        <a:off x="1489822" y="26782"/>
        <a:ext cx="1592355" cy="860835"/>
      </dsp:txXfrm>
    </dsp:sp>
    <dsp:sp modelId="{8FCFEB70-42BC-4AEB-9B17-3BF6FFF1AB10}">
      <dsp:nvSpPr>
        <dsp:cNvPr id="0" name=""/>
        <dsp:cNvSpPr/>
      </dsp:nvSpPr>
      <dsp:spPr>
        <a:xfrm rot="5400000">
          <a:off x="2114550" y="937260"/>
          <a:ext cx="342899" cy="411479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 rot="-5400000">
        <a:off x="2162556" y="971550"/>
        <a:ext cx="246887" cy="240029"/>
      </dsp:txXfrm>
    </dsp:sp>
    <dsp:sp modelId="{EF23DAEC-E140-4AC6-90E5-EB62AD93D6A8}">
      <dsp:nvSpPr>
        <dsp:cNvPr id="0" name=""/>
        <dsp:cNvSpPr/>
      </dsp:nvSpPr>
      <dsp:spPr>
        <a:xfrm>
          <a:off x="1463040" y="1371600"/>
          <a:ext cx="1645919" cy="914399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>
              <a:latin typeface="TUM Neue Helvetica 55 Regular"/>
            </a:rPr>
            <a:t>Building Connection</a:t>
          </a:r>
        </a:p>
      </dsp:txBody>
      <dsp:txXfrm>
        <a:off x="1489822" y="1398382"/>
        <a:ext cx="1592355" cy="860835"/>
      </dsp:txXfrm>
    </dsp:sp>
    <dsp:sp modelId="{4AD6471F-D9DF-4016-A0AA-E309E945FFC6}">
      <dsp:nvSpPr>
        <dsp:cNvPr id="0" name=""/>
        <dsp:cNvSpPr/>
      </dsp:nvSpPr>
      <dsp:spPr>
        <a:xfrm rot="5400000">
          <a:off x="2114550" y="2308859"/>
          <a:ext cx="342899" cy="411479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 rot="-5400000">
        <a:off x="2162556" y="2343149"/>
        <a:ext cx="246887" cy="240029"/>
      </dsp:txXfrm>
    </dsp:sp>
    <dsp:sp modelId="{DFFD23D7-D84F-43DC-A599-AD1CAA330EE7}">
      <dsp:nvSpPr>
        <dsp:cNvPr id="0" name=""/>
        <dsp:cNvSpPr/>
      </dsp:nvSpPr>
      <dsp:spPr>
        <a:xfrm>
          <a:off x="1463040" y="2743199"/>
          <a:ext cx="1645919" cy="914399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>
              <a:latin typeface="TUM Neue Helvetica 55 Regular"/>
            </a:rPr>
            <a:t>Population Graphs</a:t>
          </a:r>
          <a:endParaRPr lang="en-US" sz="1800" kern="1200"/>
        </a:p>
      </dsp:txBody>
      <dsp:txXfrm>
        <a:off x="1489822" y="2769981"/>
        <a:ext cx="1592355" cy="86083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E6937D-10D5-9A4E-8AE5-3BD40A349CB2}" type="datetimeFigureOut">
              <a:rPr lang="en-US" smtClean="0"/>
              <a:t>4/24/2025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6F51CD-B87E-504E-9940-0A8EC0898C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405603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D0FCC8-D1FC-D145-A009-25D2FF8D2EB2}" type="datetimeFigureOut">
              <a:rPr lang="en-US" smtClean="0"/>
              <a:t>4/24/2025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146913-DBF3-5540-BABC-D9F21B3544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374610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tr-TR" b="1" err="1">
                <a:ea typeface="Calibri"/>
                <a:cs typeface="Calibri"/>
              </a:rPr>
              <a:t>Now</a:t>
            </a:r>
            <a:r>
              <a:rPr lang="tr-TR" b="1">
                <a:ea typeface="Calibri"/>
                <a:cs typeface="Calibri"/>
              </a:rPr>
              <a:t> </a:t>
            </a:r>
            <a:r>
              <a:rPr lang="tr-TR" b="1" err="1">
                <a:ea typeface="Calibri"/>
                <a:cs typeface="Calibri"/>
              </a:rPr>
              <a:t>We</a:t>
            </a:r>
            <a:r>
              <a:rPr lang="tr-TR" b="1">
                <a:ea typeface="Calibri"/>
                <a:cs typeface="Calibri"/>
              </a:rPr>
              <a:t> </a:t>
            </a:r>
            <a:r>
              <a:rPr lang="tr-TR" b="1" err="1">
                <a:ea typeface="Calibri"/>
                <a:cs typeface="Calibri"/>
              </a:rPr>
              <a:t>are</a:t>
            </a:r>
            <a:r>
              <a:rPr lang="tr-TR" b="1">
                <a:ea typeface="Calibri"/>
                <a:cs typeface="Calibri"/>
              </a:rPr>
              <a:t> </a:t>
            </a:r>
            <a:r>
              <a:rPr lang="tr-TR" b="1" err="1">
                <a:ea typeface="Calibri"/>
                <a:cs typeface="Calibri"/>
              </a:rPr>
              <a:t>going</a:t>
            </a:r>
            <a:r>
              <a:rPr lang="tr-TR" b="1">
                <a:ea typeface="Calibri"/>
                <a:cs typeface="Calibri"/>
              </a:rPr>
              <a:t> </a:t>
            </a:r>
            <a:r>
              <a:rPr lang="tr-TR" b="1" err="1">
                <a:ea typeface="Calibri"/>
                <a:cs typeface="Calibri"/>
              </a:rPr>
              <a:t>to</a:t>
            </a:r>
            <a:r>
              <a:rPr lang="tr-TR" b="1">
                <a:ea typeface="Calibri"/>
                <a:cs typeface="Calibri"/>
              </a:rPr>
              <a:t> </a:t>
            </a:r>
            <a:r>
              <a:rPr lang="tr-TR" b="1" err="1">
                <a:ea typeface="Calibri"/>
                <a:cs typeface="Calibri"/>
              </a:rPr>
              <a:t>introduce</a:t>
            </a:r>
            <a:r>
              <a:rPr lang="tr-TR" b="1">
                <a:ea typeface="Calibri"/>
                <a:cs typeface="Calibri"/>
              </a:rPr>
              <a:t> </a:t>
            </a:r>
            <a:r>
              <a:rPr lang="tr-TR" b="1" err="1">
                <a:ea typeface="Calibri"/>
                <a:cs typeface="Calibri"/>
              </a:rPr>
              <a:t>the</a:t>
            </a:r>
            <a:r>
              <a:rPr lang="tr-TR" b="1">
                <a:ea typeface="Calibri"/>
                <a:cs typeface="Calibri"/>
              </a:rPr>
              <a:t> </a:t>
            </a:r>
            <a:r>
              <a:rPr lang="tr-TR" b="1" err="1">
                <a:ea typeface="Calibri"/>
                <a:cs typeface="Calibri"/>
              </a:rPr>
              <a:t>dataset</a:t>
            </a:r>
            <a:r>
              <a:rPr lang="tr-TR" b="1">
                <a:ea typeface="Calibri"/>
                <a:cs typeface="Calibri"/>
              </a:rPr>
              <a:t> </a:t>
            </a:r>
            <a:r>
              <a:rPr lang="tr-TR" b="1" err="1">
                <a:ea typeface="Calibri"/>
                <a:cs typeface="Calibri"/>
              </a:rPr>
              <a:t>we</a:t>
            </a:r>
            <a:r>
              <a:rPr lang="tr-TR" b="1">
                <a:ea typeface="Calibri"/>
                <a:cs typeface="Calibri"/>
              </a:rPr>
              <a:t> </a:t>
            </a:r>
            <a:r>
              <a:rPr lang="tr-TR" b="1" err="1">
                <a:ea typeface="Calibri"/>
                <a:cs typeface="Calibri"/>
              </a:rPr>
              <a:t>use</a:t>
            </a:r>
            <a:r>
              <a:rPr lang="tr-TR" b="1">
                <a:ea typeface="Calibri"/>
                <a:cs typeface="Calibri"/>
              </a:rPr>
              <a:t>, </a:t>
            </a:r>
            <a:r>
              <a:rPr lang="tr-TR" b="1" err="1">
                <a:ea typeface="Calibri"/>
                <a:cs typeface="Calibri"/>
              </a:rPr>
              <a:t>we</a:t>
            </a:r>
            <a:r>
              <a:rPr lang="tr-TR" b="1">
                <a:ea typeface="Calibri"/>
                <a:cs typeface="Calibri"/>
              </a:rPr>
              <a:t> </a:t>
            </a:r>
            <a:r>
              <a:rPr lang="tr-TR" b="1" err="1">
                <a:ea typeface="Calibri"/>
                <a:cs typeface="Calibri"/>
              </a:rPr>
              <a:t>use</a:t>
            </a:r>
            <a:r>
              <a:rPr lang="tr-TR" b="1">
                <a:ea typeface="Calibri"/>
                <a:cs typeface="Calibri"/>
              </a:rPr>
              <a:t> </a:t>
            </a:r>
            <a:r>
              <a:rPr lang="tr-TR" b="1" err="1">
                <a:ea typeface="Calibri"/>
                <a:cs typeface="Calibri"/>
              </a:rPr>
              <a:t>Shepherd</a:t>
            </a:r>
            <a:r>
              <a:rPr lang="tr-TR" b="1">
                <a:ea typeface="Calibri"/>
                <a:cs typeface="Calibri"/>
              </a:rPr>
              <a:t> </a:t>
            </a:r>
            <a:r>
              <a:rPr lang="tr-TR" b="1" err="1">
                <a:ea typeface="Calibri"/>
                <a:cs typeface="Calibri"/>
              </a:rPr>
              <a:t>Dataset</a:t>
            </a:r>
            <a:r>
              <a:rPr lang="tr-TR" b="1">
                <a:ea typeface="Calibri"/>
                <a:cs typeface="Calibri"/>
              </a:rPr>
              <a:t>, it </a:t>
            </a:r>
            <a:r>
              <a:rPr lang="tr-TR" b="1" err="1">
                <a:ea typeface="Calibri"/>
                <a:cs typeface="Calibri"/>
              </a:rPr>
              <a:t>contains</a:t>
            </a:r>
            <a:r>
              <a:rPr lang="tr-TR" b="1">
                <a:ea typeface="Calibri"/>
                <a:cs typeface="Calibri"/>
              </a:rPr>
              <a:t> </a:t>
            </a:r>
            <a:r>
              <a:rPr lang="tr-TR" b="1" err="1">
                <a:ea typeface="Calibri"/>
                <a:cs typeface="Calibri"/>
              </a:rPr>
              <a:t>more</a:t>
            </a:r>
            <a:r>
              <a:rPr lang="tr-TR" b="1">
                <a:ea typeface="Calibri"/>
                <a:cs typeface="Calibri"/>
              </a:rPr>
              <a:t> </a:t>
            </a:r>
            <a:r>
              <a:rPr lang="tr-TR" b="1" err="1">
                <a:ea typeface="Calibri"/>
                <a:cs typeface="Calibri"/>
              </a:rPr>
              <a:t>than</a:t>
            </a:r>
            <a:r>
              <a:rPr lang="tr-TR" b="1">
                <a:ea typeface="Calibri"/>
                <a:cs typeface="Calibri"/>
              </a:rPr>
              <a:t> 40K </a:t>
            </a:r>
            <a:r>
              <a:rPr lang="tr-TR" b="1" err="1">
                <a:ea typeface="Calibri"/>
                <a:cs typeface="Calibri"/>
              </a:rPr>
              <a:t>simulated</a:t>
            </a:r>
            <a:r>
              <a:rPr lang="tr-TR" b="1">
                <a:ea typeface="Calibri"/>
                <a:cs typeface="Calibri"/>
              </a:rPr>
              <a:t> </a:t>
            </a:r>
            <a:r>
              <a:rPr lang="tr-TR" b="1" err="1">
                <a:ea typeface="Calibri"/>
                <a:cs typeface="Calibri"/>
              </a:rPr>
              <a:t>Patient</a:t>
            </a:r>
            <a:r>
              <a:rPr lang="tr-TR" b="1">
                <a:ea typeface="Calibri"/>
                <a:cs typeface="Calibri"/>
              </a:rPr>
              <a:t> </a:t>
            </a:r>
            <a:r>
              <a:rPr lang="tr-TR" b="1" err="1">
                <a:ea typeface="Calibri"/>
                <a:cs typeface="Calibri"/>
              </a:rPr>
              <a:t>profiles</a:t>
            </a:r>
            <a:r>
              <a:rPr lang="tr-TR" b="1">
                <a:ea typeface="Calibri"/>
                <a:cs typeface="Calibri"/>
              </a:rPr>
              <a:t>.</a:t>
            </a:r>
            <a:endParaRPr lang="en-US">
              <a:ea typeface="Calibri"/>
              <a:cs typeface="Calibri"/>
            </a:endParaRPr>
          </a:p>
          <a:p>
            <a:endParaRPr lang="tr-TR" b="1">
              <a:ea typeface="Calibri"/>
              <a:cs typeface="Calibri"/>
            </a:endParaRPr>
          </a:p>
          <a:p>
            <a:r>
              <a:rPr lang="tr-TR" b="1" err="1">
                <a:ea typeface="Calibri"/>
                <a:cs typeface="Calibri"/>
              </a:rPr>
              <a:t>Each</a:t>
            </a:r>
            <a:r>
              <a:rPr lang="tr-TR" b="1">
                <a:ea typeface="Calibri"/>
                <a:cs typeface="Calibri"/>
              </a:rPr>
              <a:t> </a:t>
            </a:r>
            <a:r>
              <a:rPr lang="tr-TR" b="1" err="1">
                <a:ea typeface="Calibri"/>
                <a:cs typeface="Calibri"/>
              </a:rPr>
              <a:t>patient</a:t>
            </a:r>
            <a:r>
              <a:rPr lang="tr-TR" b="1">
                <a:ea typeface="Calibri"/>
                <a:cs typeface="Calibri"/>
              </a:rPr>
              <a:t> data has </a:t>
            </a:r>
            <a:r>
              <a:rPr lang="tr-TR" b="1" err="1">
                <a:ea typeface="Calibri"/>
                <a:cs typeface="Calibri"/>
              </a:rPr>
              <a:t>one</a:t>
            </a:r>
            <a:r>
              <a:rPr lang="tr-TR" b="1">
                <a:ea typeface="Calibri"/>
                <a:cs typeface="Calibri"/>
              </a:rPr>
              <a:t> </a:t>
            </a:r>
            <a:r>
              <a:rPr lang="tr-TR" b="1" err="1">
                <a:ea typeface="Calibri"/>
                <a:cs typeface="Calibri"/>
              </a:rPr>
              <a:t>true</a:t>
            </a:r>
            <a:r>
              <a:rPr lang="tr-TR" b="1">
                <a:ea typeface="Calibri"/>
                <a:cs typeface="Calibri"/>
              </a:rPr>
              <a:t> gene id, </a:t>
            </a:r>
            <a:r>
              <a:rPr lang="tr-TR" b="1" err="1">
                <a:ea typeface="Calibri"/>
                <a:cs typeface="Calibri"/>
              </a:rPr>
              <a:t>which</a:t>
            </a:r>
            <a:r>
              <a:rPr lang="tr-TR" b="1">
                <a:ea typeface="Calibri"/>
                <a:cs typeface="Calibri"/>
              </a:rPr>
              <a:t> is </a:t>
            </a:r>
            <a:r>
              <a:rPr lang="tr-TR" b="1" err="1">
                <a:ea typeface="Calibri"/>
                <a:cs typeface="Calibri"/>
              </a:rPr>
              <a:t>the</a:t>
            </a:r>
            <a:r>
              <a:rPr lang="tr-TR" b="1">
                <a:ea typeface="Calibri"/>
                <a:cs typeface="Calibri"/>
              </a:rPr>
              <a:t> </a:t>
            </a:r>
            <a:r>
              <a:rPr lang="tr-TR" b="1" err="1">
                <a:ea typeface="Calibri"/>
                <a:cs typeface="Calibri"/>
              </a:rPr>
              <a:t>ground</a:t>
            </a:r>
            <a:r>
              <a:rPr lang="tr-TR" b="1">
                <a:ea typeface="Calibri"/>
                <a:cs typeface="Calibri"/>
              </a:rPr>
              <a:t> </a:t>
            </a:r>
            <a:r>
              <a:rPr lang="tr-TR" b="1" err="1">
                <a:ea typeface="Calibri"/>
                <a:cs typeface="Calibri"/>
              </a:rPr>
              <a:t>truth</a:t>
            </a:r>
            <a:r>
              <a:rPr lang="tr-TR" b="1">
                <a:ea typeface="Calibri"/>
                <a:cs typeface="Calibri"/>
              </a:rPr>
              <a:t> </a:t>
            </a:r>
            <a:r>
              <a:rPr lang="tr-TR" b="1" err="1">
                <a:ea typeface="Calibri"/>
                <a:cs typeface="Calibri"/>
              </a:rPr>
              <a:t>label</a:t>
            </a:r>
            <a:r>
              <a:rPr lang="tr-TR" b="1">
                <a:ea typeface="Calibri"/>
                <a:cs typeface="Calibri"/>
              </a:rPr>
              <a:t> </a:t>
            </a:r>
            <a:r>
              <a:rPr lang="tr-TR" b="1" err="1">
                <a:ea typeface="Calibri"/>
                <a:cs typeface="Calibri"/>
              </a:rPr>
              <a:t>for</a:t>
            </a:r>
            <a:r>
              <a:rPr lang="tr-TR" b="1">
                <a:ea typeface="Calibri"/>
                <a:cs typeface="Calibri"/>
              </a:rPr>
              <a:t> </a:t>
            </a:r>
            <a:r>
              <a:rPr lang="tr-TR" b="1" err="1">
                <a:ea typeface="Calibri"/>
                <a:cs typeface="Calibri"/>
              </a:rPr>
              <a:t>supervised</a:t>
            </a:r>
            <a:r>
              <a:rPr lang="tr-TR" b="1">
                <a:ea typeface="Calibri"/>
                <a:cs typeface="Calibri"/>
              </a:rPr>
              <a:t> </a:t>
            </a:r>
            <a:r>
              <a:rPr lang="tr-TR" b="1" err="1">
                <a:ea typeface="Calibri"/>
                <a:cs typeface="Calibri"/>
              </a:rPr>
              <a:t>learning</a:t>
            </a:r>
            <a:r>
              <a:rPr lang="tr-TR" b="1">
                <a:ea typeface="Calibri"/>
                <a:cs typeface="Calibri"/>
              </a:rPr>
              <a:t>, </a:t>
            </a:r>
            <a:r>
              <a:rPr lang="tr-TR" b="1" err="1">
                <a:ea typeface="Calibri"/>
                <a:cs typeface="Calibri"/>
              </a:rPr>
              <a:t>the</a:t>
            </a:r>
            <a:r>
              <a:rPr lang="tr-TR" b="1">
                <a:ea typeface="Calibri"/>
                <a:cs typeface="Calibri"/>
              </a:rPr>
              <a:t> a </a:t>
            </a:r>
            <a:r>
              <a:rPr lang="tr-TR" b="1" err="1">
                <a:ea typeface="Calibri"/>
                <a:cs typeface="Calibri"/>
              </a:rPr>
              <a:t>list</a:t>
            </a:r>
            <a:r>
              <a:rPr lang="tr-TR" b="1">
                <a:ea typeface="Calibri"/>
                <a:cs typeface="Calibri"/>
              </a:rPr>
              <a:t> of </a:t>
            </a:r>
            <a:r>
              <a:rPr lang="tr-TR" b="1" err="1">
                <a:ea typeface="Calibri"/>
                <a:cs typeface="Calibri"/>
              </a:rPr>
              <a:t>positive</a:t>
            </a:r>
            <a:r>
              <a:rPr lang="tr-TR" b="1">
                <a:ea typeface="Calibri"/>
                <a:cs typeface="Calibri"/>
              </a:rPr>
              <a:t> </a:t>
            </a:r>
            <a:r>
              <a:rPr lang="tr-TR" b="1" err="1">
                <a:ea typeface="Calibri"/>
                <a:cs typeface="Calibri"/>
              </a:rPr>
              <a:t>phenotypes</a:t>
            </a:r>
            <a:r>
              <a:rPr lang="tr-TR" b="1">
                <a:ea typeface="Calibri"/>
                <a:cs typeface="Calibri"/>
              </a:rPr>
              <a:t> </a:t>
            </a:r>
            <a:r>
              <a:rPr lang="tr-TR" b="1" err="1">
                <a:ea typeface="Calibri"/>
                <a:cs typeface="Calibri"/>
              </a:rPr>
              <a:t>ids</a:t>
            </a:r>
            <a:r>
              <a:rPr lang="tr-TR" b="1">
                <a:ea typeface="Calibri"/>
                <a:cs typeface="Calibri"/>
              </a:rPr>
              <a:t>, </a:t>
            </a:r>
            <a:r>
              <a:rPr lang="tr-TR" b="1" err="1">
                <a:ea typeface="Calibri"/>
                <a:cs typeface="Calibri"/>
              </a:rPr>
              <a:t>which</a:t>
            </a:r>
            <a:r>
              <a:rPr lang="tr-TR" b="1">
                <a:ea typeface="Calibri"/>
                <a:cs typeface="Calibri"/>
              </a:rPr>
              <a:t> is</a:t>
            </a:r>
            <a:r>
              <a:rPr lang="tr-TR" b="1"/>
              <a:t> a c</a:t>
            </a:r>
            <a:r>
              <a:rPr lang="en-US" err="1"/>
              <a:t>omprehensive</a:t>
            </a:r>
            <a:r>
              <a:rPr lang="en-US"/>
              <a:t> description of patients</a:t>
            </a:r>
            <a:endParaRPr lang="en-US">
              <a:ea typeface="Calibri"/>
              <a:cs typeface="Calibri"/>
            </a:endParaRPr>
          </a:p>
          <a:p>
            <a:endParaRPr lang="en-US">
              <a:ea typeface="Calibri"/>
              <a:cs typeface="Calibri"/>
            </a:endParaRPr>
          </a:p>
          <a:p>
            <a:r>
              <a:rPr lang="en-US">
                <a:ea typeface="Calibri"/>
                <a:cs typeface="Calibri"/>
              </a:rPr>
              <a:t>For our task, we use only these two </a:t>
            </a:r>
            <a:r>
              <a:rPr lang="en-US" err="1">
                <a:ea typeface="Calibri"/>
                <a:cs typeface="Calibri"/>
              </a:rPr>
              <a:t>informations</a:t>
            </a:r>
            <a:r>
              <a:rPr lang="en-US">
                <a:ea typeface="Calibri"/>
                <a:cs typeface="Calibri"/>
              </a:rPr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146913-DBF3-5540-BABC-D9F21B35442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10057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Next, we will introduce our methodology, starting with data preprocessing. </a:t>
            </a:r>
          </a:p>
          <a:p>
            <a:endParaRPr lang="en-US"/>
          </a:p>
          <a:p>
            <a:r>
              <a:rPr lang="en-US">
                <a:ea typeface="Calibri"/>
                <a:cs typeface="Calibri"/>
              </a:rPr>
              <a:t>First task is to construct patient graph. Our dataset provides only list of phenotypes without relationships between them.</a:t>
            </a:r>
            <a:endParaRPr lang="en-US"/>
          </a:p>
          <a:p>
            <a:endParaRPr lang="en-US"/>
          </a:p>
          <a:p>
            <a:r>
              <a:rPr lang="en-US"/>
              <a:t>So we use knowledge graph, knowledge graph </a:t>
            </a:r>
            <a:r>
              <a:rPr lang="en-US" err="1"/>
              <a:t>includess</a:t>
            </a:r>
            <a:r>
              <a:rPr lang="en-US"/>
              <a:t> established known relationships between phenotypes. </a:t>
            </a:r>
            <a:endParaRPr lang="en-US">
              <a:ea typeface="Calibri"/>
              <a:cs typeface="Calibri"/>
            </a:endParaRPr>
          </a:p>
          <a:p>
            <a:endParaRPr lang="en-US"/>
          </a:p>
          <a:p>
            <a:r>
              <a:rPr lang="en-US"/>
              <a:t>We use it to build the connections between phenotypes, </a:t>
            </a:r>
            <a:endParaRPr lang="en-US">
              <a:ea typeface="Calibri"/>
              <a:cs typeface="Calibri"/>
            </a:endParaRPr>
          </a:p>
          <a:p>
            <a:endParaRPr lang="en-US"/>
          </a:p>
          <a:p>
            <a:r>
              <a:rPr lang="en-US"/>
              <a:t>in the end we will get patient specific graph.</a:t>
            </a:r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146913-DBF3-5540-BABC-D9F21B35442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26394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8B74D2-C26D-AFF2-A89E-65B648708C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83B197-88AA-C69E-C670-7ABF0F7A28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1A2E61-344D-965D-956B-DAA509B452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(in the patient specific graph, each node represents a phenotype and edges are connections between nodes, each graph represents one patient.)</a:t>
            </a:r>
          </a:p>
          <a:p>
            <a:endParaRPr lang="en-US">
              <a:ea typeface="Calibri"/>
              <a:cs typeface="Calibri"/>
            </a:endParaRPr>
          </a:p>
          <a:p>
            <a:endParaRPr lang="en-US"/>
          </a:p>
          <a:p>
            <a:pPr marL="285750" indent="-285750">
              <a:buFont typeface="Arial"/>
              <a:buChar char="•"/>
            </a:pPr>
            <a:endParaRPr lang="en-US">
              <a:ea typeface="Calibri"/>
              <a:cs typeface="Calibri"/>
            </a:endParaRPr>
          </a:p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D6BED8-87FF-1010-AAA5-133E9BACA5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146913-DBF3-5540-BABC-D9F21B35442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24397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Our downstream task is to classify patients based on their true gene id, </a:t>
            </a:r>
            <a:r>
              <a:rPr lang="en-US"/>
              <a:t>therefore, in our approach we have to transform the discrete true gene id into sequential labels. </a:t>
            </a:r>
            <a:endParaRPr lang="en-US">
              <a:ea typeface="Calibri"/>
              <a:cs typeface="Calibri"/>
            </a:endParaRPr>
          </a:p>
          <a:p>
            <a:endParaRPr lang="en-US"/>
          </a:p>
          <a:p>
            <a:r>
              <a:rPr lang="en-US">
                <a:ea typeface="Calibri"/>
                <a:cs typeface="Calibri"/>
              </a:rPr>
              <a:t>Then we extract only the useful information for our later GNN processing, which means ( True gene id, pos.....)</a:t>
            </a:r>
          </a:p>
          <a:p>
            <a:endParaRPr lang="en-US">
              <a:ea typeface="Calibri"/>
              <a:cs typeface="Calibri"/>
            </a:endParaRPr>
          </a:p>
          <a:p>
            <a:r>
              <a:rPr lang="en-US"/>
              <a:t>Then we use Embedding approach to convert discrete Phenotypes ids into vector representations. </a:t>
            </a:r>
          </a:p>
          <a:p>
            <a:endParaRPr lang="en-US">
              <a:ea typeface="Calibri"/>
              <a:cs typeface="Calibri"/>
            </a:endParaRPr>
          </a:p>
          <a:p>
            <a:r>
              <a:rPr lang="en-US">
                <a:ea typeface="Calibri"/>
                <a:cs typeface="Calibri"/>
              </a:rPr>
              <a:t>Each phenotype id will be mapped into a unique vector representation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146913-DBF3-5540-BABC-D9F21B35442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6609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37740D-BD75-1803-F043-1040B51769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51238F-3C15-DD2C-277B-7866E89C4F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1114BC-D4A1-C806-760F-7FBC8432A9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Next, we are going to introduce our model architecture and the implementation.</a:t>
            </a:r>
            <a:endParaRPr lang="en-US"/>
          </a:p>
          <a:p>
            <a:endParaRPr lang="en-US"/>
          </a:p>
          <a:p>
            <a:r>
              <a:rPr lang="en-US">
                <a:ea typeface="Calibri"/>
                <a:cs typeface="Calibri"/>
              </a:rPr>
              <a:t>There are three main modules, first is the node level module:</a:t>
            </a:r>
            <a:endParaRPr lang="en-US"/>
          </a:p>
          <a:p>
            <a:endParaRPr lang="en-US"/>
          </a:p>
          <a:p>
            <a:r>
              <a:rPr lang="en-US"/>
              <a:t>In the node Level Module, we employ graph convolution to transform intrinsic node features (nodes, edge, edge attributes ) and its connected neighboring nodes information into more meaningful representations. </a:t>
            </a:r>
            <a:endParaRPr lang="en-US">
              <a:ea typeface="Calibri"/>
              <a:cs typeface="Calibri"/>
            </a:endParaRPr>
          </a:p>
          <a:p>
            <a:endParaRPr lang="en-US">
              <a:ea typeface="Calibri"/>
              <a:cs typeface="Calibri"/>
            </a:endParaRPr>
          </a:p>
          <a:p>
            <a:r>
              <a:rPr lang="en-US"/>
              <a:t>Since each patient has a different graph structure (the numbers of nodes and edges are ),  global pooling is used to create a fixed-size representation</a:t>
            </a:r>
            <a:endParaRPr lang="en-US">
              <a:ea typeface="Calibri"/>
              <a:cs typeface="Calibri"/>
            </a:endParaRPr>
          </a:p>
          <a:p>
            <a:endParaRPr lang="en-US">
              <a:ea typeface="Calibri"/>
              <a:cs typeface="Calibri"/>
            </a:endParaRPr>
          </a:p>
          <a:p>
            <a:r>
              <a:rPr lang="en-US">
                <a:ea typeface="Calibri"/>
                <a:cs typeface="Calibri"/>
              </a:rPr>
              <a:t>In the F2 Module calculate the cos similarity between graph embedding to find out the similarity of each patient.</a:t>
            </a:r>
          </a:p>
          <a:p>
            <a:endParaRPr lang="en-US">
              <a:ea typeface="Calibri"/>
              <a:cs typeface="Calibri"/>
            </a:endParaRPr>
          </a:p>
          <a:p>
            <a:r>
              <a:rPr lang="en-US">
                <a:ea typeface="Calibri"/>
                <a:cs typeface="Calibri"/>
              </a:rPr>
              <a:t>To build meaningful connection between patients, we need </a:t>
            </a:r>
            <a:r>
              <a:rPr lang="en-US" i="1"/>
              <a:t>to use two key parameters: </a:t>
            </a:r>
            <a:r>
              <a:rPr lang="en-US" b="1" i="1"/>
              <a:t>temperature</a:t>
            </a:r>
            <a:r>
              <a:rPr lang="en-US" i="1"/>
              <a:t> and </a:t>
            </a:r>
            <a:r>
              <a:rPr lang="en-US" b="1" i="1"/>
              <a:t>threshold</a:t>
            </a:r>
            <a:r>
              <a:rPr lang="en-US" i="1"/>
              <a:t>."</a:t>
            </a:r>
            <a:endParaRPr lang="en-US">
              <a:ea typeface="Calibri"/>
              <a:cs typeface="Calibri"/>
            </a:endParaRPr>
          </a:p>
          <a:p>
            <a:pPr marL="171450" indent="-171450">
              <a:buFont typeface="Arial,Sans-Serif"/>
              <a:buChar char="•"/>
            </a:pPr>
            <a:r>
              <a:rPr lang="en-US" b="1"/>
              <a:t>Temperature</a:t>
            </a:r>
            <a:endParaRPr lang="en-US"/>
          </a:p>
          <a:p>
            <a:pPr marL="1085850" lvl="1" indent="-171450">
              <a:buFont typeface="Arial,Sans-Serif"/>
              <a:buChar char="•"/>
            </a:pPr>
            <a:r>
              <a:rPr lang="en-US" b="1"/>
              <a:t>Temperature is the scaling factor of the similarity value.</a:t>
            </a:r>
            <a:endParaRPr lang="en-US"/>
          </a:p>
          <a:p>
            <a:pPr marL="1085850" lvl="1" indent="-171450">
              <a:buFont typeface="Arial,Sans-Serif"/>
              <a:buChar char="•"/>
            </a:pPr>
            <a:r>
              <a:rPr lang="en-US" b="1">
                <a:ea typeface="Calibri"/>
                <a:cs typeface="Calibri"/>
              </a:rPr>
              <a:t>High </a:t>
            </a:r>
            <a:r>
              <a:rPr lang="en-US" b="1" err="1">
                <a:ea typeface="Calibri"/>
                <a:cs typeface="Calibri"/>
              </a:rPr>
              <a:t>temeprature</a:t>
            </a:r>
            <a:r>
              <a:rPr lang="en-US" b="1">
                <a:ea typeface="Calibri"/>
                <a:cs typeface="Calibri"/>
              </a:rPr>
              <a:t> means we allows more connections</a:t>
            </a:r>
            <a:endParaRPr lang="en-US" b="1"/>
          </a:p>
          <a:p>
            <a:pPr marL="171450" indent="-171450">
              <a:buFont typeface="Arial"/>
              <a:buChar char="•"/>
            </a:pPr>
            <a:r>
              <a:rPr lang="en-US" b="1"/>
              <a:t>Threshold:</a:t>
            </a:r>
            <a:endParaRPr lang="en-US">
              <a:ea typeface="Calibri"/>
              <a:cs typeface="Calibri"/>
            </a:endParaRPr>
          </a:p>
          <a:p>
            <a:pPr marL="628650" lvl="1" indent="-171450">
              <a:buFont typeface="Arial"/>
              <a:buChar char="•"/>
            </a:pPr>
            <a:r>
              <a:rPr lang="en-US" b="1">
                <a:ea typeface="Calibri"/>
                <a:cs typeface="Calibri"/>
              </a:rPr>
              <a:t>Is the boundary of connection.</a:t>
            </a:r>
          </a:p>
          <a:p>
            <a:pPr marL="628650" lvl="1" indent="-171450">
              <a:buFont typeface="Arial"/>
              <a:buChar char="•"/>
            </a:pPr>
            <a:r>
              <a:rPr lang="en-US" i="1">
                <a:ea typeface="Calibri"/>
                <a:cs typeface="Calibri"/>
              </a:rPr>
              <a:t>Only the similarity higher than threshold will be connected</a:t>
            </a:r>
          </a:p>
          <a:p>
            <a:endParaRPr lang="en-US" b="1">
              <a:ea typeface="Calibri"/>
              <a:cs typeface="Calibri"/>
            </a:endParaRPr>
          </a:p>
          <a:p>
            <a:r>
              <a:rPr lang="en-US" b="1">
                <a:ea typeface="Calibri"/>
                <a:cs typeface="Calibri"/>
              </a:rPr>
              <a:t>These parameters are both set as learnable parameters</a:t>
            </a:r>
          </a:p>
          <a:p>
            <a:endParaRPr lang="en-US">
              <a:ea typeface="Calibri"/>
              <a:cs typeface="Calibri"/>
            </a:endParaRPr>
          </a:p>
          <a:p>
            <a:r>
              <a:rPr lang="en-US">
                <a:ea typeface="Calibri"/>
                <a:cs typeface="Calibri"/>
              </a:rPr>
              <a:t>KL divergence is used to compared the distribution node connection degree and target distribution. And we set our target distribution as Gaussian.</a:t>
            </a:r>
          </a:p>
          <a:p>
            <a:endParaRPr lang="en-US">
              <a:ea typeface="Calibri"/>
              <a:cs typeface="Calibri"/>
            </a:endParaRPr>
          </a:p>
          <a:p>
            <a:pPr marL="171450" indent="-171450">
              <a:buFont typeface="Arial"/>
              <a:buChar char="•"/>
            </a:pPr>
            <a:r>
              <a:rPr lang="en-US">
                <a:ea typeface="Calibri"/>
                <a:cs typeface="Calibri"/>
              </a:rPr>
              <a:t>In the F3 Classifier Module, we integrates the learned Parameters from F1 And F2, </a:t>
            </a:r>
            <a:r>
              <a:rPr lang="en-US"/>
              <a:t>Integrates them using a specialized embedding layer</a:t>
            </a:r>
            <a:endParaRPr lang="en-US">
              <a:ea typeface="Calibri"/>
              <a:cs typeface="Calibri"/>
            </a:endParaRPr>
          </a:p>
          <a:p>
            <a:pPr marL="171450" indent="-171450">
              <a:buFont typeface="Arial"/>
              <a:buChar char="•"/>
            </a:pPr>
            <a:endParaRPr lang="en-US">
              <a:ea typeface="Calibri"/>
              <a:cs typeface="Calibri"/>
            </a:endParaRPr>
          </a:p>
          <a:p>
            <a:endParaRPr lang="en-US">
              <a:ea typeface="Calibri"/>
              <a:cs typeface="Calibri"/>
            </a:endParaRPr>
          </a:p>
          <a:p>
            <a:endParaRPr lang="en-US">
              <a:ea typeface="Calibri"/>
              <a:cs typeface="Calibri"/>
            </a:endParaRPr>
          </a:p>
          <a:p>
            <a:endParaRPr lang="en-US">
              <a:ea typeface="Calibri"/>
              <a:cs typeface="Calibri"/>
            </a:endParaRPr>
          </a:p>
          <a:p>
            <a:endParaRPr lang="en-US">
              <a:ea typeface="Calibri"/>
              <a:cs typeface="Calibri"/>
            </a:endParaRPr>
          </a:p>
          <a:p>
            <a:endParaRPr lang="en-US">
              <a:ea typeface="Calibri"/>
              <a:cs typeface="Calibri"/>
            </a:endParaRPr>
          </a:p>
          <a:p>
            <a:endParaRPr lang="en-US">
              <a:ea typeface="Calibri"/>
              <a:cs typeface="Calibri"/>
            </a:endParaRPr>
          </a:p>
          <a:p>
            <a:endParaRPr lang="en-US">
              <a:ea typeface="Calibri"/>
              <a:cs typeface="Calibri"/>
            </a:endParaRPr>
          </a:p>
          <a:p>
            <a:endParaRPr lang="en-US">
              <a:ea typeface="Calibri"/>
              <a:cs typeface="Calibri"/>
            </a:endParaRPr>
          </a:p>
          <a:p>
            <a:endParaRPr lang="en-US">
              <a:ea typeface="Calibri"/>
              <a:cs typeface="Calibri"/>
            </a:endParaRPr>
          </a:p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A784D8-9DBA-0BF4-218A-AB66B74851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146913-DBF3-5540-BABC-D9F21B35442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5813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5DF61D-54DC-652F-2E6B-57C3418CBB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2A43CC-25B6-6079-D26B-BDA3CB7F85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8C05B1-C4F3-CF8A-B1BD-BE28146A85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This is the overview of our working flow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927AB3-75F7-F94B-3183-FAD6804AD9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6146913-DBF3-5540-BABC-D9F21B354423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3889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87" name="Picture 518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6" y="0"/>
            <a:ext cx="9140307" cy="5143500"/>
          </a:xfrm>
          <a:prstGeom prst="rect">
            <a:avLst/>
          </a:prstGeom>
        </p:spPr>
      </p:pic>
      <p:sp>
        <p:nvSpPr>
          <p:cNvPr id="5134" name="Rectangle 14"/>
          <p:cNvSpPr>
            <a:spLocks noGrp="1" noChangeArrowheads="1"/>
          </p:cNvSpPr>
          <p:nvPr>
            <p:ph type="ctrTitle"/>
          </p:nvPr>
        </p:nvSpPr>
        <p:spPr>
          <a:xfrm>
            <a:off x="2120010" y="1853819"/>
            <a:ext cx="6954100" cy="971550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t"/>
          <a:lstStyle>
            <a:lvl1pPr algn="l">
              <a:defRPr sz="3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title style</a:t>
            </a:r>
            <a:endParaRPr lang="de-DE" noProof="0"/>
          </a:p>
        </p:txBody>
      </p:sp>
      <p:sp>
        <p:nvSpPr>
          <p:cNvPr id="5135" name="Rectangle 15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2120010" y="1340659"/>
            <a:ext cx="6954100" cy="514350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 marL="0" indent="0" algn="l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Computer Aided Medical Procedures</a:t>
            </a:r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8070907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Picture 9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3999" cy="5143500"/>
          </a:xfrm>
          <a:prstGeom prst="rect">
            <a:avLst/>
          </a:prstGeom>
        </p:spPr>
      </p:pic>
      <p:sp>
        <p:nvSpPr>
          <p:cNvPr id="14" name="Rectangle 15"/>
          <p:cNvSpPr>
            <a:spLocks noGrp="1" noChangeArrowheads="1"/>
          </p:cNvSpPr>
          <p:nvPr>
            <p:ph type="subTitle" idx="12" hasCustomPrompt="1"/>
          </p:nvPr>
        </p:nvSpPr>
        <p:spPr>
          <a:xfrm>
            <a:off x="2120010" y="1336557"/>
            <a:ext cx="6954100" cy="514350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>
            <a:lvl1pPr marL="0" indent="0" algn="l">
              <a:buFontTx/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Computer Aided Medical Procedures</a:t>
            </a:r>
            <a:endParaRPr lang="de-DE" noProof="0"/>
          </a:p>
        </p:txBody>
      </p:sp>
      <p:sp>
        <p:nvSpPr>
          <p:cNvPr id="15" name="Rectangle 14"/>
          <p:cNvSpPr>
            <a:spLocks noGrp="1" noChangeArrowheads="1"/>
          </p:cNvSpPr>
          <p:nvPr>
            <p:ph type="ctrTitle"/>
          </p:nvPr>
        </p:nvSpPr>
        <p:spPr>
          <a:xfrm>
            <a:off x="2120010" y="1850907"/>
            <a:ext cx="6954100" cy="971550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t"/>
          <a:lstStyle>
            <a:lvl1pPr algn="l">
              <a:defRPr sz="3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title style</a:t>
            </a:r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22838134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876800" y="4743450"/>
            <a:ext cx="3276600" cy="4000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solidFill>
                  <a:srgbClr val="FFFFFF"/>
                </a:solidFill>
                <a:latin typeface="TUM Neue Helvetica 55 Regular" charset="0"/>
                <a:cs typeface="+mn-cs"/>
              </a:defRPr>
            </a:lvl1pPr>
          </a:lstStyle>
          <a:p>
            <a:fld id="{A7BDDEFD-4FCF-7348-AEF1-A537DD785750}" type="datetime4">
              <a:rPr lang="en-US" smtClean="0"/>
              <a:t>April 24, 2025</a:t>
            </a:fld>
            <a:endParaRPr lang="en-US"/>
          </a:p>
        </p:txBody>
      </p:sp>
      <p:sp>
        <p:nvSpPr>
          <p:cNvPr id="8" name="Footer Placeholder 1"/>
          <p:cNvSpPr>
            <a:spLocks noGrp="1"/>
          </p:cNvSpPr>
          <p:nvPr>
            <p:ph type="ftr" sz="quarter" idx="3"/>
          </p:nvPr>
        </p:nvSpPr>
        <p:spPr>
          <a:xfrm>
            <a:off x="1117172" y="4743450"/>
            <a:ext cx="3759628" cy="400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Computer Aided Medical Procedures</a:t>
            </a: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077200" y="4743450"/>
            <a:ext cx="1066800" cy="4000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eaLnBrk="0" hangingPunct="0">
              <a:defRPr sz="1200">
                <a:solidFill>
                  <a:srgbClr val="FFFFFF"/>
                </a:solidFill>
                <a:latin typeface="TUM Neue Helvetica 55 Regular" charset="0"/>
                <a:cs typeface="+mn-cs"/>
              </a:defRPr>
            </a:lvl1pPr>
          </a:lstStyle>
          <a:p>
            <a:r>
              <a:rPr lang="en-US"/>
              <a:t>Slide </a:t>
            </a:r>
            <a:fld id="{E27654B9-2CBC-E046-9B7E-70345D26D3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60290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58775" y="1371600"/>
            <a:ext cx="4135438" cy="32575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6614" y="1371600"/>
            <a:ext cx="4137025" cy="32575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4876800" y="4743450"/>
            <a:ext cx="3276600" cy="4000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solidFill>
                  <a:srgbClr val="FFFFFF"/>
                </a:solidFill>
                <a:latin typeface="TUM Neue Helvetica 55 Regular" charset="0"/>
                <a:cs typeface="+mn-cs"/>
              </a:defRPr>
            </a:lvl1pPr>
          </a:lstStyle>
          <a:p>
            <a:fld id="{42B6532A-7E98-454E-948A-0401BD295DE6}" type="datetime4">
              <a:rPr lang="en-US" smtClean="0"/>
              <a:t>April 24, 2025</a:t>
            </a:fld>
            <a:endParaRPr lang="en-US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077200" y="4743450"/>
            <a:ext cx="1066800" cy="4000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eaLnBrk="0" hangingPunct="0">
              <a:defRPr sz="1200">
                <a:solidFill>
                  <a:srgbClr val="FFFFFF"/>
                </a:solidFill>
                <a:latin typeface="TUM Neue Helvetica 55 Regular" charset="0"/>
                <a:cs typeface="+mn-cs"/>
              </a:defRPr>
            </a:lvl1pPr>
          </a:lstStyle>
          <a:p>
            <a:r>
              <a:rPr lang="en-US"/>
              <a:t>Slide </a:t>
            </a:r>
            <a:fld id="{E27654B9-2CBC-E046-9B7E-70345D26D3AC}" type="slidenum">
              <a:rPr lang="en-US" smtClean="0"/>
              <a:t>‹#›</a:t>
            </a:fld>
            <a:endParaRPr lang="en-US"/>
          </a:p>
        </p:txBody>
      </p:sp>
      <p:sp>
        <p:nvSpPr>
          <p:cNvPr id="9" name="Footer Placeholder 1"/>
          <p:cNvSpPr>
            <a:spLocks noGrp="1"/>
          </p:cNvSpPr>
          <p:nvPr>
            <p:ph type="ftr" sz="quarter" idx="3"/>
          </p:nvPr>
        </p:nvSpPr>
        <p:spPr>
          <a:xfrm>
            <a:off x="1117172" y="4743450"/>
            <a:ext cx="3759628" cy="400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Computer Aided Medical Procedures</a:t>
            </a:r>
          </a:p>
        </p:txBody>
      </p:sp>
    </p:spTree>
    <p:extLst>
      <p:ext uri="{BB962C8B-B14F-4D97-AF65-F5344CB8AC3E}">
        <p14:creationId xmlns:p14="http://schemas.microsoft.com/office/powerpoint/2010/main" val="36652324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4876800" y="4743450"/>
            <a:ext cx="3276600" cy="4000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solidFill>
                  <a:srgbClr val="FFFFFF"/>
                </a:solidFill>
                <a:latin typeface="TUM Neue Helvetica 55 Regular" charset="0"/>
                <a:cs typeface="+mn-cs"/>
              </a:defRPr>
            </a:lvl1pPr>
          </a:lstStyle>
          <a:p>
            <a:fld id="{5D852E79-32C9-6248-B23F-9F291A86DBFF}" type="datetime4">
              <a:rPr lang="en-US" smtClean="0"/>
              <a:t>April 24, 2025</a:t>
            </a:fld>
            <a:endParaRPr lang="en-US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sldNum" sz="quarter" idx="11"/>
          </p:nvPr>
        </p:nvSpPr>
        <p:spPr bwMode="auto">
          <a:xfrm>
            <a:off x="8077200" y="4743450"/>
            <a:ext cx="1066800" cy="4000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eaLnBrk="0" hangingPunct="0">
              <a:defRPr sz="1200">
                <a:solidFill>
                  <a:srgbClr val="FFFFFF"/>
                </a:solidFill>
                <a:latin typeface="TUM Neue Helvetica 55 Regular" charset="0"/>
                <a:cs typeface="+mn-cs"/>
              </a:defRPr>
            </a:lvl1pPr>
          </a:lstStyle>
          <a:p>
            <a:r>
              <a:rPr lang="en-US"/>
              <a:t>Slide </a:t>
            </a:r>
            <a:fld id="{E27654B9-2CBC-E046-9B7E-70345D26D3AC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Footer Placeholder 1"/>
          <p:cNvSpPr>
            <a:spLocks noGrp="1"/>
          </p:cNvSpPr>
          <p:nvPr>
            <p:ph type="ftr" sz="quarter" idx="12"/>
          </p:nvPr>
        </p:nvSpPr>
        <p:spPr>
          <a:xfrm>
            <a:off x="1117172" y="4743450"/>
            <a:ext cx="3759628" cy="400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Computer Aided Medical Procedures</a:t>
            </a:r>
          </a:p>
        </p:txBody>
      </p:sp>
    </p:spTree>
    <p:extLst>
      <p:ext uri="{BB962C8B-B14F-4D97-AF65-F5344CB8AC3E}">
        <p14:creationId xmlns:p14="http://schemas.microsoft.com/office/powerpoint/2010/main" val="6216575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4876800" y="4743450"/>
            <a:ext cx="3276600" cy="4000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solidFill>
                  <a:srgbClr val="FFFFFF"/>
                </a:solidFill>
                <a:latin typeface="TUM Neue Helvetica 55 Regular" charset="0"/>
                <a:cs typeface="+mn-cs"/>
              </a:defRPr>
            </a:lvl1pPr>
          </a:lstStyle>
          <a:p>
            <a:fld id="{79DECB52-E1A5-D648-8B52-D41A27A3687C}" type="datetime4">
              <a:rPr lang="en-US" smtClean="0"/>
              <a:t>April 24, 2025</a:t>
            </a:fld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077200" y="4743450"/>
            <a:ext cx="1066800" cy="4000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eaLnBrk="0" hangingPunct="0">
              <a:defRPr sz="1200">
                <a:solidFill>
                  <a:srgbClr val="FFFFFF"/>
                </a:solidFill>
                <a:latin typeface="TUM Neue Helvetica 55 Regular" charset="0"/>
                <a:cs typeface="+mn-cs"/>
              </a:defRPr>
            </a:lvl1pPr>
          </a:lstStyle>
          <a:p>
            <a:r>
              <a:rPr lang="en-US"/>
              <a:t>Slide </a:t>
            </a:r>
            <a:fld id="{E27654B9-2CBC-E046-9B7E-70345D26D3AC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ooter Placeholder 1"/>
          <p:cNvSpPr>
            <a:spLocks noGrp="1"/>
          </p:cNvSpPr>
          <p:nvPr>
            <p:ph type="ftr" sz="quarter" idx="3"/>
          </p:nvPr>
        </p:nvSpPr>
        <p:spPr>
          <a:xfrm>
            <a:off x="1117172" y="4743450"/>
            <a:ext cx="3759628" cy="400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Computer Aided Medical Procedures</a:t>
            </a:r>
          </a:p>
        </p:txBody>
      </p:sp>
    </p:spTree>
    <p:extLst>
      <p:ext uri="{BB962C8B-B14F-4D97-AF65-F5344CB8AC3E}">
        <p14:creationId xmlns:p14="http://schemas.microsoft.com/office/powerpoint/2010/main" val="35495083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4876800" y="4743450"/>
            <a:ext cx="3276600" cy="4000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solidFill>
                  <a:srgbClr val="FFFFFF"/>
                </a:solidFill>
                <a:latin typeface="TUM Neue Helvetica 55 Regular" charset="0"/>
                <a:cs typeface="+mn-cs"/>
              </a:defRPr>
            </a:lvl1pPr>
          </a:lstStyle>
          <a:p>
            <a:fld id="{C23862A7-D8FE-8B40-8B6F-7B9DEB3BEAA4}" type="datetime4">
              <a:rPr lang="en-US" smtClean="0"/>
              <a:t>April 24, 2025</a:t>
            </a:fld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077200" y="4743450"/>
            <a:ext cx="1066800" cy="4000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eaLnBrk="0" hangingPunct="0">
              <a:defRPr sz="1200">
                <a:solidFill>
                  <a:srgbClr val="FFFFFF"/>
                </a:solidFill>
                <a:latin typeface="TUM Neue Helvetica 55 Regular" charset="0"/>
                <a:cs typeface="+mn-cs"/>
              </a:defRPr>
            </a:lvl1pPr>
          </a:lstStyle>
          <a:p>
            <a:r>
              <a:rPr lang="en-US"/>
              <a:t>Slide </a:t>
            </a:r>
            <a:fld id="{E27654B9-2CBC-E046-9B7E-70345D26D3AC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ooter Placeholder 1"/>
          <p:cNvSpPr>
            <a:spLocks noGrp="1"/>
          </p:cNvSpPr>
          <p:nvPr>
            <p:ph type="ftr" sz="quarter" idx="3"/>
          </p:nvPr>
        </p:nvSpPr>
        <p:spPr>
          <a:xfrm>
            <a:off x="1117172" y="4743450"/>
            <a:ext cx="3759628" cy="400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Computer Aided Medical Procedures</a:t>
            </a:r>
          </a:p>
        </p:txBody>
      </p:sp>
    </p:spTree>
    <p:extLst>
      <p:ext uri="{BB962C8B-B14F-4D97-AF65-F5344CB8AC3E}">
        <p14:creationId xmlns:p14="http://schemas.microsoft.com/office/powerpoint/2010/main" val="4393764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4876800" y="4743450"/>
            <a:ext cx="3276600" cy="4000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solidFill>
                  <a:srgbClr val="FFFFFF"/>
                </a:solidFill>
                <a:latin typeface="TUM Neue Helvetica 55 Regular" charset="0"/>
                <a:cs typeface="+mn-cs"/>
              </a:defRPr>
            </a:lvl1pPr>
          </a:lstStyle>
          <a:p>
            <a:fld id="{B2AF2977-0DCA-594A-82AD-9177AB332C8C}" type="datetime4">
              <a:rPr lang="en-US" smtClean="0"/>
              <a:t>April 24, 2025</a:t>
            </a:fld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077200" y="4743450"/>
            <a:ext cx="1066800" cy="4000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eaLnBrk="0" hangingPunct="0">
              <a:defRPr sz="1200">
                <a:solidFill>
                  <a:srgbClr val="FFFFFF"/>
                </a:solidFill>
                <a:latin typeface="TUM Neue Helvetica 55 Regular" charset="0"/>
                <a:cs typeface="+mn-cs"/>
              </a:defRPr>
            </a:lvl1pPr>
          </a:lstStyle>
          <a:p>
            <a:r>
              <a:rPr lang="en-US"/>
              <a:t>Slide </a:t>
            </a:r>
            <a:fld id="{E27654B9-2CBC-E046-9B7E-70345D26D3AC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ooter Placeholder 1"/>
          <p:cNvSpPr>
            <a:spLocks noGrp="1"/>
          </p:cNvSpPr>
          <p:nvPr>
            <p:ph type="ftr" sz="quarter" idx="3"/>
          </p:nvPr>
        </p:nvSpPr>
        <p:spPr>
          <a:xfrm>
            <a:off x="1117172" y="4743450"/>
            <a:ext cx="3759628" cy="400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Computer Aided Medical Procedures</a:t>
            </a:r>
          </a:p>
        </p:txBody>
      </p:sp>
    </p:spTree>
    <p:extLst>
      <p:ext uri="{BB962C8B-B14F-4D97-AF65-F5344CB8AC3E}">
        <p14:creationId xmlns:p14="http://schemas.microsoft.com/office/powerpoint/2010/main" val="1669528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4876800" y="4743450"/>
            <a:ext cx="3276600" cy="4000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solidFill>
                  <a:srgbClr val="FFFFFF"/>
                </a:solidFill>
                <a:latin typeface="TUM Neue Helvetica 55 Regular" charset="0"/>
                <a:cs typeface="+mn-cs"/>
              </a:defRPr>
            </a:lvl1pPr>
          </a:lstStyle>
          <a:p>
            <a:fld id="{6E09D0C5-C17A-964D-9CE3-5C11F12B2415}" type="datetime4">
              <a:rPr lang="en-US" smtClean="0"/>
              <a:t>April 24, 2025</a:t>
            </a:fld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077200" y="4743450"/>
            <a:ext cx="1066800" cy="4000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eaLnBrk="0" hangingPunct="0">
              <a:defRPr sz="1200">
                <a:solidFill>
                  <a:srgbClr val="FFFFFF"/>
                </a:solidFill>
                <a:latin typeface="TUM Neue Helvetica 55 Regular" charset="0"/>
                <a:cs typeface="+mn-cs"/>
              </a:defRPr>
            </a:lvl1pPr>
          </a:lstStyle>
          <a:p>
            <a:r>
              <a:rPr lang="en-US"/>
              <a:t>Slide </a:t>
            </a:r>
            <a:fld id="{E27654B9-2CBC-E046-9B7E-70345D26D3AC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ooter Placeholder 1"/>
          <p:cNvSpPr>
            <a:spLocks noGrp="1"/>
          </p:cNvSpPr>
          <p:nvPr>
            <p:ph type="ftr" sz="quarter" idx="3"/>
          </p:nvPr>
        </p:nvSpPr>
        <p:spPr>
          <a:xfrm>
            <a:off x="1117172" y="4743450"/>
            <a:ext cx="3759628" cy="400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Computer Aided Medical Procedures</a:t>
            </a:r>
          </a:p>
        </p:txBody>
      </p:sp>
    </p:spTree>
    <p:extLst>
      <p:ext uri="{BB962C8B-B14F-4D97-AF65-F5344CB8AC3E}">
        <p14:creationId xmlns:p14="http://schemas.microsoft.com/office/powerpoint/2010/main" val="2194206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4876800" y="4743450"/>
            <a:ext cx="3276600" cy="4000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solidFill>
                  <a:srgbClr val="FFFFFF"/>
                </a:solidFill>
                <a:latin typeface="TUM Neue Helvetica 55 Regular" charset="0"/>
                <a:cs typeface="+mn-cs"/>
              </a:defRPr>
            </a:lvl1pPr>
          </a:lstStyle>
          <a:p>
            <a:fld id="{0C239D90-B595-5D48-BAA1-D0EA0BEDDE62}" type="datetime4">
              <a:rPr lang="en-US" smtClean="0"/>
              <a:t>April 24, 2025</a:t>
            </a:fld>
            <a:endParaRPr lang="en-US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077200" y="4743450"/>
            <a:ext cx="1066800" cy="4000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eaLnBrk="0" hangingPunct="0">
              <a:defRPr sz="1200">
                <a:solidFill>
                  <a:srgbClr val="FFFFFF"/>
                </a:solidFill>
                <a:latin typeface="TUM Neue Helvetica 55 Regular" charset="0"/>
                <a:cs typeface="+mn-cs"/>
              </a:defRPr>
            </a:lvl1pPr>
          </a:lstStyle>
          <a:p>
            <a:r>
              <a:rPr lang="en-US"/>
              <a:t>Slide </a:t>
            </a:r>
            <a:fld id="{E27654B9-2CBC-E046-9B7E-70345D26D3AC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ooter Placeholder 1"/>
          <p:cNvSpPr>
            <a:spLocks noGrp="1"/>
          </p:cNvSpPr>
          <p:nvPr>
            <p:ph type="ftr" sz="quarter" idx="3"/>
          </p:nvPr>
        </p:nvSpPr>
        <p:spPr>
          <a:xfrm>
            <a:off x="1117172" y="4743450"/>
            <a:ext cx="3759628" cy="400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Computer Aided Medical Procedures</a:t>
            </a:r>
          </a:p>
        </p:txBody>
      </p:sp>
    </p:spTree>
    <p:extLst>
      <p:ext uri="{BB962C8B-B14F-4D97-AF65-F5344CB8AC3E}">
        <p14:creationId xmlns:p14="http://schemas.microsoft.com/office/powerpoint/2010/main" val="28875072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78614" y="685800"/>
            <a:ext cx="2105025" cy="39433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58775" y="685800"/>
            <a:ext cx="6167438" cy="39433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4876800" y="4743450"/>
            <a:ext cx="3276600" cy="4000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solidFill>
                  <a:srgbClr val="FFFFFF"/>
                </a:solidFill>
                <a:latin typeface="TUM Neue Helvetica 55 Regular" charset="0"/>
                <a:cs typeface="+mn-cs"/>
              </a:defRPr>
            </a:lvl1pPr>
          </a:lstStyle>
          <a:p>
            <a:fld id="{BE0853B1-6B83-8641-967E-5D815622BD85}" type="datetime4">
              <a:rPr lang="en-US" smtClean="0"/>
              <a:t>April 24, 2025</a:t>
            </a:fld>
            <a:endParaRPr lang="en-US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077200" y="4743450"/>
            <a:ext cx="1066800" cy="4000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eaLnBrk="0" hangingPunct="0">
              <a:defRPr sz="1200">
                <a:solidFill>
                  <a:srgbClr val="FFFFFF"/>
                </a:solidFill>
                <a:latin typeface="TUM Neue Helvetica 55 Regular" charset="0"/>
                <a:cs typeface="+mn-cs"/>
              </a:defRPr>
            </a:lvl1pPr>
          </a:lstStyle>
          <a:p>
            <a:r>
              <a:rPr lang="en-US"/>
              <a:t>Slide </a:t>
            </a:r>
            <a:fld id="{E27654B9-2CBC-E046-9B7E-70345D26D3AC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ooter Placeholder 1"/>
          <p:cNvSpPr>
            <a:spLocks noGrp="1"/>
          </p:cNvSpPr>
          <p:nvPr>
            <p:ph type="ftr" sz="quarter" idx="3"/>
          </p:nvPr>
        </p:nvSpPr>
        <p:spPr>
          <a:xfrm>
            <a:off x="1117172" y="4743450"/>
            <a:ext cx="3759628" cy="400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Computer Aided Medical Procedures</a:t>
            </a:r>
          </a:p>
        </p:txBody>
      </p:sp>
    </p:spTree>
    <p:extLst>
      <p:ext uri="{BB962C8B-B14F-4D97-AF65-F5344CB8AC3E}">
        <p14:creationId xmlns:p14="http://schemas.microsoft.com/office/powerpoint/2010/main" val="11533075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3999" cy="5143500"/>
          </a:xfrm>
          <a:prstGeom prst="rect">
            <a:avLst/>
          </a:prstGeom>
        </p:spPr>
      </p:pic>
      <p:sp>
        <p:nvSpPr>
          <p:cNvPr id="1027" name="Rectangle 8"/>
          <p:cNvSpPr>
            <a:spLocks noGrp="1" noChangeArrowheads="1"/>
          </p:cNvSpPr>
          <p:nvPr>
            <p:ph type="title"/>
          </p:nvPr>
        </p:nvSpPr>
        <p:spPr bwMode="auto">
          <a:xfrm>
            <a:off x="358776" y="171450"/>
            <a:ext cx="84042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de-DE"/>
              <a:t>Mastertitelformat bearbeiten</a:t>
            </a:r>
          </a:p>
        </p:txBody>
      </p:sp>
      <p:sp>
        <p:nvSpPr>
          <p:cNvPr id="1028" name="Rectangle 9"/>
          <p:cNvSpPr>
            <a:spLocks noGrp="1" noChangeArrowheads="1"/>
          </p:cNvSpPr>
          <p:nvPr>
            <p:ph type="body" idx="1"/>
          </p:nvPr>
        </p:nvSpPr>
        <p:spPr bwMode="auto">
          <a:xfrm>
            <a:off x="358776" y="800100"/>
            <a:ext cx="8424863" cy="3829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876800" y="4743450"/>
            <a:ext cx="3276600" cy="4000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solidFill>
                  <a:srgbClr val="FFFFFF"/>
                </a:solidFill>
                <a:latin typeface="TUM Neue Helvetica 55 Regular" charset="0"/>
                <a:cs typeface="+mn-cs"/>
              </a:defRPr>
            </a:lvl1pPr>
          </a:lstStyle>
          <a:p>
            <a:fld id="{2F01D37D-DDD0-5C47-9B59-90FAD879C2F1}" type="datetime4">
              <a:rPr lang="en-US" smtClean="0"/>
              <a:t>April 24, 2025</a:t>
            </a:fld>
            <a:endParaRPr lang="en-US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077200" y="4743450"/>
            <a:ext cx="1066800" cy="4000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eaLnBrk="0" hangingPunct="0">
              <a:defRPr sz="1200">
                <a:solidFill>
                  <a:srgbClr val="FFFFFF"/>
                </a:solidFill>
                <a:latin typeface="TUM Neue Helvetica 55 Regular" charset="0"/>
                <a:cs typeface="+mn-cs"/>
              </a:defRPr>
            </a:lvl1pPr>
          </a:lstStyle>
          <a:p>
            <a:r>
              <a:rPr lang="en-US"/>
              <a:t>Slide </a:t>
            </a:r>
            <a:fld id="{E27654B9-2CBC-E046-9B7E-70345D26D3AC}" type="slidenum">
              <a:rPr lang="en-US" smtClean="0"/>
              <a:t>‹#›</a:t>
            </a:fld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3"/>
          </p:nvPr>
        </p:nvSpPr>
        <p:spPr>
          <a:xfrm>
            <a:off x="1117172" y="4743450"/>
            <a:ext cx="3759628" cy="400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/>
              <a:t>Computer Aided Medical Procedures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5" r:id="rId2"/>
    <p:sldLayoutId id="2147483674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333333"/>
          </a:solidFill>
          <a:latin typeface="+mj-lt"/>
          <a:ea typeface="ＭＳ Ｐゴシック" charset="0"/>
          <a:cs typeface="ＭＳ Ｐゴシック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333333"/>
          </a:solidFill>
          <a:latin typeface="TUM Neue Helvetica 55 Regular" pitchFamily="34" charset="0"/>
          <a:ea typeface="ＭＳ Ｐゴシック" charset="0"/>
          <a:cs typeface="ＭＳ Ｐゴシック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333333"/>
          </a:solidFill>
          <a:latin typeface="TUM Neue Helvetica 55 Regular" pitchFamily="34" charset="0"/>
          <a:ea typeface="ＭＳ Ｐゴシック" charset="0"/>
          <a:cs typeface="ＭＳ Ｐゴシック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333333"/>
          </a:solidFill>
          <a:latin typeface="TUM Neue Helvetica 55 Regular" pitchFamily="34" charset="0"/>
          <a:ea typeface="ＭＳ Ｐゴシック" charset="0"/>
          <a:cs typeface="ＭＳ Ｐゴシック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333333"/>
          </a:solidFill>
          <a:latin typeface="TUM Neue Helvetica 55 Regular" pitchFamily="34" charset="0"/>
          <a:ea typeface="ＭＳ Ｐゴシック" charset="0"/>
          <a:cs typeface="ＭＳ Ｐゴシック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333333"/>
          </a:solidFill>
          <a:latin typeface="TUM Neue Helvetica 55 Regular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333333"/>
          </a:solidFill>
          <a:latin typeface="TUM Neue Helvetica 55 Regular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333333"/>
          </a:solidFill>
          <a:latin typeface="TUM Neue Helvetica 55 Regular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rgbClr val="333333"/>
          </a:solidFill>
          <a:latin typeface="TUM Neue Helvetica 55 Regular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>
          <a:solidFill>
            <a:srgbClr val="333333"/>
          </a:solidFill>
          <a:latin typeface="+mn-lt"/>
          <a:ea typeface="ＭＳ Ｐゴシック" charset="0"/>
          <a:cs typeface="ＭＳ Ｐゴシック" charset="0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1400">
          <a:solidFill>
            <a:srgbClr val="333333"/>
          </a:solidFill>
          <a:latin typeface="+mn-lt"/>
          <a:ea typeface="ＭＳ Ｐゴシック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1400">
          <a:solidFill>
            <a:srgbClr val="333333"/>
          </a:solidFill>
          <a:latin typeface="+mn-lt"/>
          <a:ea typeface="ＭＳ Ｐゴシック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1400">
          <a:solidFill>
            <a:srgbClr val="333333"/>
          </a:solidFill>
          <a:latin typeface="+mn-lt"/>
          <a:ea typeface="ＭＳ Ｐゴシック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1400">
          <a:solidFill>
            <a:srgbClr val="333333"/>
          </a:solidFill>
          <a:latin typeface="+mn-lt"/>
          <a:ea typeface="ＭＳ Ｐゴシック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1400">
          <a:solidFill>
            <a:srgbClr val="333333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1400">
          <a:solidFill>
            <a:srgbClr val="333333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1400">
          <a:solidFill>
            <a:srgbClr val="333333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1400">
          <a:solidFill>
            <a:srgbClr val="333333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2.xml"/><Relationship Id="rId13" Type="http://schemas.openxmlformats.org/officeDocument/2006/relationships/diagramData" Target="../diagrams/data3.xml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12" Type="http://schemas.microsoft.com/office/2007/relationships/diagramDrawing" Target="../diagrams/drawing2.xml"/><Relationship Id="rId17" Type="http://schemas.microsoft.com/office/2007/relationships/diagramDrawing" Target="../diagrams/drawing3.xml"/><Relationship Id="rId2" Type="http://schemas.openxmlformats.org/officeDocument/2006/relationships/notesSlide" Target="../notesSlides/notesSlide6.xml"/><Relationship Id="rId16" Type="http://schemas.openxmlformats.org/officeDocument/2006/relationships/diagramColors" Target="../diagrams/colors3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1.xml"/><Relationship Id="rId11" Type="http://schemas.openxmlformats.org/officeDocument/2006/relationships/diagramColors" Target="../diagrams/colors2.xml"/><Relationship Id="rId5" Type="http://schemas.openxmlformats.org/officeDocument/2006/relationships/diagramQuickStyle" Target="../diagrams/quickStyle1.xml"/><Relationship Id="rId15" Type="http://schemas.openxmlformats.org/officeDocument/2006/relationships/diagramQuickStyle" Target="../diagrams/quickStyle3.xml"/><Relationship Id="rId10" Type="http://schemas.openxmlformats.org/officeDocument/2006/relationships/diagramQuickStyle" Target="../diagrams/quickStyle2.xml"/><Relationship Id="rId4" Type="http://schemas.openxmlformats.org/officeDocument/2006/relationships/diagramLayout" Target="../diagrams/layout1.xml"/><Relationship Id="rId9" Type="http://schemas.openxmlformats.org/officeDocument/2006/relationships/diagramLayout" Target="../diagrams/layout2.xml"/><Relationship Id="rId14" Type="http://schemas.openxmlformats.org/officeDocument/2006/relationships/diagramLayout" Target="../diagrams/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20010" y="1853819"/>
            <a:ext cx="6954100" cy="1055184"/>
          </a:xfrm>
        </p:spPr>
        <p:txBody>
          <a:bodyPr/>
          <a:lstStyle/>
          <a:p>
            <a:r>
              <a:rPr lang="en-GB">
                <a:ea typeface="+mj-lt"/>
                <a:cs typeface="+mj-lt"/>
              </a:rPr>
              <a:t>Investigating Patients with Rare Diseases Using Graph-Based Models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tr-TR">
                <a:ea typeface="+mn-lt"/>
                <a:cs typeface="+mn-lt"/>
              </a:rPr>
              <a:t>MLMI </a:t>
            </a:r>
            <a:r>
              <a:rPr lang="tr-TR" err="1">
                <a:ea typeface="+mn-lt"/>
                <a:cs typeface="+mn-lt"/>
              </a:rPr>
              <a:t>Praktikum</a:t>
            </a:r>
            <a:r>
              <a:rPr lang="tr-TR">
                <a:ea typeface="+mn-lt"/>
                <a:cs typeface="+mn-lt"/>
              </a:rPr>
              <a:t> – Final Presentation</a:t>
            </a:r>
            <a:endParaRPr lang="en-US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64C41658-E9B6-90EB-15E4-D932F42B498F}"/>
              </a:ext>
            </a:extLst>
          </p:cNvPr>
          <p:cNvSpPr txBox="1">
            <a:spLocks/>
          </p:cNvSpPr>
          <p:nvPr/>
        </p:nvSpPr>
        <p:spPr bwMode="auto">
          <a:xfrm>
            <a:off x="2119081" y="3376591"/>
            <a:ext cx="6954100" cy="7373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marL="0" indent="0" algn="l" rtl="0" eaLnBrk="1" fontAlgn="base" hangingPunct="1">
              <a:spcBef>
                <a:spcPct val="20000"/>
              </a:spcBef>
              <a:spcAft>
                <a:spcPct val="0"/>
              </a:spcAft>
              <a:buFontTx/>
              <a:buNone/>
              <a:defRPr>
                <a:solidFill>
                  <a:schemeClr val="bg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400">
                <a:solidFill>
                  <a:srgbClr val="333333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400">
                <a:solidFill>
                  <a:srgbClr val="333333"/>
                </a:solidFill>
                <a:latin typeface="+mn-lt"/>
                <a:ea typeface="ＭＳ Ｐゴシック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400">
                <a:solidFill>
                  <a:srgbClr val="333333"/>
                </a:solidFill>
                <a:latin typeface="+mn-lt"/>
                <a:ea typeface="ＭＳ Ｐゴシック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333333"/>
                </a:solidFill>
                <a:latin typeface="+mn-lt"/>
                <a:ea typeface="ＭＳ Ｐゴシック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333333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333333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333333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333333"/>
                </a:solidFill>
                <a:latin typeface="+mn-lt"/>
              </a:defRPr>
            </a:lvl9pPr>
          </a:lstStyle>
          <a:p>
            <a:pPr defTabSz="914400"/>
            <a:r>
              <a:rPr lang="tr-TR" kern="0">
                <a:ea typeface="+mn-lt"/>
                <a:cs typeface="+mn-lt"/>
              </a:rPr>
              <a:t>Büşra Nur Zeybek, Tuna Karacan, </a:t>
            </a:r>
            <a:r>
              <a:rPr lang="tr-TR" kern="0" err="1">
                <a:ea typeface="+mn-lt"/>
                <a:cs typeface="+mn-lt"/>
              </a:rPr>
              <a:t>Kai</a:t>
            </a:r>
            <a:r>
              <a:rPr lang="tr-TR" kern="0">
                <a:ea typeface="+mn-lt"/>
                <a:cs typeface="+mn-lt"/>
              </a:rPr>
              <a:t>-Ze </a:t>
            </a:r>
            <a:r>
              <a:rPr lang="tr-TR" kern="0" err="1">
                <a:ea typeface="+mn-lt"/>
                <a:cs typeface="+mn-lt"/>
              </a:rPr>
              <a:t>Deng</a:t>
            </a:r>
            <a:endParaRPr lang="tr-TR" kern="0" err="1">
              <a:cs typeface="+mn-lt"/>
            </a:endParaRPr>
          </a:p>
          <a:p>
            <a:pPr defTabSz="914400"/>
            <a:r>
              <a:rPr lang="tr-TR" kern="0" err="1">
                <a:ea typeface="ＭＳ Ｐゴシック"/>
              </a:rPr>
              <a:t>Supervisor</a:t>
            </a:r>
            <a:r>
              <a:rPr lang="tr-TR" kern="0">
                <a:ea typeface="ＭＳ Ｐゴシック"/>
              </a:rPr>
              <a:t>: </a:t>
            </a:r>
            <a:r>
              <a:rPr lang="tr-TR" kern="0" err="1">
                <a:ea typeface="ＭＳ Ｐゴシック"/>
              </a:rPr>
              <a:t>Kamilia</a:t>
            </a:r>
            <a:r>
              <a:rPr lang="tr-TR" kern="0">
                <a:ea typeface="ＭＳ Ｐゴシック"/>
              </a:rPr>
              <a:t> </a:t>
            </a:r>
            <a:r>
              <a:rPr lang="tr-TR" kern="0" err="1">
                <a:ea typeface="ＭＳ Ｐゴシック"/>
              </a:rPr>
              <a:t>Zaripova</a:t>
            </a:r>
          </a:p>
        </p:txBody>
      </p:sp>
    </p:spTree>
    <p:extLst>
      <p:ext uri="{BB962C8B-B14F-4D97-AF65-F5344CB8AC3E}">
        <p14:creationId xmlns:p14="http://schemas.microsoft.com/office/powerpoint/2010/main" val="23549639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ctrTitle"/>
          </p:nvPr>
        </p:nvSpPr>
        <p:spPr>
          <a:xfrm>
            <a:off x="2189705" y="168931"/>
            <a:ext cx="6954100" cy="539441"/>
          </a:xfrm>
        </p:spPr>
        <p:txBody>
          <a:bodyPr/>
          <a:lstStyle/>
          <a:p>
            <a:r>
              <a:rPr lang="en-US">
                <a:ea typeface="ＭＳ Ｐゴシック"/>
              </a:rPr>
              <a:t>Table of Contents</a:t>
            </a:r>
            <a:endParaRPr lang="en-US"/>
          </a:p>
        </p:txBody>
      </p:sp>
      <p:sp>
        <p:nvSpPr>
          <p:cNvPr id="5" name="Title 6">
            <a:extLst>
              <a:ext uri="{FF2B5EF4-FFF2-40B4-BE49-F238E27FC236}">
                <a16:creationId xmlns:a16="http://schemas.microsoft.com/office/drawing/2014/main" id="{6BA0058A-D2AB-7E96-5B3D-926CFAF1607C}"/>
              </a:ext>
            </a:extLst>
          </p:cNvPr>
          <p:cNvSpPr txBox="1">
            <a:spLocks/>
          </p:cNvSpPr>
          <p:nvPr/>
        </p:nvSpPr>
        <p:spPr bwMode="auto">
          <a:xfrm>
            <a:off x="2109948" y="892831"/>
            <a:ext cx="4727221" cy="33551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+mj-lt"/>
                <a:ea typeface="ＭＳ Ｐゴシック" charset="0"/>
                <a:cs typeface="ＭＳ Ｐゴシック" charset="0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33"/>
                </a:solidFill>
                <a:latin typeface="TUM Neue Helvetica 55 Regular" pitchFamily="34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33"/>
                </a:solidFill>
                <a:latin typeface="TUM Neue Helvetica 55 Regular" pitchFamily="34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33"/>
                </a:solidFill>
                <a:latin typeface="TUM Neue Helvetica 55 Regular" pitchFamily="34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33"/>
                </a:solidFill>
                <a:latin typeface="TUM Neue Helvetica 55 Regular" pitchFamily="34" charset="0"/>
                <a:ea typeface="ＭＳ Ｐゴシック" charset="0"/>
                <a:cs typeface="ＭＳ Ｐゴシック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33"/>
                </a:solidFill>
                <a:latin typeface="TUM Neue Helvetica 55 Regular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33"/>
                </a:solidFill>
                <a:latin typeface="TUM Neue Helvetica 55 Regular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33"/>
                </a:solidFill>
                <a:latin typeface="TUM Neue Helvetica 55 Regular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33"/>
                </a:solidFill>
                <a:latin typeface="TUM Neue Helvetica 55 Regular" pitchFamily="34" charset="0"/>
              </a:defRPr>
            </a:lvl9pPr>
          </a:lstStyle>
          <a:p>
            <a:pPr marL="457200" indent="-457200" defTabSz="914400">
              <a:buAutoNum type="romanUcPeriod"/>
            </a:pPr>
            <a:r>
              <a:rPr lang="en-US" sz="2400" kern="0">
                <a:solidFill>
                  <a:srgbClr val="FFFFFF"/>
                </a:solidFill>
                <a:latin typeface="TUM Neue Helvetica 55 Regular"/>
                <a:ea typeface="ＭＳ Ｐゴシック"/>
              </a:rPr>
              <a:t>Project Outline</a:t>
            </a:r>
            <a:endParaRPr lang="en-US" sz="2400" kern="0">
              <a:solidFill>
                <a:srgbClr val="FFFFFF"/>
              </a:solidFill>
              <a:latin typeface="TUM Neue Helvetica 55 Regular"/>
            </a:endParaRPr>
          </a:p>
          <a:p>
            <a:pPr marL="914400" lvl="1" indent="-457200" defTabSz="914400">
              <a:buAutoNum type="arabicPeriod"/>
            </a:pPr>
            <a:r>
              <a:rPr lang="en-US" sz="2000" b="0" kern="0">
                <a:solidFill>
                  <a:srgbClr val="FFFFFF"/>
                </a:solidFill>
                <a:latin typeface="TUM Neue Helvetica 55 Regular"/>
                <a:ea typeface="ＭＳ Ｐゴシック"/>
                <a:cs typeface="+mj-lt"/>
              </a:rPr>
              <a:t>Problem Statement</a:t>
            </a:r>
            <a:endParaRPr lang="en-US" sz="1600" kern="0">
              <a:solidFill>
                <a:srgbClr val="FFFFFF"/>
              </a:solidFill>
              <a:latin typeface="TUM Neue Helvetica 55 Regular"/>
              <a:ea typeface="ＭＳ Ｐゴシック"/>
              <a:cs typeface="+mj-lt"/>
            </a:endParaRPr>
          </a:p>
          <a:p>
            <a:pPr marL="914400" lvl="1" indent="-457200" defTabSz="914400">
              <a:buAutoNum type="arabicPeriod"/>
            </a:pPr>
            <a:r>
              <a:rPr lang="en-US" sz="2000" b="0" kern="0">
                <a:solidFill>
                  <a:srgbClr val="FFFFFF"/>
                </a:solidFill>
                <a:latin typeface="TUM Neue Helvetica 55 Regular"/>
                <a:ea typeface="ＭＳ Ｐゴシック"/>
              </a:rPr>
              <a:t>Motivation</a:t>
            </a:r>
            <a:endParaRPr lang="en-US" sz="2000" b="0" kern="0">
              <a:solidFill>
                <a:srgbClr val="FFFFFF"/>
              </a:solidFill>
              <a:ea typeface="ＭＳ Ｐゴシック"/>
            </a:endParaRPr>
          </a:p>
          <a:p>
            <a:pPr marL="914400" lvl="1" indent="-457200" defTabSz="914400">
              <a:buAutoNum type="arabicPeriod"/>
            </a:pPr>
            <a:r>
              <a:rPr lang="en-US" sz="2000" b="0" kern="0">
                <a:solidFill>
                  <a:srgbClr val="FFFFFF"/>
                </a:solidFill>
                <a:latin typeface="TUM Neue Helvetica 55 Regular"/>
                <a:ea typeface="ＭＳ Ｐゴシック"/>
              </a:rPr>
              <a:t>Milestones</a:t>
            </a:r>
          </a:p>
          <a:p>
            <a:pPr marL="457200" indent="-457200" defTabSz="914400">
              <a:buAutoNum type="romanUcPeriod"/>
            </a:pPr>
            <a:r>
              <a:rPr lang="en-US" sz="2400" kern="0">
                <a:solidFill>
                  <a:srgbClr val="FFFFFF"/>
                </a:solidFill>
                <a:latin typeface="TUM Neue Helvetica 55 Regular"/>
                <a:ea typeface="ＭＳ Ｐゴシック"/>
              </a:rPr>
              <a:t>Project Progress &amp; Outlook</a:t>
            </a:r>
            <a:endParaRPr lang="en-US" sz="2400" kern="0">
              <a:solidFill>
                <a:srgbClr val="FFFFFF"/>
              </a:solidFill>
              <a:latin typeface="TUM Neue Helvetica 55 Regular"/>
            </a:endParaRPr>
          </a:p>
          <a:p>
            <a:pPr marL="914400" lvl="1" indent="-457200" defTabSz="914400">
              <a:buAutoNum type="arabicPeriod"/>
            </a:pPr>
            <a:r>
              <a:rPr lang="en-US" sz="2000" b="0" kern="0">
                <a:solidFill>
                  <a:srgbClr val="FFFFFF"/>
                </a:solidFill>
                <a:latin typeface="TUM Neue Helvetica 55 Regular"/>
                <a:ea typeface="ＭＳ Ｐゴシック"/>
              </a:rPr>
              <a:t>Model Overview</a:t>
            </a:r>
            <a:endParaRPr lang="en-US" sz="2000" b="0" kern="0">
              <a:solidFill>
                <a:srgbClr val="FFFFFF"/>
              </a:solidFill>
              <a:ea typeface="ＭＳ Ｐゴシック"/>
            </a:endParaRPr>
          </a:p>
          <a:p>
            <a:pPr marL="914400" lvl="1" indent="-457200" defTabSz="914400">
              <a:buAutoNum type="arabicPeriod"/>
            </a:pPr>
            <a:r>
              <a:rPr lang="en-US" sz="2000" b="0" kern="0">
                <a:solidFill>
                  <a:srgbClr val="FFFFFF"/>
                </a:solidFill>
                <a:latin typeface="TUM Neue Helvetica 55 Regular"/>
                <a:ea typeface="ＭＳ Ｐゴシック"/>
              </a:rPr>
              <a:t>Key Characteristics</a:t>
            </a:r>
          </a:p>
          <a:p>
            <a:pPr marL="914400" lvl="1" indent="-457200" defTabSz="914400">
              <a:buAutoNum type="arabicPeriod"/>
            </a:pPr>
            <a:r>
              <a:rPr lang="en-US" sz="2000" b="0" kern="0">
                <a:solidFill>
                  <a:srgbClr val="FFFFFF"/>
                </a:solidFill>
                <a:latin typeface="TUM Neue Helvetica 55 Regular"/>
                <a:ea typeface="ＭＳ Ｐゴシック"/>
              </a:rPr>
              <a:t>Data Preprocessing</a:t>
            </a:r>
          </a:p>
          <a:p>
            <a:pPr marL="914400" lvl="1" indent="-457200" defTabSz="914400">
              <a:buAutoNum type="arabicPeriod"/>
            </a:pPr>
            <a:r>
              <a:rPr lang="en-US" sz="2000" b="0" kern="0">
                <a:solidFill>
                  <a:srgbClr val="FFFFFF"/>
                </a:solidFill>
                <a:latin typeface="TUM Neue Helvetica 55 Regular"/>
                <a:ea typeface="ＭＳ Ｐゴシック"/>
              </a:rPr>
              <a:t>Overview of the Patient Graph</a:t>
            </a:r>
          </a:p>
          <a:p>
            <a:pPr marL="914400" lvl="1" indent="-457200" defTabSz="914400">
              <a:buAutoNum type="arabicPeriod"/>
            </a:pPr>
            <a:r>
              <a:rPr lang="en-US" sz="2000" b="0" kern="0">
                <a:solidFill>
                  <a:srgbClr val="FFFFFF"/>
                </a:solidFill>
                <a:latin typeface="TUM Neue Helvetica 55 Regular"/>
                <a:ea typeface="ＭＳ Ｐゴシック"/>
              </a:rPr>
              <a:t>Overview of the </a:t>
            </a:r>
            <a:r>
              <a:rPr lang="en-US" sz="2000" b="0" kern="0" err="1">
                <a:solidFill>
                  <a:srgbClr val="FFFFFF"/>
                </a:solidFill>
                <a:latin typeface="TUM Neue Helvetica 55 Regular"/>
                <a:ea typeface="ＭＳ Ｐゴシック"/>
              </a:rPr>
              <a:t>GiG</a:t>
            </a:r>
            <a:r>
              <a:rPr lang="en-US" sz="2000" b="0" kern="0">
                <a:solidFill>
                  <a:srgbClr val="FFFFFF"/>
                </a:solidFill>
                <a:latin typeface="TUM Neue Helvetica 55 Regular"/>
                <a:ea typeface="ＭＳ Ｐゴシック"/>
              </a:rPr>
              <a:t> Model</a:t>
            </a:r>
          </a:p>
          <a:p>
            <a:pPr marL="914400" lvl="1" indent="-457200" defTabSz="914400">
              <a:buAutoNum type="arabicPeriod"/>
            </a:pPr>
            <a:r>
              <a:rPr lang="en-US" sz="2000" b="0" kern="0">
                <a:solidFill>
                  <a:srgbClr val="FFFFFF"/>
                </a:solidFill>
                <a:latin typeface="TUM Neue Helvetica 55 Regular"/>
                <a:ea typeface="ＭＳ Ｐゴシック"/>
              </a:rPr>
              <a:t>Results &amp; Milestones</a:t>
            </a:r>
            <a:endParaRPr lang="en-US" sz="2000" b="0" kern="0">
              <a:solidFill>
                <a:srgbClr val="FFFFFF"/>
              </a:solidFill>
              <a:ea typeface="ＭＳ Ｐゴシック"/>
            </a:endParaRPr>
          </a:p>
          <a:p>
            <a:pPr marL="914400" lvl="1" indent="-457200" defTabSz="914400">
              <a:buAutoNum type="arabicPeriod"/>
            </a:pPr>
            <a:r>
              <a:rPr lang="en-US" sz="2000" b="0" kern="0">
                <a:solidFill>
                  <a:srgbClr val="FFFFFF"/>
                </a:solidFill>
                <a:latin typeface="TUM Neue Helvetica 55 Regular"/>
                <a:ea typeface="ＭＳ Ｐゴシック"/>
              </a:rPr>
              <a:t>Discussions</a:t>
            </a:r>
            <a:endParaRPr lang="en-US" sz="2000" b="0" kern="0">
              <a:ea typeface="ＭＳ Ｐゴシック"/>
            </a:endParaRPr>
          </a:p>
          <a:p>
            <a:pPr marL="457200" indent="-457200" defTabSz="914400">
              <a:buAutoNum type="romanUcPeriod"/>
            </a:pPr>
            <a:r>
              <a:rPr lang="en-US" sz="2400" kern="0">
                <a:solidFill>
                  <a:srgbClr val="FFFFFF"/>
                </a:solidFill>
                <a:latin typeface="TUM Neue Helvetica 55 Regular"/>
                <a:ea typeface="ＭＳ Ｐゴシック"/>
              </a:rPr>
              <a:t>Conclusion</a:t>
            </a:r>
          </a:p>
          <a:p>
            <a:pPr marL="457200" indent="-457200" defTabSz="914400">
              <a:buAutoNum type="romanUcPeriod"/>
            </a:pPr>
            <a:endParaRPr lang="en-US" sz="2000" kern="0">
              <a:solidFill>
                <a:srgbClr val="FFFFFF"/>
              </a:solidFill>
              <a:latin typeface="TUM Neue Helvetica 55 Regular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B19AA13-02F1-3C1B-62B8-735B9EF07781}"/>
              </a:ext>
            </a:extLst>
          </p:cNvPr>
          <p:cNvSpPr txBox="1"/>
          <p:nvPr/>
        </p:nvSpPr>
        <p:spPr>
          <a:xfrm>
            <a:off x="6680638" y="1005051"/>
            <a:ext cx="2463361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sz="2400" b="1">
                <a:solidFill>
                  <a:srgbClr val="FFFFFF"/>
                </a:solidFill>
                <a:latin typeface="Arial"/>
                <a:cs typeface="Arial"/>
              </a:rPr>
              <a:t>IV. Take Home Messages &amp; Feedback</a:t>
            </a:r>
            <a:endParaRPr lang="en-US" sz="2400">
              <a:latin typeface="Arial"/>
              <a:cs typeface="Arial"/>
            </a:endParaRP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sz="2400" b="1">
                <a:solidFill>
                  <a:srgbClr val="FFFFFF"/>
                </a:solidFill>
                <a:latin typeface="Arial"/>
                <a:cs typeface="Arial"/>
              </a:rPr>
              <a:t>V. Q&amp;A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7711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5D7B0B-949F-B0F8-D386-FCF71CBCD5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D61B25-E8DA-C481-9B66-8BEC51C265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776" y="180743"/>
            <a:ext cx="8404225" cy="457200"/>
          </a:xfrm>
        </p:spPr>
        <p:txBody>
          <a:bodyPr/>
          <a:lstStyle/>
          <a:p>
            <a:r>
              <a:rPr lang="en-US" sz="2800">
                <a:ea typeface="ＭＳ Ｐゴシック"/>
              </a:rPr>
              <a:t>Project Outline</a:t>
            </a:r>
            <a:endParaRPr lang="en-US" sz="2800"/>
          </a:p>
        </p:txBody>
      </p:sp>
      <p:pic>
        <p:nvPicPr>
          <p:cNvPr id="7" name="Content Placeholder 6" descr="A blue rectangle with numbers and symbols&#10;&#10;Description automatically generated">
            <a:extLst>
              <a:ext uri="{FF2B5EF4-FFF2-40B4-BE49-F238E27FC236}">
                <a16:creationId xmlns:a16="http://schemas.microsoft.com/office/drawing/2014/main" id="{409E5B76-BF50-2EA5-56AE-8D848762A5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8776" y="1702644"/>
            <a:ext cx="8406279" cy="1740534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8F58F9-9F6C-8065-0FB4-AA2CC954019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A7BDDEFD-4FCF-7348-AEF1-A537DD785750}" type="datetime4">
              <a:rPr lang="en-US" smtClean="0"/>
              <a:t>April 24,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12AADD-4EAF-F6F4-9FC0-3087F7AAA8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>
                <a:ea typeface="+mn-lt"/>
                <a:cs typeface="+mn-lt"/>
              </a:rPr>
              <a:t>MLMI </a:t>
            </a:r>
            <a:r>
              <a:rPr lang="en-US" err="1">
                <a:ea typeface="+mn-lt"/>
                <a:cs typeface="+mn-lt"/>
              </a:rPr>
              <a:t>Praktikum</a:t>
            </a:r>
            <a:r>
              <a:rPr lang="en-US">
                <a:ea typeface="+mn-lt"/>
                <a:cs typeface="+mn-lt"/>
              </a:rPr>
              <a:t> – Final Presentation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BD4D42-52BD-9371-2BE1-16D3409C35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</a:t>
            </a:r>
            <a:fld id="{E27654B9-2CBC-E046-9B7E-70345D26D3AC}" type="slidenum">
              <a:rPr lang="en-US" smtClean="0"/>
              <a:t>3</a:t>
            </a:fld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F241B61-89A7-B516-50BC-AF4BED4DECF8}"/>
              </a:ext>
            </a:extLst>
          </p:cNvPr>
          <p:cNvSpPr txBox="1">
            <a:spLocks/>
          </p:cNvSpPr>
          <p:nvPr/>
        </p:nvSpPr>
        <p:spPr bwMode="auto">
          <a:xfrm>
            <a:off x="357847" y="635155"/>
            <a:ext cx="84042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33"/>
                </a:solidFill>
                <a:latin typeface="+mj-lt"/>
                <a:ea typeface="ＭＳ Ｐゴシック" charset="0"/>
                <a:cs typeface="ＭＳ Ｐゴシック" charset="0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33"/>
                </a:solidFill>
                <a:latin typeface="TUM Neue Helvetica 55 Regular" pitchFamily="34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33"/>
                </a:solidFill>
                <a:latin typeface="TUM Neue Helvetica 55 Regular" pitchFamily="34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33"/>
                </a:solidFill>
                <a:latin typeface="TUM Neue Helvetica 55 Regular" pitchFamily="34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33"/>
                </a:solidFill>
                <a:latin typeface="TUM Neue Helvetica 55 Regular" pitchFamily="34" charset="0"/>
                <a:ea typeface="ＭＳ Ｐゴシック" charset="0"/>
                <a:cs typeface="ＭＳ Ｐゴシック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33"/>
                </a:solidFill>
                <a:latin typeface="TUM Neue Helvetica 55 Regular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33"/>
                </a:solidFill>
                <a:latin typeface="TUM Neue Helvetica 55 Regular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33"/>
                </a:solidFill>
                <a:latin typeface="TUM Neue Helvetica 55 Regular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33"/>
                </a:solidFill>
                <a:latin typeface="TUM Neue Helvetica 55 Regular" pitchFamily="34" charset="0"/>
              </a:defRPr>
            </a:lvl9pPr>
          </a:lstStyle>
          <a:p>
            <a:pPr defTabSz="914400"/>
            <a:r>
              <a:rPr lang="en-US" kern="0">
                <a:solidFill>
                  <a:schemeClr val="bg2"/>
                </a:solidFill>
                <a:ea typeface="ＭＳ Ｐゴシック"/>
              </a:rPr>
              <a:t>Problem Statement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79178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>
                <a:ea typeface="ＭＳ Ｐゴシック"/>
              </a:rPr>
              <a:t>Project Outline</a:t>
            </a:r>
            <a:endParaRPr lang="en-US" sz="28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776" y="1530786"/>
            <a:ext cx="8405632" cy="3098364"/>
          </a:xfrm>
        </p:spPr>
        <p:txBody>
          <a:bodyPr/>
          <a:lstStyle/>
          <a:p>
            <a:pPr marL="0" indent="0">
              <a:buNone/>
            </a:pPr>
            <a:r>
              <a:rPr lang="en-US" b="1">
                <a:latin typeface="TUM Neue Helvetica 55 Regular"/>
                <a:ea typeface="ＭＳ Ｐゴシック"/>
                <a:cs typeface="Arial"/>
              </a:rPr>
              <a:t>Why the Project Matters:</a:t>
            </a:r>
            <a:endParaRPr lang="en-US">
              <a:solidFill>
                <a:srgbClr val="000000"/>
              </a:solidFill>
              <a:latin typeface="TUM Neue Helvetica 55 Regular"/>
              <a:ea typeface="ＭＳ Ｐゴシック"/>
              <a:cs typeface="Arial"/>
            </a:endParaRPr>
          </a:p>
          <a:p>
            <a:pPr marL="285750" indent="-285750">
              <a:buFont typeface="Arial"/>
              <a:buChar char="•"/>
            </a:pPr>
            <a:r>
              <a:rPr lang="en-US" b="1">
                <a:latin typeface="TUM Neue Helvetica 55 Regular"/>
                <a:ea typeface="ＭＳ Ｐゴシック"/>
                <a:cs typeface="Arial"/>
              </a:rPr>
              <a:t>Discovering unknown disease and gene patterns based on patient similarity</a:t>
            </a:r>
          </a:p>
          <a:p>
            <a:pPr marL="285750" indent="-285750">
              <a:buFont typeface="Arial"/>
            </a:pPr>
            <a:r>
              <a:rPr lang="en-US">
                <a:latin typeface="TUM Neue Helvetica 55 Regular"/>
                <a:ea typeface="ＭＳ Ｐゴシック"/>
                <a:cs typeface="Arial"/>
              </a:rPr>
              <a:t>Combining the known knowledge to guide the learning process</a:t>
            </a:r>
            <a:endParaRPr lang="en-US">
              <a:solidFill>
                <a:srgbClr val="000000"/>
              </a:solidFill>
              <a:latin typeface="TUM Neue Helvetica 55 Regular"/>
              <a:ea typeface="ＭＳ Ｐゴシック"/>
              <a:cs typeface="Arial"/>
            </a:endParaRPr>
          </a:p>
          <a:p>
            <a:pPr marL="285750" indent="-285750">
              <a:buFont typeface="Arial"/>
            </a:pPr>
            <a:r>
              <a:rPr lang="en-US">
                <a:latin typeface="TUM Neue Helvetica 55 Regular"/>
                <a:ea typeface="ＭＳ Ｐゴシック"/>
                <a:cs typeface="Arial"/>
              </a:rPr>
              <a:t>Reducing time to diagnose</a:t>
            </a:r>
          </a:p>
          <a:p>
            <a:pPr marL="285750" indent="-285750">
              <a:buFont typeface="Arial"/>
            </a:pPr>
            <a:r>
              <a:rPr lang="en-US">
                <a:latin typeface="TUM Neue Helvetica 55 Regular"/>
                <a:ea typeface="ＭＳ Ｐゴシック"/>
                <a:cs typeface="Arial"/>
              </a:rPr>
              <a:t>Provide insight for the future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A7BDDEFD-4FCF-7348-AEF1-A537DD785750}" type="datetime4">
              <a:rPr lang="en-US" smtClean="0"/>
              <a:t>April 24, 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>
                <a:ea typeface="+mn-lt"/>
                <a:cs typeface="+mn-lt"/>
              </a:rPr>
              <a:t>MLMI </a:t>
            </a:r>
            <a:r>
              <a:rPr lang="en-US" err="1">
                <a:ea typeface="+mn-lt"/>
                <a:cs typeface="+mn-lt"/>
              </a:rPr>
              <a:t>Praktikum</a:t>
            </a:r>
            <a:r>
              <a:rPr lang="en-US">
                <a:ea typeface="+mn-lt"/>
                <a:cs typeface="+mn-lt"/>
              </a:rPr>
              <a:t> – Final Presentation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</a:t>
            </a:r>
            <a:fld id="{E27654B9-2CBC-E046-9B7E-70345D26D3AC}" type="slidenum">
              <a:rPr lang="en-US" smtClean="0"/>
              <a:t>4</a:t>
            </a:fld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CE309F0-0C4F-E7FD-256F-C16598BFECD2}"/>
              </a:ext>
            </a:extLst>
          </p:cNvPr>
          <p:cNvSpPr txBox="1">
            <a:spLocks/>
          </p:cNvSpPr>
          <p:nvPr/>
        </p:nvSpPr>
        <p:spPr bwMode="auto">
          <a:xfrm>
            <a:off x="357847" y="625862"/>
            <a:ext cx="84042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33"/>
                </a:solidFill>
                <a:latin typeface="+mj-lt"/>
                <a:ea typeface="ＭＳ Ｐゴシック" charset="0"/>
                <a:cs typeface="ＭＳ Ｐゴシック" charset="0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33"/>
                </a:solidFill>
                <a:latin typeface="TUM Neue Helvetica 55 Regular" pitchFamily="34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33"/>
                </a:solidFill>
                <a:latin typeface="TUM Neue Helvetica 55 Regular" pitchFamily="34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33"/>
                </a:solidFill>
                <a:latin typeface="TUM Neue Helvetica 55 Regular" pitchFamily="34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33"/>
                </a:solidFill>
                <a:latin typeface="TUM Neue Helvetica 55 Regular" pitchFamily="34" charset="0"/>
                <a:ea typeface="ＭＳ Ｐゴシック" charset="0"/>
                <a:cs typeface="ＭＳ Ｐゴシック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33"/>
                </a:solidFill>
                <a:latin typeface="TUM Neue Helvetica 55 Regular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33"/>
                </a:solidFill>
                <a:latin typeface="TUM Neue Helvetica 55 Regular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33"/>
                </a:solidFill>
                <a:latin typeface="TUM Neue Helvetica 55 Regular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33"/>
                </a:solidFill>
                <a:latin typeface="TUM Neue Helvetica 55 Regular" pitchFamily="34" charset="0"/>
              </a:defRPr>
            </a:lvl9pPr>
          </a:lstStyle>
          <a:p>
            <a:pPr defTabSz="914400"/>
            <a:r>
              <a:rPr lang="en-US" kern="0">
                <a:solidFill>
                  <a:schemeClr val="bg2"/>
                </a:solidFill>
                <a:ea typeface="ＭＳ Ｐゴシック"/>
              </a:rPr>
              <a:t>Motivation</a:t>
            </a:r>
            <a:endParaRPr lang="en-US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64343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C8340-1713-2C2D-4772-9F202B84F1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347720-B49A-1D13-DA17-929C155F22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>
                <a:ea typeface="ＭＳ Ｐゴシック"/>
              </a:rPr>
              <a:t>Project Outline</a:t>
            </a:r>
            <a:endParaRPr lang="en-US" sz="280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9D3501-9F5A-E6B7-1F35-F5CD27656DD0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A7BDDEFD-4FCF-7348-AEF1-A537DD785750}" type="datetime4">
              <a:rPr lang="en-US" smtClean="0"/>
              <a:t>April 24,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4EFECE-6061-5702-97E1-F2BF7E98BD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>
                <a:ea typeface="+mn-lt"/>
                <a:cs typeface="+mn-lt"/>
              </a:rPr>
              <a:t>MLMI </a:t>
            </a:r>
            <a:r>
              <a:rPr lang="en-US" err="1">
                <a:ea typeface="+mn-lt"/>
                <a:cs typeface="+mn-lt"/>
              </a:rPr>
              <a:t>Praktikum</a:t>
            </a:r>
            <a:r>
              <a:rPr lang="en-US">
                <a:ea typeface="+mn-lt"/>
                <a:cs typeface="+mn-lt"/>
              </a:rPr>
              <a:t> – Final Presentation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18D92C-B955-2992-5FCD-C302987101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</a:t>
            </a:r>
            <a:fld id="{E27654B9-2CBC-E046-9B7E-70345D26D3AC}" type="slidenum">
              <a:rPr lang="en-US" smtClean="0"/>
              <a:t>5</a:t>
            </a:fld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3F00E61-FE30-F3FB-5F6F-FB4F3FF5F315}"/>
              </a:ext>
            </a:extLst>
          </p:cNvPr>
          <p:cNvSpPr txBox="1">
            <a:spLocks/>
          </p:cNvSpPr>
          <p:nvPr/>
        </p:nvSpPr>
        <p:spPr bwMode="auto">
          <a:xfrm>
            <a:off x="357847" y="625862"/>
            <a:ext cx="84042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33"/>
                </a:solidFill>
                <a:latin typeface="+mj-lt"/>
                <a:ea typeface="ＭＳ Ｐゴシック" charset="0"/>
                <a:cs typeface="ＭＳ Ｐゴシック" charset="0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33"/>
                </a:solidFill>
                <a:latin typeface="TUM Neue Helvetica 55 Regular" pitchFamily="34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33"/>
                </a:solidFill>
                <a:latin typeface="TUM Neue Helvetica 55 Regular" pitchFamily="34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33"/>
                </a:solidFill>
                <a:latin typeface="TUM Neue Helvetica 55 Regular" pitchFamily="34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33"/>
                </a:solidFill>
                <a:latin typeface="TUM Neue Helvetica 55 Regular" pitchFamily="34" charset="0"/>
                <a:ea typeface="ＭＳ Ｐゴシック" charset="0"/>
                <a:cs typeface="ＭＳ Ｐゴシック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33"/>
                </a:solidFill>
                <a:latin typeface="TUM Neue Helvetica 55 Regular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33"/>
                </a:solidFill>
                <a:latin typeface="TUM Neue Helvetica 55 Regular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33"/>
                </a:solidFill>
                <a:latin typeface="TUM Neue Helvetica 55 Regular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33"/>
                </a:solidFill>
                <a:latin typeface="TUM Neue Helvetica 55 Regular" pitchFamily="34" charset="0"/>
              </a:defRPr>
            </a:lvl9pPr>
          </a:lstStyle>
          <a:p>
            <a:pPr defTabSz="914400"/>
            <a:r>
              <a:rPr lang="en-US" kern="0">
                <a:solidFill>
                  <a:schemeClr val="bg2"/>
                </a:solidFill>
                <a:ea typeface="ＭＳ Ｐゴシック"/>
              </a:rPr>
              <a:t>Milestones</a:t>
            </a:r>
            <a:endParaRPr lang="en-US"/>
          </a:p>
        </p:txBody>
      </p:sp>
      <p:pic>
        <p:nvPicPr>
          <p:cNvPr id="11" name="Content Placeholder 10" descr="A calendar with blue and white text&#10;&#10;AI-generated content may be incorrect.">
            <a:extLst>
              <a:ext uri="{FF2B5EF4-FFF2-40B4-BE49-F238E27FC236}">
                <a16:creationId xmlns:a16="http://schemas.microsoft.com/office/drawing/2014/main" id="{4E6293DB-B4BA-5884-3EB8-36631AC38A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18373" y="1079403"/>
            <a:ext cx="5510315" cy="1599500"/>
          </a:xfrm>
        </p:spPr>
      </p:pic>
      <p:pic>
        <p:nvPicPr>
          <p:cNvPr id="3" name="Picture 2" descr="A screenshot of a calendar">
            <a:extLst>
              <a:ext uri="{FF2B5EF4-FFF2-40B4-BE49-F238E27FC236}">
                <a16:creationId xmlns:a16="http://schemas.microsoft.com/office/drawing/2014/main" id="{901F3BCF-9FC3-A7BF-CEB1-AA5ACD83E1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6721" y="2915361"/>
            <a:ext cx="5510561" cy="1635947"/>
          </a:xfrm>
          <a:prstGeom prst="rect">
            <a:avLst/>
          </a:prstGeom>
        </p:spPr>
      </p:pic>
      <p:sp>
        <p:nvSpPr>
          <p:cNvPr id="9" name="Oval 8">
            <a:extLst>
              <a:ext uri="{FF2B5EF4-FFF2-40B4-BE49-F238E27FC236}">
                <a16:creationId xmlns:a16="http://schemas.microsoft.com/office/drawing/2014/main" id="{E1A5B74A-59EF-D0E1-85C9-6CF4DABC3B7C}"/>
              </a:ext>
            </a:extLst>
          </p:cNvPr>
          <p:cNvSpPr/>
          <p:nvPr/>
        </p:nvSpPr>
        <p:spPr>
          <a:xfrm>
            <a:off x="1737385" y="3740103"/>
            <a:ext cx="968210" cy="61195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8625E40-2755-8E29-B3FE-CDC1C48A7750}"/>
              </a:ext>
            </a:extLst>
          </p:cNvPr>
          <p:cNvSpPr/>
          <p:nvPr/>
        </p:nvSpPr>
        <p:spPr>
          <a:xfrm flipV="1">
            <a:off x="1930358" y="2080898"/>
            <a:ext cx="708438" cy="408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9">
            <a:extLst>
              <a:ext uri="{FF2B5EF4-FFF2-40B4-BE49-F238E27FC236}">
                <a16:creationId xmlns:a16="http://schemas.microsoft.com/office/drawing/2014/main" id="{5A2DF5C1-3578-E91B-C2AA-D5D770ECF8AF}"/>
              </a:ext>
            </a:extLst>
          </p:cNvPr>
          <p:cNvSpPr/>
          <p:nvPr/>
        </p:nvSpPr>
        <p:spPr>
          <a:xfrm flipV="1">
            <a:off x="1930358" y="2229339"/>
            <a:ext cx="708438" cy="408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9">
            <a:extLst>
              <a:ext uri="{FF2B5EF4-FFF2-40B4-BE49-F238E27FC236}">
                <a16:creationId xmlns:a16="http://schemas.microsoft.com/office/drawing/2014/main" id="{8F29DF0D-C7CB-B686-772F-9FEE88AD7130}"/>
              </a:ext>
            </a:extLst>
          </p:cNvPr>
          <p:cNvSpPr/>
          <p:nvPr/>
        </p:nvSpPr>
        <p:spPr>
          <a:xfrm flipV="1">
            <a:off x="1930357" y="2362936"/>
            <a:ext cx="708438" cy="408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28833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4C401C-BF25-71A5-5DB3-A42DE5DF34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76146-6391-9E50-D283-57D651F7AF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>
                <a:ea typeface="ＭＳ Ｐゴシック"/>
              </a:rPr>
              <a:t>Project Progress &amp; Outlook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EC79AE-0783-90C7-A9F7-4A460DEF704E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A7BDDEFD-4FCF-7348-AEF1-A537DD785750}" type="datetime4">
              <a:rPr lang="en-US" smtClean="0"/>
              <a:t>April 24,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BAC998-142A-3FD9-12FE-09401BA844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>
                <a:ea typeface="+mn-lt"/>
                <a:cs typeface="+mn-lt"/>
              </a:rPr>
              <a:t>MLMI </a:t>
            </a:r>
            <a:r>
              <a:rPr lang="en-US" err="1">
                <a:ea typeface="+mn-lt"/>
                <a:cs typeface="+mn-lt"/>
              </a:rPr>
              <a:t>Praktikum</a:t>
            </a:r>
            <a:r>
              <a:rPr lang="en-US">
                <a:ea typeface="+mn-lt"/>
                <a:cs typeface="+mn-lt"/>
              </a:rPr>
              <a:t> – Final Presentation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481A60-0855-B8DE-FB36-A37009F211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</a:t>
            </a:r>
            <a:fld id="{E27654B9-2CBC-E046-9B7E-70345D26D3AC}" type="slidenum">
              <a:rPr lang="en-US" smtClean="0"/>
              <a:t>6</a:t>
            </a:fld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5CDE3C1-9CE7-7B8A-A8CF-E70064E7A41D}"/>
              </a:ext>
            </a:extLst>
          </p:cNvPr>
          <p:cNvSpPr txBox="1">
            <a:spLocks/>
          </p:cNvSpPr>
          <p:nvPr/>
        </p:nvSpPr>
        <p:spPr bwMode="auto">
          <a:xfrm>
            <a:off x="357847" y="625862"/>
            <a:ext cx="84042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33"/>
                </a:solidFill>
                <a:latin typeface="+mj-lt"/>
                <a:ea typeface="ＭＳ Ｐゴシック" charset="0"/>
                <a:cs typeface="ＭＳ Ｐゴシック" charset="0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33"/>
                </a:solidFill>
                <a:latin typeface="TUM Neue Helvetica 55 Regular" pitchFamily="34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33"/>
                </a:solidFill>
                <a:latin typeface="TUM Neue Helvetica 55 Regular" pitchFamily="34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33"/>
                </a:solidFill>
                <a:latin typeface="TUM Neue Helvetica 55 Regular" pitchFamily="34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33"/>
                </a:solidFill>
                <a:latin typeface="TUM Neue Helvetica 55 Regular" pitchFamily="34" charset="0"/>
                <a:ea typeface="ＭＳ Ｐゴシック" charset="0"/>
                <a:cs typeface="ＭＳ Ｐゴシック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33"/>
                </a:solidFill>
                <a:latin typeface="TUM Neue Helvetica 55 Regular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33"/>
                </a:solidFill>
                <a:latin typeface="TUM Neue Helvetica 55 Regular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33"/>
                </a:solidFill>
                <a:latin typeface="TUM Neue Helvetica 55 Regular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33"/>
                </a:solidFill>
                <a:latin typeface="TUM Neue Helvetica 55 Regular" pitchFamily="34" charset="0"/>
              </a:defRPr>
            </a:lvl9pPr>
          </a:lstStyle>
          <a:p>
            <a:pPr defTabSz="914400"/>
            <a:r>
              <a:rPr lang="en-US" kern="0">
                <a:solidFill>
                  <a:schemeClr val="bg2"/>
                </a:solidFill>
                <a:ea typeface="ＭＳ Ｐゴシック"/>
              </a:rPr>
              <a:t>Model Overview</a:t>
            </a:r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DD11547-0851-BD9F-144A-37806AAE4F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8776" y="1444170"/>
            <a:ext cx="8785224" cy="3184979"/>
          </a:xfrm>
        </p:spPr>
        <p:txBody>
          <a:bodyPr numCol="3"/>
          <a:lstStyle/>
          <a:p>
            <a:pPr marL="0" indent="0">
              <a:buNone/>
            </a:pPr>
            <a:r>
              <a:rPr lang="en-GB" b="1">
                <a:latin typeface="TUM Neue Helvetica 55 Regular"/>
              </a:rPr>
              <a:t>Node-Level Module</a:t>
            </a:r>
            <a:endParaRPr lang="tr-TR" b="1">
              <a:latin typeface="TUM Neue Helvetica 55 Regular"/>
            </a:endParaRPr>
          </a:p>
          <a:p>
            <a:endParaRPr lang="tr-TR" b="1">
              <a:latin typeface="TUM Neue Helvetica 55 Regular"/>
            </a:endParaRPr>
          </a:p>
          <a:p>
            <a:endParaRPr lang="tr-TR" b="1"/>
          </a:p>
          <a:p>
            <a:endParaRPr lang="tr-TR" b="1"/>
          </a:p>
          <a:p>
            <a:endParaRPr lang="tr-TR" b="1"/>
          </a:p>
          <a:p>
            <a:endParaRPr lang="tr-TR" b="1"/>
          </a:p>
          <a:p>
            <a:endParaRPr lang="tr-TR" b="1"/>
          </a:p>
          <a:p>
            <a:endParaRPr lang="tr-TR" b="1"/>
          </a:p>
          <a:p>
            <a:endParaRPr lang="tr-TR" b="1"/>
          </a:p>
          <a:p>
            <a:pPr marL="0" indent="0">
              <a:buNone/>
            </a:pPr>
            <a:r>
              <a:rPr lang="tr-TR" b="1" err="1"/>
              <a:t>Population</a:t>
            </a:r>
            <a:r>
              <a:rPr lang="tr-TR" b="1"/>
              <a:t>-Level </a:t>
            </a:r>
            <a:r>
              <a:rPr lang="tr-TR" b="1" err="1"/>
              <a:t>Module</a:t>
            </a:r>
            <a:endParaRPr lang="tr-TR" b="1"/>
          </a:p>
          <a:p>
            <a:endParaRPr lang="tr-TR" b="1"/>
          </a:p>
          <a:p>
            <a:endParaRPr lang="tr-TR" b="1"/>
          </a:p>
          <a:p>
            <a:endParaRPr lang="tr-TR" b="1"/>
          </a:p>
          <a:p>
            <a:endParaRPr lang="tr-TR" b="1"/>
          </a:p>
          <a:p>
            <a:endParaRPr lang="tr-TR" b="1"/>
          </a:p>
          <a:p>
            <a:endParaRPr lang="tr-TR" b="1"/>
          </a:p>
          <a:p>
            <a:endParaRPr lang="tr-TR" b="1"/>
          </a:p>
          <a:p>
            <a:endParaRPr lang="tr-TR" b="1"/>
          </a:p>
          <a:p>
            <a:pPr marL="0" indent="0">
              <a:buNone/>
            </a:pPr>
            <a:r>
              <a:rPr lang="tr-TR" b="1" err="1"/>
              <a:t>Classifier</a:t>
            </a:r>
            <a:r>
              <a:rPr lang="tr-TR" b="1"/>
              <a:t> </a:t>
            </a:r>
            <a:r>
              <a:rPr lang="tr-TR" b="1" err="1"/>
              <a:t>Module</a:t>
            </a:r>
            <a:endParaRPr lang="en-US" b="1">
              <a:latin typeface="TUM Neue Helvetica 55 Regular"/>
            </a:endParaRP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D6F46F42-9485-0527-66C8-ECDC7E2695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347" y="2066538"/>
            <a:ext cx="8785224" cy="2108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2E48AA9-18F9-3482-D1F5-8746788F4E81}"/>
              </a:ext>
            </a:extLst>
          </p:cNvPr>
          <p:cNvSpPr txBox="1"/>
          <p:nvPr/>
        </p:nvSpPr>
        <p:spPr>
          <a:xfrm>
            <a:off x="167347" y="4043499"/>
            <a:ext cx="7186904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000" err="1">
                <a:solidFill>
                  <a:srgbClr val="333333"/>
                </a:solidFill>
                <a:ea typeface="+mn-lt"/>
                <a:cs typeface="+mn-lt"/>
              </a:rPr>
              <a:t>Mullakaeva</a:t>
            </a:r>
            <a:r>
              <a:rPr lang="en-US" sz="1000">
                <a:solidFill>
                  <a:srgbClr val="333333"/>
                </a:solidFill>
                <a:ea typeface="+mn-lt"/>
                <a:cs typeface="+mn-lt"/>
              </a:rPr>
              <a:t>, K., Navab, N., &amp; Bronstein, M.M (2023). Graph-in-Graph (</a:t>
            </a:r>
            <a:r>
              <a:rPr lang="en-US" sz="1000" err="1">
                <a:solidFill>
                  <a:srgbClr val="333333"/>
                </a:solidFill>
                <a:ea typeface="+mn-lt"/>
                <a:cs typeface="+mn-lt"/>
              </a:rPr>
              <a:t>GiG</a:t>
            </a:r>
            <a:r>
              <a:rPr lang="en-US" sz="1000">
                <a:solidFill>
                  <a:srgbClr val="333333"/>
                </a:solidFill>
                <a:ea typeface="+mn-lt"/>
                <a:cs typeface="+mn-lt"/>
              </a:rPr>
              <a:t>): Learning interpretable latent graphs in non-Euclidean domain for biological and healthcare applications</a:t>
            </a:r>
            <a:endParaRPr lang="en-US" sz="1000">
              <a:latin typeface="Calibri"/>
              <a:ea typeface="Calibri"/>
              <a:cs typeface="Calibri"/>
            </a:endParaRPr>
          </a:p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0271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6688F3-6B94-E004-5986-7A861EBC4A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z="2800" err="1">
                <a:ea typeface="ＭＳ Ｐゴシック"/>
              </a:rPr>
              <a:t>Shepherd</a:t>
            </a:r>
            <a:r>
              <a:rPr lang="tr-TR" sz="2800">
                <a:ea typeface="ＭＳ Ｐゴシック"/>
              </a:rPr>
              <a:t> </a:t>
            </a:r>
            <a:r>
              <a:rPr lang="tr-TR" sz="2800" err="1">
                <a:ea typeface="ＭＳ Ｐゴシック"/>
              </a:rPr>
              <a:t>Dataset</a:t>
            </a:r>
            <a:r>
              <a:rPr lang="tr-TR" sz="2800">
                <a:ea typeface="ＭＳ Ｐゴシック"/>
              </a:rPr>
              <a:t> </a:t>
            </a:r>
            <a:r>
              <a:rPr lang="tr-TR" sz="2800" err="1">
                <a:ea typeface="ＭＳ Ｐゴシック"/>
              </a:rPr>
              <a:t>Overview</a:t>
            </a:r>
            <a:endParaRPr lang="en-US" sz="2800">
              <a:ea typeface="ＭＳ Ｐゴシック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DEBEA9-FED5-38E8-8CAB-7093BC6FD4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8776" y="1287854"/>
            <a:ext cx="8411726" cy="3341296"/>
          </a:xfrm>
        </p:spPr>
        <p:txBody>
          <a:bodyPr/>
          <a:lstStyle/>
          <a:p>
            <a:pPr>
              <a:buFont typeface="Arial"/>
              <a:buChar char="•"/>
            </a:pPr>
            <a:r>
              <a:rPr lang="en-US" b="1">
                <a:latin typeface="Arial"/>
                <a:ea typeface="ＭＳ Ｐゴシック"/>
                <a:cs typeface="Arial"/>
              </a:rPr>
              <a:t>40,000+ Simulated Patient Profiles</a:t>
            </a:r>
            <a:endParaRPr lang="en-US">
              <a:latin typeface="TUM Neue Helvetica 55 Regular"/>
              <a:cs typeface="Arial"/>
            </a:endParaRPr>
          </a:p>
          <a:p>
            <a:pPr>
              <a:buFont typeface="Arial"/>
              <a:buChar char="•"/>
            </a:pPr>
            <a:r>
              <a:rPr lang="en-US" b="1">
                <a:latin typeface="Arial"/>
                <a:ea typeface="ＭＳ Ｐゴシック"/>
                <a:cs typeface="Arial"/>
              </a:rPr>
              <a:t>Each Patient Data Contains:</a:t>
            </a:r>
            <a:endParaRPr lang="en-US">
              <a:latin typeface="TUM Neue Helvetica 55 Regular"/>
              <a:cs typeface="Arial"/>
            </a:endParaRPr>
          </a:p>
          <a:p>
            <a:pPr marL="685800" lvl="1">
              <a:buFont typeface="Courier New"/>
              <a:buChar char="o"/>
            </a:pPr>
            <a:r>
              <a:rPr lang="en-US">
                <a:latin typeface="Arial"/>
                <a:ea typeface="ＭＳ Ｐゴシック"/>
                <a:cs typeface="Arial"/>
              </a:rPr>
              <a:t>One True Gene Id: </a:t>
            </a:r>
          </a:p>
          <a:p>
            <a:pPr marL="1085850" lvl="2">
              <a:buFont typeface="Courier New"/>
              <a:buChar char="o"/>
            </a:pPr>
            <a:r>
              <a:rPr lang="en-US">
                <a:latin typeface="Arial"/>
                <a:ea typeface="ＭＳ Ｐゴシック"/>
                <a:cs typeface="Arial"/>
              </a:rPr>
              <a:t>Ground truth label</a:t>
            </a:r>
          </a:p>
          <a:p>
            <a:pPr marL="685800" lvl="1">
              <a:buFont typeface="Courier New"/>
              <a:buChar char="o"/>
            </a:pPr>
            <a:r>
              <a:rPr lang="en-US">
                <a:latin typeface="Arial"/>
                <a:ea typeface="ＭＳ Ｐゴシック"/>
                <a:cs typeface="Arial"/>
              </a:rPr>
              <a:t>List of Positive Phenotypes Ids: </a:t>
            </a:r>
          </a:p>
          <a:p>
            <a:pPr marL="1085850" lvl="2">
              <a:buFont typeface="Courier New"/>
              <a:buChar char="o"/>
            </a:pPr>
            <a:r>
              <a:rPr lang="en-US">
                <a:latin typeface="Arial"/>
                <a:ea typeface="ＭＳ Ｐゴシック"/>
                <a:cs typeface="Arial"/>
              </a:rPr>
              <a:t>Representation of patient</a:t>
            </a:r>
          </a:p>
          <a:p>
            <a:pPr marL="685800" lvl="1">
              <a:buFont typeface="Courier New"/>
              <a:buChar char="o"/>
            </a:pPr>
            <a:r>
              <a:rPr lang="en-US">
                <a:latin typeface="Arial"/>
                <a:ea typeface="ＭＳ Ｐゴシック"/>
                <a:cs typeface="Arial"/>
              </a:rPr>
              <a:t>Additional Information</a:t>
            </a:r>
          </a:p>
          <a:p>
            <a:pPr marL="685800" lvl="1">
              <a:buFont typeface="Courier New"/>
              <a:buChar char="o"/>
            </a:pPr>
            <a:endParaRPr lang="en-US">
              <a:cs typeface="+mn-lt"/>
            </a:endParaRPr>
          </a:p>
          <a:p>
            <a:pPr>
              <a:buFont typeface="Arial"/>
              <a:buChar char="•"/>
            </a:pPr>
            <a:endParaRPr lang="en-US" b="1">
              <a:cs typeface="+mn-lt"/>
            </a:endParaRPr>
          </a:p>
          <a:p>
            <a:pPr marL="685800" lvl="1">
              <a:buFont typeface="Courier New"/>
              <a:buChar char="o"/>
            </a:pPr>
            <a:endParaRPr lang="en-US" b="1">
              <a:cs typeface="+mn-lt"/>
            </a:endParaRPr>
          </a:p>
          <a:p>
            <a:pPr marL="685800" lvl="1">
              <a:buFont typeface="Courier New"/>
              <a:buChar char="o"/>
            </a:pPr>
            <a:endParaRPr lang="en-US" b="1">
              <a:cs typeface="+mn-lt"/>
            </a:endParaRPr>
          </a:p>
          <a:p>
            <a:pPr marL="685800" lvl="1">
              <a:buFont typeface="Courier New"/>
              <a:buChar char="o"/>
            </a:pPr>
            <a:endParaRPr lang="en-US" sz="3200" b="1">
              <a:cs typeface="+mn-lt"/>
            </a:endParaRPr>
          </a:p>
          <a:p>
            <a:pPr marL="0" indent="0">
              <a:buNone/>
            </a:pPr>
            <a:endParaRPr lang="en-US">
              <a:cs typeface="+mn-lt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249347-96E7-DFC9-3280-C35A4E658F46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A7BDDEFD-4FCF-7348-AEF1-A537DD785750}" type="datetime4">
              <a:rPr lang="en-US" smtClean="0"/>
              <a:t>April 24,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2A223F-4A58-C5F5-C17E-4191747FE9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>
                <a:ea typeface="+mn-lt"/>
                <a:cs typeface="+mn-lt"/>
              </a:rPr>
              <a:t>MLMI </a:t>
            </a:r>
            <a:r>
              <a:rPr lang="en-US" err="1">
                <a:ea typeface="+mn-lt"/>
                <a:cs typeface="+mn-lt"/>
              </a:rPr>
              <a:t>Praktikum</a:t>
            </a:r>
            <a:r>
              <a:rPr lang="en-US">
                <a:ea typeface="+mn-lt"/>
                <a:cs typeface="+mn-lt"/>
              </a:rPr>
              <a:t> – Final Presentation</a:t>
            </a:r>
            <a:endParaRPr lang="en-US">
              <a:solidFill>
                <a:srgbClr val="000000"/>
              </a:solidFill>
              <a:ea typeface="+mn-lt"/>
              <a:cs typeface="+mn-lt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BEA88F-AE2D-3A65-57B2-11F3563C4A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</a:t>
            </a:r>
            <a:fld id="{E27654B9-2CBC-E046-9B7E-70345D26D3AC}" type="slidenum">
              <a:rPr lang="en-US" smtClean="0"/>
              <a:t>7</a:t>
            </a:fld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A0EDB85E-3587-D93A-0A10-DB7596F491E4}"/>
              </a:ext>
            </a:extLst>
          </p:cNvPr>
          <p:cNvSpPr txBox="1">
            <a:spLocks/>
          </p:cNvSpPr>
          <p:nvPr/>
        </p:nvSpPr>
        <p:spPr bwMode="auto">
          <a:xfrm>
            <a:off x="357847" y="625862"/>
            <a:ext cx="84042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33"/>
                </a:solidFill>
                <a:latin typeface="+mj-lt"/>
                <a:ea typeface="ＭＳ Ｐゴシック" charset="0"/>
                <a:cs typeface="ＭＳ Ｐゴシック" charset="0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33"/>
                </a:solidFill>
                <a:latin typeface="TUM Neue Helvetica 55 Regular" pitchFamily="34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33"/>
                </a:solidFill>
                <a:latin typeface="TUM Neue Helvetica 55 Regular" pitchFamily="34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33"/>
                </a:solidFill>
                <a:latin typeface="TUM Neue Helvetica 55 Regular" pitchFamily="34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33"/>
                </a:solidFill>
                <a:latin typeface="TUM Neue Helvetica 55 Regular" pitchFamily="34" charset="0"/>
                <a:ea typeface="ＭＳ Ｐゴシック" charset="0"/>
                <a:cs typeface="ＭＳ Ｐゴシック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33"/>
                </a:solidFill>
                <a:latin typeface="TUM Neue Helvetica 55 Regular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33"/>
                </a:solidFill>
                <a:latin typeface="TUM Neue Helvetica 55 Regular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33"/>
                </a:solidFill>
                <a:latin typeface="TUM Neue Helvetica 55 Regular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33"/>
                </a:solidFill>
                <a:latin typeface="TUM Neue Helvetica 55 Regular" pitchFamily="34" charset="0"/>
              </a:defRPr>
            </a:lvl9pPr>
          </a:lstStyle>
          <a:p>
            <a:pPr defTabSz="914400"/>
            <a:r>
              <a:rPr lang="tr-TR" err="1">
                <a:solidFill>
                  <a:schemeClr val="bg2"/>
                </a:solidFill>
                <a:ea typeface="ＭＳ Ｐゴシック"/>
              </a:rPr>
              <a:t>Key</a:t>
            </a:r>
            <a:r>
              <a:rPr lang="tr-TR">
                <a:solidFill>
                  <a:schemeClr val="bg2"/>
                </a:solidFill>
                <a:ea typeface="ＭＳ Ｐゴシック"/>
              </a:rPr>
              <a:t> </a:t>
            </a:r>
            <a:r>
              <a:rPr lang="tr-TR" err="1">
                <a:solidFill>
                  <a:schemeClr val="bg2"/>
                </a:solidFill>
                <a:ea typeface="ＭＳ Ｐゴシック"/>
              </a:rPr>
              <a:t>Characteristics</a:t>
            </a:r>
            <a:endParaRPr lang="en-US">
              <a:solidFill>
                <a:schemeClr val="bg2"/>
              </a:solidFill>
              <a:ea typeface="ＭＳ Ｐ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31317519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3A5AF4-4666-5F57-F4A8-C4A255EB94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1AB275-D348-89BC-62D1-D86739F83E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z="2800" err="1">
                <a:ea typeface="ＭＳ Ｐゴシック"/>
              </a:rPr>
              <a:t>Methodology</a:t>
            </a:r>
            <a:endParaRPr lang="en-US" sz="2800" err="1">
              <a:ea typeface="ＭＳ Ｐゴシック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D4DD06-4D9D-A3B7-A7A7-14845C7989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8776" y="1084728"/>
            <a:ext cx="8410019" cy="3544422"/>
          </a:xfrm>
        </p:spPr>
        <p:txBody>
          <a:bodyPr/>
          <a:lstStyle/>
          <a:p>
            <a:pPr marL="0" indent="0">
              <a:buNone/>
            </a:pPr>
            <a:r>
              <a:rPr lang="en-US" b="1">
                <a:latin typeface="Arial"/>
                <a:ea typeface="ＭＳ Ｐゴシック"/>
                <a:cs typeface="Arial"/>
              </a:rPr>
              <a:t>Patient Graph Construction:</a:t>
            </a:r>
            <a:endParaRPr lang="en-US">
              <a:latin typeface="Arial"/>
              <a:ea typeface="ＭＳ Ｐゴシック"/>
              <a:cs typeface="Arial"/>
            </a:endParaRPr>
          </a:p>
          <a:p>
            <a:pPr>
              <a:buFont typeface="Arial"/>
              <a:buChar char="•"/>
            </a:pPr>
            <a:r>
              <a:rPr lang="en-US">
                <a:latin typeface="Arial"/>
                <a:ea typeface="ＭＳ Ｐゴシック"/>
                <a:cs typeface="Arial"/>
              </a:rPr>
              <a:t>Patient dataset contains:</a:t>
            </a:r>
          </a:p>
          <a:p>
            <a:pPr lvl="1">
              <a:buFont typeface="Courier New"/>
              <a:buChar char="o"/>
            </a:pPr>
            <a:r>
              <a:rPr lang="en-US">
                <a:latin typeface="Arial"/>
                <a:ea typeface="ＭＳ Ｐゴシック"/>
                <a:cs typeface="Arial"/>
              </a:rPr>
              <a:t>True-gene id</a:t>
            </a:r>
          </a:p>
          <a:p>
            <a:pPr lvl="1">
              <a:buFont typeface="Courier New"/>
              <a:buChar char="o"/>
            </a:pPr>
            <a:r>
              <a:rPr lang="en-US">
                <a:latin typeface="Arial"/>
                <a:ea typeface="ＭＳ Ｐゴシック"/>
                <a:cs typeface="Arial"/>
              </a:rPr>
              <a:t>Positive phenotypes</a:t>
            </a:r>
          </a:p>
          <a:p>
            <a:pPr indent="-285750">
              <a:buFont typeface="Arial"/>
              <a:buChar char="•"/>
            </a:pPr>
            <a:r>
              <a:rPr lang="en-US">
                <a:latin typeface="Arial"/>
                <a:ea typeface="ＭＳ Ｐゴシック"/>
                <a:cs typeface="Arial"/>
              </a:rPr>
              <a:t>Knowledge graph for connection information</a:t>
            </a:r>
            <a:endParaRPr lang="en-US" sz="600">
              <a:latin typeface="Arial"/>
              <a:ea typeface="ＭＳ Ｐゴシック"/>
              <a:cs typeface="Arial"/>
            </a:endParaRPr>
          </a:p>
          <a:p>
            <a:pPr>
              <a:buFont typeface="Arial"/>
              <a:buChar char="•"/>
            </a:pPr>
            <a:r>
              <a:rPr lang="en-US">
                <a:latin typeface="Arial"/>
                <a:ea typeface="ＭＳ Ｐゴシック"/>
                <a:cs typeface="Arial"/>
              </a:rPr>
              <a:t>Transform patient data into patient-specific graphs</a:t>
            </a:r>
          </a:p>
          <a:p>
            <a:pPr lvl="1">
              <a:buFont typeface="Courier New"/>
              <a:buChar char="o"/>
            </a:pPr>
            <a:endParaRPr lang="en-US" sz="3200" b="1">
              <a:latin typeface="Arial"/>
              <a:cs typeface="Arial"/>
            </a:endParaRPr>
          </a:p>
          <a:p>
            <a:pPr marL="0" indent="0">
              <a:buNone/>
            </a:pPr>
            <a:endParaRPr lang="en-US">
              <a:latin typeface="TUM Neue Helvetica 55 Regular"/>
              <a:cs typeface="Arial"/>
            </a:endParaRPr>
          </a:p>
          <a:p>
            <a:pPr>
              <a:buFont typeface="Arial"/>
              <a:buChar char="•"/>
            </a:pPr>
            <a:endParaRPr lang="en-US" b="1">
              <a:latin typeface="Arial"/>
              <a:cs typeface="Arial"/>
            </a:endParaRPr>
          </a:p>
          <a:p>
            <a:pPr lvl="1">
              <a:buFont typeface="Courier New"/>
              <a:buChar char="o"/>
            </a:pPr>
            <a:endParaRPr lang="en-US" sz="3200">
              <a:latin typeface="TUM Neue Helvetica 55 Regular"/>
              <a:cs typeface="Arial"/>
            </a:endParaRPr>
          </a:p>
          <a:p>
            <a:pPr>
              <a:buFont typeface="Arial"/>
              <a:buChar char="•"/>
            </a:pPr>
            <a:endParaRPr lang="en-US" b="1">
              <a:latin typeface="Arial"/>
              <a:cs typeface="Arial"/>
            </a:endParaRPr>
          </a:p>
          <a:p>
            <a:pPr>
              <a:buFont typeface="Arial"/>
              <a:buChar char="•"/>
            </a:pPr>
            <a:endParaRPr lang="en-US" b="1">
              <a:latin typeface="Arial"/>
              <a:cs typeface="Arial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9CAAD7-C375-2BC5-1072-470CE0E45486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A7BDDEFD-4FCF-7348-AEF1-A537DD785750}" type="datetime4">
              <a:rPr lang="en-US" smtClean="0"/>
              <a:t>April 24,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648800-E6E1-18EC-6C27-E1C1110646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>
                <a:ea typeface="+mn-lt"/>
                <a:cs typeface="+mn-lt"/>
              </a:rPr>
              <a:t>MLMI </a:t>
            </a:r>
            <a:r>
              <a:rPr lang="en-US" err="1">
                <a:ea typeface="+mn-lt"/>
                <a:cs typeface="+mn-lt"/>
              </a:rPr>
              <a:t>Praktikum</a:t>
            </a:r>
            <a:r>
              <a:rPr lang="en-US">
                <a:ea typeface="+mn-lt"/>
                <a:cs typeface="+mn-lt"/>
              </a:rPr>
              <a:t> – Final Presentation</a:t>
            </a:r>
            <a:endParaRPr lang="en-US">
              <a:solidFill>
                <a:srgbClr val="000000"/>
              </a:solidFill>
              <a:ea typeface="+mn-lt"/>
              <a:cs typeface="+mn-lt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395FD7-E38F-B955-763C-EAD1FC2AFF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</a:t>
            </a:r>
            <a:fld id="{E27654B9-2CBC-E046-9B7E-70345D26D3AC}" type="slidenum">
              <a:rPr lang="en-US" smtClean="0"/>
              <a:t>8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C742D7D6-2226-3584-7F4D-AA7ECE904803}"/>
              </a:ext>
            </a:extLst>
          </p:cNvPr>
          <p:cNvSpPr txBox="1">
            <a:spLocks/>
          </p:cNvSpPr>
          <p:nvPr/>
        </p:nvSpPr>
        <p:spPr bwMode="auto">
          <a:xfrm>
            <a:off x="357847" y="625862"/>
            <a:ext cx="84042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33"/>
                </a:solidFill>
                <a:latin typeface="+mj-lt"/>
                <a:ea typeface="ＭＳ Ｐゴシック" charset="0"/>
                <a:cs typeface="ＭＳ Ｐゴシック" charset="0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33"/>
                </a:solidFill>
                <a:latin typeface="TUM Neue Helvetica 55 Regular" pitchFamily="34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33"/>
                </a:solidFill>
                <a:latin typeface="TUM Neue Helvetica 55 Regular" pitchFamily="34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33"/>
                </a:solidFill>
                <a:latin typeface="TUM Neue Helvetica 55 Regular" pitchFamily="34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33"/>
                </a:solidFill>
                <a:latin typeface="TUM Neue Helvetica 55 Regular" pitchFamily="34" charset="0"/>
                <a:ea typeface="ＭＳ Ｐゴシック" charset="0"/>
                <a:cs typeface="ＭＳ Ｐゴシック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33"/>
                </a:solidFill>
                <a:latin typeface="TUM Neue Helvetica 55 Regular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33"/>
                </a:solidFill>
                <a:latin typeface="TUM Neue Helvetica 55 Regular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33"/>
                </a:solidFill>
                <a:latin typeface="TUM Neue Helvetica 55 Regular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33"/>
                </a:solidFill>
                <a:latin typeface="TUM Neue Helvetica 55 Regular" pitchFamily="34" charset="0"/>
              </a:defRPr>
            </a:lvl9pPr>
          </a:lstStyle>
          <a:p>
            <a:pPr defTabSz="914400"/>
            <a:r>
              <a:rPr lang="tr-TR">
                <a:solidFill>
                  <a:schemeClr val="bg2"/>
                </a:solidFill>
                <a:ea typeface="ＭＳ Ｐゴシック"/>
              </a:rPr>
              <a:t>Data </a:t>
            </a:r>
            <a:r>
              <a:rPr lang="tr-TR" err="1">
                <a:solidFill>
                  <a:schemeClr val="bg2"/>
                </a:solidFill>
                <a:ea typeface="ＭＳ Ｐゴシック"/>
              </a:rPr>
              <a:t>Preprocessing</a:t>
            </a:r>
            <a:endParaRPr lang="en-US">
              <a:solidFill>
                <a:schemeClr val="bg2"/>
              </a:solidFill>
              <a:ea typeface="ＭＳ Ｐゴシック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B130B78-C201-8CFB-3FEB-9587CF8DC5E0}"/>
              </a:ext>
            </a:extLst>
          </p:cNvPr>
          <p:cNvSpPr/>
          <p:nvPr/>
        </p:nvSpPr>
        <p:spPr>
          <a:xfrm>
            <a:off x="848590" y="3333748"/>
            <a:ext cx="1466502" cy="888424"/>
          </a:xfrm>
          <a:prstGeom prst="rect">
            <a:avLst/>
          </a:prstGeom>
          <a:solidFill>
            <a:srgbClr val="E5F2FD"/>
          </a:solidFill>
          <a:ln>
            <a:solidFill>
              <a:srgbClr val="1B37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solidFill>
                  <a:srgbClr val="1B3774"/>
                </a:solidFill>
              </a:rPr>
              <a:t>Knowledge Graph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7383D9C-DB71-C1EB-AD4C-D430637EA1FE}"/>
              </a:ext>
            </a:extLst>
          </p:cNvPr>
          <p:cNvSpPr/>
          <p:nvPr/>
        </p:nvSpPr>
        <p:spPr>
          <a:xfrm>
            <a:off x="3896590" y="3307772"/>
            <a:ext cx="1463040" cy="914400"/>
          </a:xfrm>
          <a:prstGeom prst="rect">
            <a:avLst/>
          </a:prstGeom>
          <a:solidFill>
            <a:srgbClr val="E5F2FD"/>
          </a:solidFill>
          <a:ln>
            <a:solidFill>
              <a:srgbClr val="1B37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solidFill>
                  <a:srgbClr val="1B3774"/>
                </a:solidFill>
              </a:rPr>
              <a:t>Patient Dataset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77839D5-102F-131C-67C3-BFA7DA87F082}"/>
              </a:ext>
            </a:extLst>
          </p:cNvPr>
          <p:cNvSpPr/>
          <p:nvPr/>
        </p:nvSpPr>
        <p:spPr>
          <a:xfrm>
            <a:off x="7031181" y="3333749"/>
            <a:ext cx="1463040" cy="914400"/>
          </a:xfrm>
          <a:prstGeom prst="rect">
            <a:avLst/>
          </a:prstGeom>
          <a:solidFill>
            <a:srgbClr val="E5F2FD"/>
          </a:solidFill>
          <a:ln>
            <a:solidFill>
              <a:srgbClr val="1B37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>
                <a:solidFill>
                  <a:srgbClr val="1B3774"/>
                </a:solidFill>
              </a:rPr>
              <a:t>Patient Specific Graph</a:t>
            </a:r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D31DEA60-1DB1-E4A5-9880-32CE5AD26B48}"/>
              </a:ext>
            </a:extLst>
          </p:cNvPr>
          <p:cNvSpPr/>
          <p:nvPr/>
        </p:nvSpPr>
        <p:spPr>
          <a:xfrm>
            <a:off x="5550477" y="3567544"/>
            <a:ext cx="1307522" cy="363682"/>
          </a:xfrm>
          <a:prstGeom prst="rightArrow">
            <a:avLst/>
          </a:prstGeom>
          <a:solidFill>
            <a:srgbClr val="E5F2FD"/>
          </a:solidFill>
          <a:ln>
            <a:solidFill>
              <a:srgbClr val="1B37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B03FC3B2-8226-3AE3-D1F0-E604A44993E9}"/>
              </a:ext>
            </a:extLst>
          </p:cNvPr>
          <p:cNvSpPr/>
          <p:nvPr/>
        </p:nvSpPr>
        <p:spPr>
          <a:xfrm>
            <a:off x="2450522" y="3567543"/>
            <a:ext cx="1307522" cy="363682"/>
          </a:xfrm>
          <a:prstGeom prst="rightArrow">
            <a:avLst/>
          </a:prstGeom>
          <a:solidFill>
            <a:srgbClr val="E5F2FD"/>
          </a:solidFill>
          <a:ln>
            <a:solidFill>
              <a:srgbClr val="1B377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F265378-A795-AE14-7707-16E105D0DF77}"/>
              </a:ext>
            </a:extLst>
          </p:cNvPr>
          <p:cNvSpPr txBox="1"/>
          <p:nvPr/>
        </p:nvSpPr>
        <p:spPr>
          <a:xfrm>
            <a:off x="2450522" y="3931227"/>
            <a:ext cx="130579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>
                <a:solidFill>
                  <a:srgbClr val="333333"/>
                </a:solidFill>
                <a:latin typeface="Arial"/>
                <a:ea typeface="ＭＳ Ｐゴシック"/>
                <a:cs typeface="Arial"/>
              </a:rPr>
              <a:t>Mapping Dictionary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8CD62B2-BBF4-60BA-5103-7093B3CD1469}"/>
              </a:ext>
            </a:extLst>
          </p:cNvPr>
          <p:cNvSpPr txBox="1"/>
          <p:nvPr/>
        </p:nvSpPr>
        <p:spPr>
          <a:xfrm>
            <a:off x="5465993" y="3926256"/>
            <a:ext cx="1478971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>
                <a:solidFill>
                  <a:srgbClr val="333333"/>
                </a:solidFill>
                <a:latin typeface="Arial"/>
                <a:ea typeface="ＭＳ Ｐゴシック"/>
                <a:cs typeface="Arial"/>
              </a:rPr>
              <a:t>Edges Information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26804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C5E149-AB47-505E-25D3-D9BD63620A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561FDF-BE42-8129-B048-1A52023CEE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z="2800" err="1">
                <a:ea typeface="ＭＳ Ｐゴシック"/>
              </a:rPr>
              <a:t>Methodology</a:t>
            </a:r>
            <a:endParaRPr lang="en-US" sz="2800" err="1">
              <a:ea typeface="ＭＳ Ｐゴシック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18DB-B4E2-970D-1871-5A2D52E5381C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A7BDDEFD-4FCF-7348-AEF1-A537DD785750}" type="datetime4">
              <a:rPr lang="en-US" smtClean="0"/>
              <a:t>April 24,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FA6CB1-C653-4EF4-DFE3-9CFA19C660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>
                <a:ea typeface="+mn-lt"/>
                <a:cs typeface="+mn-lt"/>
              </a:rPr>
              <a:t>MLMI </a:t>
            </a:r>
            <a:r>
              <a:rPr lang="en-US" err="1">
                <a:ea typeface="+mn-lt"/>
                <a:cs typeface="+mn-lt"/>
              </a:rPr>
              <a:t>Praktikum</a:t>
            </a:r>
            <a:r>
              <a:rPr lang="en-US">
                <a:ea typeface="+mn-lt"/>
                <a:cs typeface="+mn-lt"/>
              </a:rPr>
              <a:t> – Final Presentation</a:t>
            </a:r>
            <a:endParaRPr lang="en-US">
              <a:solidFill>
                <a:srgbClr val="000000"/>
              </a:solidFill>
              <a:ea typeface="+mn-lt"/>
              <a:cs typeface="+mn-lt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B256D-05D2-6EFE-AC03-4BA298243F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</a:t>
            </a:r>
            <a:fld id="{E27654B9-2CBC-E046-9B7E-70345D26D3AC}" type="slidenum">
              <a:rPr lang="en-US" smtClean="0"/>
              <a:t>9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BD7D409B-C7B0-CAA5-F94E-1472381BD70B}"/>
              </a:ext>
            </a:extLst>
          </p:cNvPr>
          <p:cNvSpPr txBox="1">
            <a:spLocks/>
          </p:cNvSpPr>
          <p:nvPr/>
        </p:nvSpPr>
        <p:spPr bwMode="auto">
          <a:xfrm>
            <a:off x="357847" y="625862"/>
            <a:ext cx="84042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33"/>
                </a:solidFill>
                <a:latin typeface="+mj-lt"/>
                <a:ea typeface="ＭＳ Ｐゴシック" charset="0"/>
                <a:cs typeface="ＭＳ Ｐゴシック" charset="0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33"/>
                </a:solidFill>
                <a:latin typeface="TUM Neue Helvetica 55 Regular" pitchFamily="34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33"/>
                </a:solidFill>
                <a:latin typeface="TUM Neue Helvetica 55 Regular" pitchFamily="34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33"/>
                </a:solidFill>
                <a:latin typeface="TUM Neue Helvetica 55 Regular" pitchFamily="34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33"/>
                </a:solidFill>
                <a:latin typeface="TUM Neue Helvetica 55 Regular" pitchFamily="34" charset="0"/>
                <a:ea typeface="ＭＳ Ｐゴシック" charset="0"/>
                <a:cs typeface="ＭＳ Ｐゴシック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33"/>
                </a:solidFill>
                <a:latin typeface="TUM Neue Helvetica 55 Regular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33"/>
                </a:solidFill>
                <a:latin typeface="TUM Neue Helvetica 55 Regular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33"/>
                </a:solidFill>
                <a:latin typeface="TUM Neue Helvetica 55 Regular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33"/>
                </a:solidFill>
                <a:latin typeface="TUM Neue Helvetica 55 Regular" pitchFamily="34" charset="0"/>
              </a:defRPr>
            </a:lvl9pPr>
          </a:lstStyle>
          <a:p>
            <a:pPr defTabSz="914400"/>
            <a:r>
              <a:rPr lang="tr-TR" err="1">
                <a:solidFill>
                  <a:schemeClr val="bg2"/>
                </a:solidFill>
                <a:ea typeface="ＭＳ Ｐゴシック"/>
              </a:rPr>
              <a:t>Patient</a:t>
            </a:r>
            <a:r>
              <a:rPr lang="tr-TR">
                <a:solidFill>
                  <a:schemeClr val="bg2"/>
                </a:solidFill>
                <a:ea typeface="ＭＳ Ｐゴシック"/>
              </a:rPr>
              <a:t> </a:t>
            </a:r>
            <a:r>
              <a:rPr lang="tr-TR" err="1">
                <a:solidFill>
                  <a:schemeClr val="bg2"/>
                </a:solidFill>
                <a:ea typeface="ＭＳ Ｐゴシック"/>
              </a:rPr>
              <a:t>Graph</a:t>
            </a:r>
            <a:r>
              <a:rPr lang="tr-TR">
                <a:solidFill>
                  <a:schemeClr val="bg2"/>
                </a:solidFill>
                <a:ea typeface="ＭＳ Ｐゴシック"/>
              </a:rPr>
              <a:t> </a:t>
            </a:r>
            <a:r>
              <a:rPr lang="tr-TR" err="1">
                <a:solidFill>
                  <a:schemeClr val="bg2"/>
                </a:solidFill>
                <a:ea typeface="ＭＳ Ｐゴシック"/>
              </a:rPr>
              <a:t>Overview</a:t>
            </a:r>
            <a:endParaRPr lang="en-US" err="1">
              <a:solidFill>
                <a:schemeClr val="bg2"/>
              </a:solidFill>
              <a:ea typeface="ＭＳ Ｐゴシック"/>
            </a:endParaRPr>
          </a:p>
        </p:txBody>
      </p:sp>
      <p:pic>
        <p:nvPicPr>
          <p:cNvPr id="20" name="Picture 19" descr="A network of dots and lines&#10;&#10;AI-generated content may be incorrect.">
            <a:extLst>
              <a:ext uri="{FF2B5EF4-FFF2-40B4-BE49-F238E27FC236}">
                <a16:creationId xmlns:a16="http://schemas.microsoft.com/office/drawing/2014/main" id="{7B05D94F-1109-1B8E-6E6F-C8C2AEC3C16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993" r="1546"/>
          <a:stretch/>
        </p:blipFill>
        <p:spPr>
          <a:xfrm>
            <a:off x="2052205" y="1285875"/>
            <a:ext cx="4968600" cy="334390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21" name="Picture 20" descr="A list of different types of diseases&#10;&#10;AI-generated content may be incorrect.">
            <a:extLst>
              <a:ext uri="{FF2B5EF4-FFF2-40B4-BE49-F238E27FC236}">
                <a16:creationId xmlns:a16="http://schemas.microsoft.com/office/drawing/2014/main" id="{C55FAF2B-9DA8-F9B3-0880-50CFE05C88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91228" y="1144607"/>
            <a:ext cx="1767776" cy="1580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02694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FB8561-362B-53DC-0D4D-1C48CCA27E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2E5C8-7253-BA4D-3CDD-F81E08C09E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z="2800" err="1">
                <a:ea typeface="ＭＳ Ｐゴシック"/>
              </a:rPr>
              <a:t>Methodology</a:t>
            </a:r>
            <a:endParaRPr lang="en-US" sz="2800" err="1">
              <a:ea typeface="ＭＳ Ｐゴシック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051CBF-562F-1968-AC0A-07868AC32C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8776" y="1084728"/>
            <a:ext cx="8410019" cy="3544422"/>
          </a:xfrm>
        </p:spPr>
        <p:txBody>
          <a:bodyPr/>
          <a:lstStyle/>
          <a:p>
            <a:pPr>
              <a:buFont typeface="Arial"/>
              <a:buChar char="•"/>
            </a:pPr>
            <a:r>
              <a:rPr lang="en-US" b="1">
                <a:ea typeface="ＭＳ Ｐゴシック"/>
                <a:cs typeface="Arial"/>
              </a:rPr>
              <a:t>True Gene ID to Classes Mapping:</a:t>
            </a:r>
          </a:p>
          <a:p>
            <a:pPr lvl="1" indent="-342900">
              <a:buFont typeface="Courier New"/>
              <a:buChar char="o"/>
            </a:pPr>
            <a:r>
              <a:rPr lang="en-US">
                <a:ea typeface="ＭＳ Ｐゴシック"/>
                <a:cs typeface="Arial"/>
              </a:rPr>
              <a:t>Convert true gene Ids to sequential class labels</a:t>
            </a:r>
          </a:p>
          <a:p>
            <a:pPr marL="457200" lvl="1" indent="0">
              <a:buNone/>
            </a:pPr>
            <a:endParaRPr lang="en-US">
              <a:ea typeface="ＭＳ Ｐゴシック"/>
              <a:cs typeface="Arial"/>
            </a:endParaRPr>
          </a:p>
          <a:p>
            <a:pPr>
              <a:buFont typeface="Arial"/>
              <a:buChar char="•"/>
            </a:pPr>
            <a:r>
              <a:rPr lang="en-US" b="1">
                <a:ea typeface="ＭＳ Ｐゴシック"/>
                <a:cs typeface="Arial"/>
              </a:rPr>
              <a:t>Data Extraction for Downstream Tasks:</a:t>
            </a:r>
          </a:p>
          <a:p>
            <a:pPr lvl="1" indent="-342900">
              <a:buFont typeface="Courier New"/>
              <a:buChar char="o"/>
            </a:pPr>
            <a:r>
              <a:rPr lang="en-US">
                <a:ea typeface="ＭＳ Ｐゴシック"/>
                <a:cs typeface="Arial"/>
              </a:rPr>
              <a:t>Critical Information:</a:t>
            </a:r>
          </a:p>
          <a:p>
            <a:pPr lvl="2" indent="-342900">
              <a:buFont typeface="Wingdings"/>
              <a:buChar char="§"/>
            </a:pPr>
            <a:r>
              <a:rPr lang="en-US">
                <a:ea typeface="ＭＳ Ｐゴシック"/>
                <a:cs typeface="Arial"/>
              </a:rPr>
              <a:t>True-gene id: ground truth label</a:t>
            </a:r>
          </a:p>
          <a:p>
            <a:pPr lvl="2" indent="-342900">
              <a:buFont typeface="Wingdings"/>
              <a:buChar char="§"/>
            </a:pPr>
            <a:r>
              <a:rPr lang="en-US">
                <a:ea typeface="ＭＳ Ｐゴシック"/>
                <a:cs typeface="Arial"/>
              </a:rPr>
              <a:t>Positive phenotypes ids: representation of patient </a:t>
            </a:r>
          </a:p>
          <a:p>
            <a:pPr lvl="2" indent="-342900">
              <a:buFont typeface="Wingdings"/>
              <a:buChar char="§"/>
            </a:pPr>
            <a:r>
              <a:rPr lang="en-US">
                <a:ea typeface="ＭＳ Ｐゴシック"/>
                <a:cs typeface="Arial"/>
              </a:rPr>
              <a:t>Edge index: connections between phenotypes</a:t>
            </a:r>
          </a:p>
          <a:p>
            <a:pPr lvl="2">
              <a:buFont typeface="Wingdings"/>
              <a:buChar char="§"/>
            </a:pPr>
            <a:endParaRPr lang="en-US">
              <a:ea typeface="ＭＳ Ｐゴシック"/>
              <a:cs typeface="Arial"/>
            </a:endParaRPr>
          </a:p>
          <a:p>
            <a:pPr>
              <a:buFont typeface="Arial,Sans-Serif"/>
              <a:buChar char="•"/>
            </a:pPr>
            <a:r>
              <a:rPr lang="en-US" b="1">
                <a:ea typeface="ＭＳ Ｐゴシック"/>
                <a:cs typeface="Arial"/>
              </a:rPr>
              <a:t>Convert Phenotype id into Vector Representation</a:t>
            </a:r>
            <a:endParaRPr lang="en-US">
              <a:solidFill>
                <a:srgbClr val="000000"/>
              </a:solidFill>
              <a:ea typeface="ＭＳ Ｐゴシック"/>
              <a:cs typeface="Arial"/>
            </a:endParaRPr>
          </a:p>
          <a:p>
            <a:pPr lvl="1">
              <a:buFont typeface="Courier New"/>
              <a:buChar char="o"/>
            </a:pPr>
            <a:r>
              <a:rPr lang="en-US">
                <a:ea typeface="ＭＳ Ｐゴシック"/>
                <a:cs typeface="Arial"/>
              </a:rPr>
              <a:t>Each phenotype id is mapped to a unique vector representation</a:t>
            </a:r>
            <a:endParaRPr lang="en-US">
              <a:solidFill>
                <a:srgbClr val="000000"/>
              </a:solidFill>
              <a:ea typeface="ＭＳ Ｐゴシック"/>
              <a:cs typeface="Arial"/>
            </a:endParaRPr>
          </a:p>
          <a:p>
            <a:pPr lvl="1">
              <a:buFont typeface="Courier New"/>
              <a:buChar char="o"/>
            </a:pPr>
            <a:endParaRPr lang="en-US">
              <a:latin typeface="TUM Neue Helvetica 55 Regular"/>
              <a:cs typeface="Arial"/>
            </a:endParaRPr>
          </a:p>
          <a:p>
            <a:pPr>
              <a:buFont typeface="Arial"/>
              <a:buChar char="•"/>
            </a:pPr>
            <a:endParaRPr lang="en-US" b="1">
              <a:latin typeface="Arial"/>
              <a:cs typeface="Arial"/>
            </a:endParaRPr>
          </a:p>
          <a:p>
            <a:pPr lvl="1">
              <a:buFont typeface="Courier New"/>
              <a:buChar char="o"/>
            </a:pPr>
            <a:endParaRPr lang="en-US" sz="3200">
              <a:latin typeface="TUM Neue Helvetica 55 Regular"/>
              <a:cs typeface="Arial"/>
            </a:endParaRPr>
          </a:p>
          <a:p>
            <a:pPr>
              <a:buFont typeface="Arial"/>
              <a:buChar char="•"/>
            </a:pPr>
            <a:endParaRPr lang="en-US" b="1">
              <a:latin typeface="Arial"/>
              <a:cs typeface="Arial"/>
            </a:endParaRPr>
          </a:p>
          <a:p>
            <a:pPr>
              <a:buFont typeface="Arial"/>
              <a:buChar char="•"/>
            </a:pPr>
            <a:endParaRPr lang="en-US" b="1">
              <a:latin typeface="Arial"/>
              <a:cs typeface="Arial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E00942-0429-0D4E-DC51-52DA7764BE8F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A7BDDEFD-4FCF-7348-AEF1-A537DD785750}" type="datetime4">
              <a:rPr lang="en-US" smtClean="0"/>
              <a:t>April 24,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D7EFF3-A4D6-D83B-5987-A36A6E2FFF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>
                <a:ea typeface="+mn-lt"/>
                <a:cs typeface="+mn-lt"/>
              </a:rPr>
              <a:t>MLMI </a:t>
            </a:r>
            <a:r>
              <a:rPr lang="en-US" err="1">
                <a:ea typeface="+mn-lt"/>
                <a:cs typeface="+mn-lt"/>
              </a:rPr>
              <a:t>Praktikum</a:t>
            </a:r>
            <a:r>
              <a:rPr lang="en-US">
                <a:ea typeface="+mn-lt"/>
                <a:cs typeface="+mn-lt"/>
              </a:rPr>
              <a:t> – Final Presentation</a:t>
            </a:r>
            <a:endParaRPr lang="en-US">
              <a:solidFill>
                <a:srgbClr val="000000"/>
              </a:solidFill>
              <a:ea typeface="+mn-lt"/>
              <a:cs typeface="+mn-lt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2B9BF7-F7E8-740F-356C-D288BC9BCA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</a:t>
            </a:r>
            <a:fld id="{E27654B9-2CBC-E046-9B7E-70345D26D3AC}" type="slidenum">
              <a:rPr lang="en-US" smtClean="0"/>
              <a:t>10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F86109C-57C4-AEC8-93AD-D2552073D32F}"/>
              </a:ext>
            </a:extLst>
          </p:cNvPr>
          <p:cNvSpPr txBox="1">
            <a:spLocks/>
          </p:cNvSpPr>
          <p:nvPr/>
        </p:nvSpPr>
        <p:spPr bwMode="auto">
          <a:xfrm>
            <a:off x="357847" y="625862"/>
            <a:ext cx="84042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33"/>
                </a:solidFill>
                <a:latin typeface="+mj-lt"/>
                <a:ea typeface="ＭＳ Ｐゴシック" charset="0"/>
                <a:cs typeface="ＭＳ Ｐゴシック" charset="0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33"/>
                </a:solidFill>
                <a:latin typeface="TUM Neue Helvetica 55 Regular" pitchFamily="34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33"/>
                </a:solidFill>
                <a:latin typeface="TUM Neue Helvetica 55 Regular" pitchFamily="34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33"/>
                </a:solidFill>
                <a:latin typeface="TUM Neue Helvetica 55 Regular" pitchFamily="34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33"/>
                </a:solidFill>
                <a:latin typeface="TUM Neue Helvetica 55 Regular" pitchFamily="34" charset="0"/>
                <a:ea typeface="ＭＳ Ｐゴシック" charset="0"/>
                <a:cs typeface="ＭＳ Ｐゴシック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33"/>
                </a:solidFill>
                <a:latin typeface="TUM Neue Helvetica 55 Regular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33"/>
                </a:solidFill>
                <a:latin typeface="TUM Neue Helvetica 55 Regular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33"/>
                </a:solidFill>
                <a:latin typeface="TUM Neue Helvetica 55 Regular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33"/>
                </a:solidFill>
                <a:latin typeface="TUM Neue Helvetica 55 Regular" pitchFamily="34" charset="0"/>
              </a:defRPr>
            </a:lvl9pPr>
          </a:lstStyle>
          <a:p>
            <a:pPr defTabSz="914400"/>
            <a:r>
              <a:rPr lang="tr-TR">
                <a:solidFill>
                  <a:schemeClr val="bg2"/>
                </a:solidFill>
                <a:ea typeface="ＭＳ Ｐゴシック"/>
              </a:rPr>
              <a:t>Data </a:t>
            </a:r>
            <a:r>
              <a:rPr lang="tr-TR" err="1">
                <a:solidFill>
                  <a:schemeClr val="bg2"/>
                </a:solidFill>
                <a:ea typeface="ＭＳ Ｐゴシック"/>
              </a:rPr>
              <a:t>Preprocessing</a:t>
            </a:r>
            <a:endParaRPr lang="en-US">
              <a:solidFill>
                <a:schemeClr val="bg2"/>
              </a:solidFill>
              <a:ea typeface="ＭＳ Ｐゴシック"/>
            </a:endParaRPr>
          </a:p>
        </p:txBody>
      </p:sp>
    </p:spTree>
    <p:extLst>
      <p:ext uri="{BB962C8B-B14F-4D97-AF65-F5344CB8AC3E}">
        <p14:creationId xmlns:p14="http://schemas.microsoft.com/office/powerpoint/2010/main" val="41978291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6B8150-FC75-6511-53AB-E94CE7A6C8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7F2343-39F7-0964-FF60-027DF7793E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z="2800" err="1">
                <a:ea typeface="ＭＳ Ｐゴシック"/>
              </a:rPr>
              <a:t>Methodology</a:t>
            </a:r>
            <a:endParaRPr lang="en-US" sz="2800" err="1">
              <a:ea typeface="ＭＳ Ｐゴシック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3573C5-93F2-A6FA-E360-DEB8FAFFBC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8776" y="1084728"/>
            <a:ext cx="8410019" cy="3544422"/>
          </a:xfrm>
        </p:spPr>
        <p:txBody>
          <a:bodyPr/>
          <a:lstStyle/>
          <a:p>
            <a:pPr>
              <a:buAutoNum type="arabicPeriod"/>
            </a:pPr>
            <a:endParaRPr lang="en-US" b="1">
              <a:latin typeface="Arial"/>
              <a:cs typeface="Arial"/>
            </a:endParaRPr>
          </a:p>
          <a:p>
            <a:pPr lvl="1">
              <a:buFont typeface="Courier New"/>
              <a:buChar char="o"/>
            </a:pPr>
            <a:endParaRPr lang="en-US" sz="3200">
              <a:latin typeface="TUM Neue Helvetica 55 Regular"/>
              <a:cs typeface="Arial"/>
            </a:endParaRPr>
          </a:p>
          <a:p>
            <a:pPr>
              <a:buAutoNum type="arabicPeriod"/>
            </a:pPr>
            <a:endParaRPr lang="en-US" b="1">
              <a:latin typeface="Arial"/>
              <a:cs typeface="Arial"/>
            </a:endParaRPr>
          </a:p>
          <a:p>
            <a:pPr>
              <a:buAutoNum type="arabicPeriod"/>
            </a:pPr>
            <a:endParaRPr lang="en-US" b="1">
              <a:latin typeface="Arial"/>
              <a:cs typeface="Arial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596ED4-5D9A-A497-5727-4DF428E38D2B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A7BDDEFD-4FCF-7348-AEF1-A537DD785750}" type="datetime4">
              <a:rPr lang="en-US" smtClean="0"/>
              <a:t>April 24,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268FCC-2FC9-61BA-A1E7-EA23C5E0C1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>
                <a:ea typeface="+mn-lt"/>
                <a:cs typeface="+mn-lt"/>
              </a:rPr>
              <a:t>MLMI </a:t>
            </a:r>
            <a:r>
              <a:rPr lang="en-US" err="1">
                <a:ea typeface="+mn-lt"/>
                <a:cs typeface="+mn-lt"/>
              </a:rPr>
              <a:t>Praktikum</a:t>
            </a:r>
            <a:r>
              <a:rPr lang="en-US">
                <a:ea typeface="+mn-lt"/>
                <a:cs typeface="+mn-lt"/>
              </a:rPr>
              <a:t> – Final Presentation</a:t>
            </a:r>
            <a:endParaRPr lang="en-US">
              <a:solidFill>
                <a:srgbClr val="000000"/>
              </a:solidFill>
              <a:ea typeface="+mn-lt"/>
              <a:cs typeface="+mn-lt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1E142F-2C55-7FC0-F8E0-17933AFBC7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</a:t>
            </a:r>
            <a:fld id="{E27654B9-2CBC-E046-9B7E-70345D26D3AC}" type="slidenum">
              <a:rPr lang="en-US" smtClean="0"/>
              <a:t>11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0778122-6651-14FE-BCFE-383B9A9D8802}"/>
              </a:ext>
            </a:extLst>
          </p:cNvPr>
          <p:cNvSpPr txBox="1">
            <a:spLocks/>
          </p:cNvSpPr>
          <p:nvPr/>
        </p:nvSpPr>
        <p:spPr bwMode="auto">
          <a:xfrm>
            <a:off x="357847" y="625862"/>
            <a:ext cx="84042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33"/>
                </a:solidFill>
                <a:latin typeface="+mj-lt"/>
                <a:ea typeface="ＭＳ Ｐゴシック" charset="0"/>
                <a:cs typeface="ＭＳ Ｐゴシック" charset="0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33"/>
                </a:solidFill>
                <a:latin typeface="TUM Neue Helvetica 55 Regular" pitchFamily="34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33"/>
                </a:solidFill>
                <a:latin typeface="TUM Neue Helvetica 55 Regular" pitchFamily="34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33"/>
                </a:solidFill>
                <a:latin typeface="TUM Neue Helvetica 55 Regular" pitchFamily="34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33"/>
                </a:solidFill>
                <a:latin typeface="TUM Neue Helvetica 55 Regular" pitchFamily="34" charset="0"/>
                <a:ea typeface="ＭＳ Ｐゴシック" charset="0"/>
                <a:cs typeface="ＭＳ Ｐゴシック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33"/>
                </a:solidFill>
                <a:latin typeface="TUM Neue Helvetica 55 Regular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33"/>
                </a:solidFill>
                <a:latin typeface="TUM Neue Helvetica 55 Regular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33"/>
                </a:solidFill>
                <a:latin typeface="TUM Neue Helvetica 55 Regular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33"/>
                </a:solidFill>
                <a:latin typeface="TUM Neue Helvetica 55 Regular" pitchFamily="34" charset="0"/>
              </a:defRPr>
            </a:lvl9pPr>
          </a:lstStyle>
          <a:p>
            <a:pPr defTabSz="914400"/>
            <a:r>
              <a:rPr lang="tr-TR" err="1">
                <a:solidFill>
                  <a:schemeClr val="bg2"/>
                </a:solidFill>
                <a:ea typeface="+mj-lt"/>
                <a:cs typeface="+mj-lt"/>
              </a:rPr>
              <a:t>Overview</a:t>
            </a:r>
            <a:r>
              <a:rPr lang="tr-TR">
                <a:solidFill>
                  <a:schemeClr val="bg2"/>
                </a:solidFill>
                <a:ea typeface="+mj-lt"/>
                <a:cs typeface="+mj-lt"/>
              </a:rPr>
              <a:t> of </a:t>
            </a:r>
            <a:r>
              <a:rPr lang="tr-TR" err="1">
                <a:solidFill>
                  <a:schemeClr val="bg2"/>
                </a:solidFill>
                <a:ea typeface="+mj-lt"/>
                <a:cs typeface="+mj-lt"/>
              </a:rPr>
              <a:t>the</a:t>
            </a:r>
            <a:r>
              <a:rPr lang="tr-TR">
                <a:solidFill>
                  <a:schemeClr val="bg2"/>
                </a:solidFill>
                <a:ea typeface="+mj-lt"/>
                <a:cs typeface="+mj-lt"/>
              </a:rPr>
              <a:t> </a:t>
            </a:r>
            <a:r>
              <a:rPr lang="tr-TR" err="1">
                <a:solidFill>
                  <a:schemeClr val="bg2"/>
                </a:solidFill>
                <a:ea typeface="+mj-lt"/>
                <a:cs typeface="+mj-lt"/>
              </a:rPr>
              <a:t>GiG</a:t>
            </a:r>
            <a:r>
              <a:rPr lang="tr-TR">
                <a:solidFill>
                  <a:schemeClr val="bg2"/>
                </a:solidFill>
                <a:ea typeface="+mj-lt"/>
                <a:cs typeface="+mj-lt"/>
              </a:rPr>
              <a:t> Model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28D89EF-4458-68D7-A290-0F24ED53FA90}"/>
              </a:ext>
            </a:extLst>
          </p:cNvPr>
          <p:cNvSpPr txBox="1">
            <a:spLocks/>
          </p:cNvSpPr>
          <p:nvPr/>
        </p:nvSpPr>
        <p:spPr bwMode="auto">
          <a:xfrm>
            <a:off x="368301" y="1088477"/>
            <a:ext cx="8410019" cy="35444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333333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400">
                <a:solidFill>
                  <a:srgbClr val="333333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400">
                <a:solidFill>
                  <a:srgbClr val="333333"/>
                </a:solidFill>
                <a:latin typeface="+mn-lt"/>
                <a:ea typeface="ＭＳ Ｐゴシック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400">
                <a:solidFill>
                  <a:srgbClr val="333333"/>
                </a:solidFill>
                <a:latin typeface="+mn-lt"/>
                <a:ea typeface="ＭＳ Ｐゴシック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333333"/>
                </a:solidFill>
                <a:latin typeface="+mn-lt"/>
                <a:ea typeface="ＭＳ Ｐゴシック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333333"/>
                </a:solidFill>
                <a:latin typeface="+mn-lt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333333"/>
                </a:solidFill>
                <a:latin typeface="+mn-lt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333333"/>
                </a:solidFill>
                <a:latin typeface="+mn-lt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400">
                <a:solidFill>
                  <a:srgbClr val="333333"/>
                </a:solidFill>
                <a:latin typeface="+mn-lt"/>
              </a:defRPr>
            </a:lvl9pPr>
          </a:lstStyle>
          <a:p>
            <a:pPr defTabSz="914400">
              <a:buFont typeface="Arial"/>
              <a:buChar char="•"/>
            </a:pPr>
            <a:r>
              <a:rPr lang="tr-TR" b="1">
                <a:ea typeface="ＭＳ Ｐゴシック"/>
                <a:cs typeface="Arial"/>
              </a:rPr>
              <a:t>F1 </a:t>
            </a:r>
            <a:r>
              <a:rPr lang="tr-TR" b="1" err="1">
                <a:ea typeface="ＭＳ Ｐゴシック"/>
                <a:cs typeface="Arial"/>
              </a:rPr>
              <a:t>Node</a:t>
            </a:r>
            <a:r>
              <a:rPr lang="tr-TR" b="1">
                <a:ea typeface="ＭＳ Ｐゴシック"/>
                <a:cs typeface="Arial"/>
              </a:rPr>
              <a:t> Level </a:t>
            </a:r>
            <a:r>
              <a:rPr lang="tr-TR" b="1" err="1">
                <a:ea typeface="ＭＳ Ｐゴシック"/>
                <a:cs typeface="Arial"/>
              </a:rPr>
              <a:t>Module</a:t>
            </a:r>
            <a:r>
              <a:rPr lang="tr-TR" b="1">
                <a:ea typeface="ＭＳ Ｐゴシック"/>
                <a:cs typeface="Arial"/>
              </a:rPr>
              <a:t>:</a:t>
            </a:r>
            <a:endParaRPr lang="en-US" b="1">
              <a:ea typeface="ＭＳ Ｐゴシック"/>
              <a:cs typeface="Arial"/>
            </a:endParaRPr>
          </a:p>
          <a:p>
            <a:pPr lvl="1" defTabSz="914400">
              <a:buFont typeface="Courier New"/>
              <a:buChar char="o"/>
            </a:pPr>
            <a:r>
              <a:rPr lang="en-US">
                <a:ea typeface="ＭＳ Ｐゴシック"/>
                <a:cs typeface="Arial"/>
              </a:rPr>
              <a:t>Graph Convolution</a:t>
            </a:r>
          </a:p>
          <a:p>
            <a:pPr lvl="1" defTabSz="914400">
              <a:buFont typeface="Courier New"/>
              <a:buChar char="o"/>
            </a:pPr>
            <a:r>
              <a:rPr lang="en-US">
                <a:ea typeface="ＭＳ Ｐゴシック"/>
                <a:cs typeface="Arial"/>
              </a:rPr>
              <a:t>Global pooling layer  -&gt; graph embedding</a:t>
            </a:r>
            <a:endParaRPr lang="en-US">
              <a:cs typeface="Arial"/>
            </a:endParaRPr>
          </a:p>
          <a:p>
            <a:pPr marL="457200" lvl="1" indent="0" defTabSz="914400">
              <a:buNone/>
            </a:pPr>
            <a:endParaRPr lang="en-US">
              <a:ea typeface="ＭＳ Ｐゴシック"/>
              <a:cs typeface="Arial"/>
            </a:endParaRPr>
          </a:p>
          <a:p>
            <a:pPr defTabSz="914400">
              <a:buFont typeface="Arial"/>
              <a:buChar char="•"/>
            </a:pPr>
            <a:r>
              <a:rPr lang="en-US" b="1">
                <a:ea typeface="ＭＳ Ｐゴシック"/>
                <a:cs typeface="Arial"/>
              </a:rPr>
              <a:t>F2 Population Level Module:</a:t>
            </a:r>
            <a:endParaRPr lang="en-US" b="1">
              <a:cs typeface="Arial"/>
            </a:endParaRPr>
          </a:p>
          <a:p>
            <a:pPr lvl="1" defTabSz="914400">
              <a:buFont typeface="Courier New"/>
              <a:buChar char="o"/>
            </a:pPr>
            <a:r>
              <a:rPr lang="en-US">
                <a:ea typeface="ＭＳ Ｐゴシック"/>
              </a:rPr>
              <a:t>Cosine Similarity</a:t>
            </a:r>
            <a:endParaRPr lang="en-US"/>
          </a:p>
          <a:p>
            <a:pPr lvl="1" defTabSz="914400">
              <a:buFont typeface="Courier New"/>
              <a:buChar char="o"/>
            </a:pPr>
            <a:r>
              <a:rPr lang="en-US">
                <a:ea typeface="+mn-lt"/>
                <a:cs typeface="+mn-lt"/>
              </a:rPr>
              <a:t>Temperature</a:t>
            </a:r>
            <a:r>
              <a:rPr lang="en-US" sz="1400">
                <a:ea typeface="+mn-lt"/>
                <a:cs typeface="+mn-lt"/>
              </a:rPr>
              <a:t> and threshold to control connection</a:t>
            </a:r>
            <a:endParaRPr lang="en-US"/>
          </a:p>
          <a:p>
            <a:pPr lvl="1" defTabSz="914400">
              <a:buFont typeface="Courier New"/>
              <a:buChar char="o"/>
            </a:pPr>
            <a:r>
              <a:rPr lang="en-US">
                <a:ea typeface="+mn-lt"/>
                <a:cs typeface="+mn-lt"/>
              </a:rPr>
              <a:t>KL divergence-loss to regularize degree of connections.</a:t>
            </a:r>
            <a:endParaRPr lang="en-US">
              <a:cs typeface="Arial"/>
            </a:endParaRPr>
          </a:p>
          <a:p>
            <a:pPr marL="457200" lvl="1" indent="0" defTabSz="914400">
              <a:buNone/>
            </a:pPr>
            <a:endParaRPr lang="en-US">
              <a:ea typeface="ＭＳ Ｐゴシック"/>
              <a:cs typeface="Arial"/>
            </a:endParaRPr>
          </a:p>
          <a:p>
            <a:pPr defTabSz="914400">
              <a:buFont typeface="Arial"/>
              <a:buChar char="•"/>
            </a:pPr>
            <a:r>
              <a:rPr lang="en-US" b="1">
                <a:ea typeface="ＭＳ Ｐゴシック"/>
                <a:cs typeface="Arial"/>
              </a:rPr>
              <a:t>F3 Classifier Level Module:</a:t>
            </a:r>
          </a:p>
          <a:p>
            <a:pPr lvl="1" defTabSz="914400">
              <a:buFont typeface="Courier New"/>
              <a:buChar char="o"/>
            </a:pPr>
            <a:r>
              <a:rPr lang="en-US">
                <a:ea typeface="+mn-lt"/>
                <a:cs typeface="+mn-lt"/>
              </a:rPr>
              <a:t>Integrates learned representations from F1 and F2 modules</a:t>
            </a:r>
            <a:endParaRPr lang="en-US" b="1">
              <a:cs typeface="Arial"/>
            </a:endParaRPr>
          </a:p>
          <a:p>
            <a:pPr lvl="1" defTabSz="914400">
              <a:buFont typeface="Courier New"/>
              <a:buChar char="o"/>
            </a:pPr>
            <a:r>
              <a:rPr lang="en-US">
                <a:ea typeface="ＭＳ Ｐゴシック"/>
                <a:cs typeface="Arial"/>
              </a:rPr>
              <a:t>Classify patients based on their true gene ids</a:t>
            </a:r>
            <a:endParaRPr lang="en-US">
              <a:cs typeface="Arial"/>
            </a:endParaRPr>
          </a:p>
          <a:p>
            <a:pPr lvl="1" defTabSz="914400">
              <a:buFontTx/>
              <a:buChar char="–"/>
            </a:pPr>
            <a:endParaRPr lang="en-US">
              <a:latin typeface="TUM Neue Helvetica 55 Regular"/>
              <a:cs typeface="Arial"/>
            </a:endParaRPr>
          </a:p>
          <a:p>
            <a:pPr lvl="1" defTabSz="914400">
              <a:buFont typeface="Courier New"/>
              <a:buChar char="–"/>
            </a:pPr>
            <a:endParaRPr lang="en-US">
              <a:latin typeface="TUM Neue Helvetica 55 Regular"/>
              <a:cs typeface="Arial"/>
            </a:endParaRPr>
          </a:p>
          <a:p>
            <a:pPr lvl="1" defTabSz="914400">
              <a:buFont typeface="Courier New"/>
              <a:buChar char="o"/>
            </a:pPr>
            <a:endParaRPr lang="en-US">
              <a:latin typeface="TUM Neue Helvetica 55 Regular"/>
              <a:cs typeface="Arial"/>
            </a:endParaRPr>
          </a:p>
          <a:p>
            <a:pPr lvl="1" defTabSz="914400"/>
            <a:endParaRPr lang="en-US">
              <a:latin typeface="Arial"/>
              <a:cs typeface="Arial"/>
            </a:endParaRPr>
          </a:p>
          <a:p>
            <a:pPr lvl="1" defTabSz="914400">
              <a:buFont typeface="Courier New"/>
              <a:buChar char="o"/>
            </a:pPr>
            <a:endParaRPr lang="en-US" b="1" kern="0">
              <a:latin typeface="Arial"/>
              <a:cs typeface="Arial"/>
            </a:endParaRPr>
          </a:p>
          <a:p>
            <a:pPr lvl="2" indent="-342900" defTabSz="914400">
              <a:buFont typeface="Wingdings"/>
              <a:buChar char="§"/>
            </a:pPr>
            <a:endParaRPr lang="en-US" b="1" kern="0">
              <a:latin typeface="Arial"/>
              <a:cs typeface="Arial"/>
            </a:endParaRPr>
          </a:p>
          <a:p>
            <a:pPr lvl="1" defTabSz="914400">
              <a:buFont typeface="Courier New"/>
              <a:buChar char="o"/>
            </a:pPr>
            <a:endParaRPr lang="en-US" kern="0">
              <a:latin typeface="TUM Neue Helvetica 55 Regular"/>
              <a:cs typeface="Arial"/>
            </a:endParaRPr>
          </a:p>
          <a:p>
            <a:pPr defTabSz="914400">
              <a:buFont typeface="Arial"/>
              <a:buChar char="•"/>
            </a:pPr>
            <a:endParaRPr lang="en-US" b="1" kern="0">
              <a:latin typeface="Arial"/>
              <a:cs typeface="Arial"/>
            </a:endParaRPr>
          </a:p>
          <a:p>
            <a:pPr lvl="1" defTabSz="914400">
              <a:buFont typeface="Courier New"/>
              <a:buChar char="o"/>
            </a:pPr>
            <a:endParaRPr lang="en-US" sz="3200" kern="0">
              <a:latin typeface="TUM Neue Helvetica 55 Regular"/>
              <a:cs typeface="Arial"/>
            </a:endParaRPr>
          </a:p>
          <a:p>
            <a:pPr defTabSz="914400">
              <a:buFont typeface="Arial"/>
              <a:buChar char="•"/>
            </a:pPr>
            <a:endParaRPr lang="en-US" b="1" kern="0">
              <a:latin typeface="Arial"/>
              <a:cs typeface="Arial"/>
            </a:endParaRPr>
          </a:p>
          <a:p>
            <a:pPr defTabSz="914400">
              <a:buFont typeface="Arial"/>
              <a:buChar char="•"/>
            </a:pPr>
            <a:endParaRPr lang="en-US" b="1" kern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883996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1E1E3C-3F53-6B5A-8081-025E32088A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65244-1155-D30F-6DDB-7A8471C9C9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z="2800" err="1">
                <a:ea typeface="ＭＳ Ｐゴシック"/>
              </a:rPr>
              <a:t>Methodology</a:t>
            </a:r>
            <a:endParaRPr lang="en-US" sz="2800" err="1">
              <a:ea typeface="ＭＳ Ｐゴシック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0A7CE5-B80D-78AD-C5A1-48B2B7E13C0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A7BDDEFD-4FCF-7348-AEF1-A537DD785750}" type="datetime4">
              <a:rPr lang="en-US" smtClean="0"/>
              <a:t>April 24,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C43550-ABD9-1AEF-AE34-789686DE4A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>
                <a:ea typeface="+mn-lt"/>
                <a:cs typeface="+mn-lt"/>
              </a:rPr>
              <a:t>MLMI </a:t>
            </a:r>
            <a:r>
              <a:rPr lang="en-US" err="1">
                <a:ea typeface="+mn-lt"/>
                <a:cs typeface="+mn-lt"/>
              </a:rPr>
              <a:t>Praktikum</a:t>
            </a:r>
            <a:r>
              <a:rPr lang="en-US">
                <a:ea typeface="+mn-lt"/>
                <a:cs typeface="+mn-lt"/>
              </a:rPr>
              <a:t> – Final Presentation</a:t>
            </a:r>
            <a:endParaRPr lang="en-US">
              <a:solidFill>
                <a:srgbClr val="000000"/>
              </a:solidFill>
              <a:ea typeface="+mn-lt"/>
              <a:cs typeface="+mn-lt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0DA81C-6C1E-FE87-F7F7-C88EF3AFB6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</a:t>
            </a:r>
            <a:fld id="{E27654B9-2CBC-E046-9B7E-70345D26D3AC}" type="slidenum">
              <a:rPr lang="en-US" smtClean="0"/>
              <a:t>12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1E7D4DF-7FE6-0C80-935A-17BA76C1BE42}"/>
              </a:ext>
            </a:extLst>
          </p:cNvPr>
          <p:cNvSpPr txBox="1">
            <a:spLocks/>
          </p:cNvSpPr>
          <p:nvPr/>
        </p:nvSpPr>
        <p:spPr bwMode="auto">
          <a:xfrm>
            <a:off x="357847" y="625862"/>
            <a:ext cx="84042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33"/>
                </a:solidFill>
                <a:latin typeface="+mj-lt"/>
                <a:ea typeface="ＭＳ Ｐゴシック" charset="0"/>
                <a:cs typeface="ＭＳ Ｐゴシック" charset="0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33"/>
                </a:solidFill>
                <a:latin typeface="TUM Neue Helvetica 55 Regular" pitchFamily="34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33"/>
                </a:solidFill>
                <a:latin typeface="TUM Neue Helvetica 55 Regular" pitchFamily="34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33"/>
                </a:solidFill>
                <a:latin typeface="TUM Neue Helvetica 55 Regular" pitchFamily="34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33"/>
                </a:solidFill>
                <a:latin typeface="TUM Neue Helvetica 55 Regular" pitchFamily="34" charset="0"/>
                <a:ea typeface="ＭＳ Ｐゴシック" charset="0"/>
                <a:cs typeface="ＭＳ Ｐゴシック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33"/>
                </a:solidFill>
                <a:latin typeface="TUM Neue Helvetica 55 Regular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33"/>
                </a:solidFill>
                <a:latin typeface="TUM Neue Helvetica 55 Regular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33"/>
                </a:solidFill>
                <a:latin typeface="TUM Neue Helvetica 55 Regular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33"/>
                </a:solidFill>
                <a:latin typeface="TUM Neue Helvetica 55 Regular" pitchFamily="34" charset="0"/>
              </a:defRPr>
            </a:lvl9pPr>
          </a:lstStyle>
          <a:p>
            <a:pPr defTabSz="914400"/>
            <a:r>
              <a:rPr lang="tr-TR" err="1">
                <a:solidFill>
                  <a:schemeClr val="bg2"/>
                </a:solidFill>
                <a:ea typeface="+mj-lt"/>
                <a:cs typeface="+mj-lt"/>
              </a:rPr>
              <a:t>Overview</a:t>
            </a:r>
            <a:r>
              <a:rPr lang="tr-TR">
                <a:solidFill>
                  <a:schemeClr val="bg2"/>
                </a:solidFill>
                <a:ea typeface="+mj-lt"/>
                <a:cs typeface="+mj-lt"/>
              </a:rPr>
              <a:t> of </a:t>
            </a:r>
            <a:r>
              <a:rPr lang="tr-TR" err="1">
                <a:solidFill>
                  <a:schemeClr val="bg2"/>
                </a:solidFill>
                <a:ea typeface="+mj-lt"/>
                <a:cs typeface="+mj-lt"/>
              </a:rPr>
              <a:t>the</a:t>
            </a:r>
            <a:r>
              <a:rPr lang="tr-TR">
                <a:solidFill>
                  <a:schemeClr val="bg2"/>
                </a:solidFill>
                <a:ea typeface="+mj-lt"/>
                <a:cs typeface="+mj-lt"/>
              </a:rPr>
              <a:t> GiG Model</a:t>
            </a:r>
            <a:endParaRPr lang="en-US">
              <a:solidFill>
                <a:schemeClr val="bg2"/>
              </a:solidFill>
            </a:endParaRPr>
          </a:p>
        </p:txBody>
      </p:sp>
      <p:cxnSp>
        <p:nvCxnSpPr>
          <p:cNvPr id="1125" name="Connector: Curved 1124">
            <a:extLst>
              <a:ext uri="{FF2B5EF4-FFF2-40B4-BE49-F238E27FC236}">
                <a16:creationId xmlns:a16="http://schemas.microsoft.com/office/drawing/2014/main" id="{F0AF3102-A104-4945-E1BA-98378E7448FF}"/>
              </a:ext>
            </a:extLst>
          </p:cNvPr>
          <p:cNvCxnSpPr/>
          <p:nvPr/>
        </p:nvCxnSpPr>
        <p:spPr>
          <a:xfrm flipH="1">
            <a:off x="2603293" y="1556781"/>
            <a:ext cx="1045275" cy="2738745"/>
          </a:xfrm>
          <a:prstGeom prst="curvedConnector3">
            <a:avLst/>
          </a:prstGeom>
          <a:ln>
            <a:solidFill>
              <a:srgbClr val="1B377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6" name="Connector: Curved 1125">
            <a:extLst>
              <a:ext uri="{FF2B5EF4-FFF2-40B4-BE49-F238E27FC236}">
                <a16:creationId xmlns:a16="http://schemas.microsoft.com/office/drawing/2014/main" id="{7A55090B-F33F-E3BB-E0D6-17288B49F7C9}"/>
              </a:ext>
            </a:extLst>
          </p:cNvPr>
          <p:cNvCxnSpPr>
            <a:cxnSpLocks/>
          </p:cNvCxnSpPr>
          <p:nvPr/>
        </p:nvCxnSpPr>
        <p:spPr>
          <a:xfrm flipH="1">
            <a:off x="5277096" y="1556779"/>
            <a:ext cx="772514" cy="2738745"/>
          </a:xfrm>
          <a:prstGeom prst="curvedConnector3">
            <a:avLst/>
          </a:prstGeom>
          <a:ln>
            <a:solidFill>
              <a:srgbClr val="1B377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32555F7A-7222-29A9-B190-39B822749876}"/>
              </a:ext>
            </a:extLst>
          </p:cNvPr>
          <p:cNvSpPr txBox="1"/>
          <p:nvPr/>
        </p:nvSpPr>
        <p:spPr>
          <a:xfrm>
            <a:off x="164522" y="2052204"/>
            <a:ext cx="2743199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800" baseline="0">
                <a:latin typeface="TUM Neue Helvetica 55 Regular"/>
              </a:rPr>
              <a:t>Graph Conv</a:t>
            </a:r>
            <a:r>
              <a:rPr lang="en-US" sz="1800">
                <a:latin typeface="TUM Neue Helvetica 55 Regular"/>
                <a:ea typeface="TUM Neue Helvetica 55 Regular"/>
                <a:cs typeface="TUM Neue Helvetica 55 Regular"/>
              </a:rPr>
              <a:t>​</a:t>
            </a:r>
            <a:endParaRPr 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808D5E0-8331-32E4-9E73-6054398924D5}"/>
              </a:ext>
            </a:extLst>
          </p:cNvPr>
          <p:cNvSpPr txBox="1"/>
          <p:nvPr/>
        </p:nvSpPr>
        <p:spPr>
          <a:xfrm>
            <a:off x="164521" y="3428999"/>
            <a:ext cx="2743199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Pooling</a:t>
            </a:r>
          </a:p>
        </p:txBody>
      </p:sp>
      <p:cxnSp>
        <p:nvCxnSpPr>
          <p:cNvPr id="1090" name="Connector: Curved 1089">
            <a:extLst>
              <a:ext uri="{FF2B5EF4-FFF2-40B4-BE49-F238E27FC236}">
                <a16:creationId xmlns:a16="http://schemas.microsoft.com/office/drawing/2014/main" id="{430EC69D-D4EB-484E-67E3-7DE6405E07BB}"/>
              </a:ext>
            </a:extLst>
          </p:cNvPr>
          <p:cNvCxnSpPr/>
          <p:nvPr/>
        </p:nvCxnSpPr>
        <p:spPr>
          <a:xfrm flipV="1">
            <a:off x="2601315" y="2233550"/>
            <a:ext cx="1231815" cy="2096489"/>
          </a:xfrm>
          <a:prstGeom prst="curvedConnector3">
            <a:avLst/>
          </a:prstGeom>
          <a:ln>
            <a:solidFill>
              <a:srgbClr val="1B377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1" name="Straight Arrow Connector 1090">
            <a:extLst>
              <a:ext uri="{FF2B5EF4-FFF2-40B4-BE49-F238E27FC236}">
                <a16:creationId xmlns:a16="http://schemas.microsoft.com/office/drawing/2014/main" id="{162B5338-7F88-9ED7-4C28-98724BC51AF4}"/>
              </a:ext>
            </a:extLst>
          </p:cNvPr>
          <p:cNvCxnSpPr/>
          <p:nvPr/>
        </p:nvCxnSpPr>
        <p:spPr>
          <a:xfrm flipV="1">
            <a:off x="3830657" y="2084737"/>
            <a:ext cx="1517444" cy="146092"/>
          </a:xfrm>
          <a:prstGeom prst="straightConnector1">
            <a:avLst/>
          </a:prstGeom>
          <a:ln>
            <a:solidFill>
              <a:srgbClr val="1B377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2" name="Connector: Curved 1091">
            <a:extLst>
              <a:ext uri="{FF2B5EF4-FFF2-40B4-BE49-F238E27FC236}">
                <a16:creationId xmlns:a16="http://schemas.microsoft.com/office/drawing/2014/main" id="{D5D86BE8-C93B-1004-FB55-40FE23BB137B}"/>
              </a:ext>
            </a:extLst>
          </p:cNvPr>
          <p:cNvCxnSpPr/>
          <p:nvPr/>
        </p:nvCxnSpPr>
        <p:spPr>
          <a:xfrm flipV="1">
            <a:off x="5352061" y="1536497"/>
            <a:ext cx="597475" cy="538965"/>
          </a:xfrm>
          <a:prstGeom prst="curvedConnector3">
            <a:avLst/>
          </a:prstGeom>
          <a:ln>
            <a:solidFill>
              <a:srgbClr val="1B377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9" name="TextBox 1238">
            <a:extLst>
              <a:ext uri="{FF2B5EF4-FFF2-40B4-BE49-F238E27FC236}">
                <a16:creationId xmlns:a16="http://schemas.microsoft.com/office/drawing/2014/main" id="{0C45AD11-E6CD-76BC-58D4-B9E70D64B1EB}"/>
              </a:ext>
            </a:extLst>
          </p:cNvPr>
          <p:cNvSpPr txBox="1"/>
          <p:nvPr/>
        </p:nvSpPr>
        <p:spPr>
          <a:xfrm>
            <a:off x="3423431" y="3426525"/>
            <a:ext cx="2743199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+mn-lt"/>
                <a:cs typeface="+mn-lt"/>
              </a:rPr>
              <a:t>KL Div</a:t>
            </a:r>
            <a:endParaRPr lang="en-US"/>
          </a:p>
        </p:txBody>
      </p:sp>
      <p:graphicFrame>
        <p:nvGraphicFramePr>
          <p:cNvPr id="1094" name="Diagram 1093" descr="fasfdasdsadasd">
            <a:extLst>
              <a:ext uri="{FF2B5EF4-FFF2-40B4-BE49-F238E27FC236}">
                <a16:creationId xmlns:a16="http://schemas.microsoft.com/office/drawing/2014/main" id="{4F944991-B42F-860E-6C6D-A1B266757DC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30105291"/>
              </p:ext>
            </p:extLst>
          </p:nvPr>
        </p:nvGraphicFramePr>
        <p:xfrm>
          <a:off x="-463879" y="1084366"/>
          <a:ext cx="4572000" cy="3657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1110" name="Diagram 1109" descr="fasfdasdsadasd">
            <a:extLst>
              <a:ext uri="{FF2B5EF4-FFF2-40B4-BE49-F238E27FC236}">
                <a16:creationId xmlns:a16="http://schemas.microsoft.com/office/drawing/2014/main" id="{5845390E-59A8-99FA-BF37-40CBCF3903E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53211085"/>
              </p:ext>
            </p:extLst>
          </p:nvPr>
        </p:nvGraphicFramePr>
        <p:xfrm>
          <a:off x="4387451" y="1081317"/>
          <a:ext cx="4572000" cy="3657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graphicFrame>
        <p:nvGraphicFramePr>
          <p:cNvPr id="1220" name="Diagram 1219" descr="fasfdasdsadasd">
            <a:extLst>
              <a:ext uri="{FF2B5EF4-FFF2-40B4-BE49-F238E27FC236}">
                <a16:creationId xmlns:a16="http://schemas.microsoft.com/office/drawing/2014/main" id="{D4975D85-B673-3687-5260-92B2CCA6E71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35138463"/>
              </p:ext>
            </p:extLst>
          </p:nvPr>
        </p:nvGraphicFramePr>
        <p:xfrm>
          <a:off x="2189514" y="1084366"/>
          <a:ext cx="4572000" cy="3657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3" r:lo="rId14" r:qs="rId15" r:cs="rId16"/>
          </a:graphicData>
        </a:graphic>
      </p:graphicFrame>
      <p:sp>
        <p:nvSpPr>
          <p:cNvPr id="1228" name="TextBox 1227">
            <a:extLst>
              <a:ext uri="{FF2B5EF4-FFF2-40B4-BE49-F238E27FC236}">
                <a16:creationId xmlns:a16="http://schemas.microsoft.com/office/drawing/2014/main" id="{7DFBC111-AE99-C19B-F210-BEA44AEC05E8}"/>
              </a:ext>
            </a:extLst>
          </p:cNvPr>
          <p:cNvSpPr txBox="1"/>
          <p:nvPr/>
        </p:nvSpPr>
        <p:spPr>
          <a:xfrm>
            <a:off x="3307771" y="1902525"/>
            <a:ext cx="117157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ea typeface="+mn-lt"/>
                <a:cs typeface="+mn-lt"/>
              </a:rPr>
              <a:t>Cos Sim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1661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3372C4-88C0-C63E-582D-AEDB499F4F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74E44-7317-ECFC-8ABF-8AEDA60932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776" y="171450"/>
            <a:ext cx="8404225" cy="457200"/>
          </a:xfrm>
        </p:spPr>
        <p:txBody>
          <a:bodyPr/>
          <a:lstStyle/>
          <a:p>
            <a:r>
              <a:rPr lang="en-US" sz="2800">
                <a:ea typeface="ＭＳ Ｐゴシック"/>
              </a:rPr>
              <a:t>Project Progress &amp; Outlook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3C99F3-65E6-9F44-8A6D-D377049939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8776" y="1530786"/>
            <a:ext cx="8405632" cy="3098364"/>
          </a:xfrm>
        </p:spPr>
        <p:txBody>
          <a:bodyPr/>
          <a:lstStyle/>
          <a:p>
            <a:pPr marL="0" indent="0">
              <a:buNone/>
            </a:pPr>
            <a:r>
              <a:rPr lang="tr-TR" b="1">
                <a:latin typeface="TUM Neue Helvetica 55 Regular"/>
                <a:ea typeface="ＭＳ Ｐゴシック"/>
                <a:cs typeface="Arial"/>
              </a:rPr>
              <a:t>-</a:t>
            </a:r>
            <a:r>
              <a:rPr lang="tr-TR" b="1" err="1">
                <a:latin typeface="TUM Neue Helvetica 55 Regular"/>
                <a:ea typeface="ＭＳ Ｐゴシック"/>
                <a:cs typeface="Arial"/>
              </a:rPr>
              <a:t>Initial</a:t>
            </a:r>
            <a:r>
              <a:rPr lang="tr-TR" b="1">
                <a:latin typeface="TUM Neue Helvetica 55 Regular"/>
                <a:ea typeface="ＭＳ Ｐゴシック"/>
                <a:cs typeface="Arial"/>
              </a:rPr>
              <a:t> </a:t>
            </a:r>
            <a:r>
              <a:rPr lang="tr-TR" b="1" err="1">
                <a:latin typeface="TUM Neue Helvetica 55 Regular"/>
                <a:ea typeface="ＭＳ Ｐゴシック"/>
                <a:cs typeface="Arial"/>
              </a:rPr>
              <a:t>Trials</a:t>
            </a:r>
            <a:r>
              <a:rPr lang="tr-TR" b="1">
                <a:latin typeface="TUM Neue Helvetica 55 Regular"/>
                <a:ea typeface="ＭＳ Ｐゴシック"/>
                <a:cs typeface="Arial"/>
              </a:rPr>
              <a:t>: No Global </a:t>
            </a:r>
            <a:r>
              <a:rPr lang="tr-TR" b="1" err="1">
                <a:latin typeface="TUM Neue Helvetica 55 Regular"/>
                <a:ea typeface="ＭＳ Ｐゴシック"/>
                <a:cs typeface="Arial"/>
              </a:rPr>
              <a:t>NodeID</a:t>
            </a:r>
            <a:endParaRPr lang="tr-TR" b="1">
              <a:latin typeface="TUM Neue Helvetica 55 Regular"/>
              <a:ea typeface="ＭＳ Ｐゴシック"/>
              <a:cs typeface="Arial"/>
            </a:endParaRPr>
          </a:p>
          <a:p>
            <a:r>
              <a:rPr lang="en-GB" sz="1400">
                <a:latin typeface="TUM Neue Helvetica 55 Regular"/>
                <a:ea typeface="ＭＳ Ｐゴシック"/>
                <a:cs typeface="Arial"/>
              </a:rPr>
              <a:t>Used raw node features (</a:t>
            </a:r>
            <a:r>
              <a:rPr lang="en-GB" sz="1400" err="1">
                <a:latin typeface="TUM Neue Helvetica 55 Regular"/>
                <a:ea typeface="ＭＳ Ｐゴシック"/>
                <a:cs typeface="Arial"/>
              </a:rPr>
              <a:t>data.x</a:t>
            </a:r>
            <a:r>
              <a:rPr lang="en-GB" sz="1400">
                <a:latin typeface="TUM Neue Helvetica 55 Regular"/>
                <a:ea typeface="ＭＳ Ｐゴシック"/>
                <a:cs typeface="Arial"/>
              </a:rPr>
              <a:t>) without global node IDs.</a:t>
            </a:r>
            <a:endParaRPr lang="tr-TR" sz="1400">
              <a:latin typeface="TUM Neue Helvetica 55 Regular"/>
              <a:ea typeface="ＭＳ Ｐゴシック"/>
              <a:cs typeface="Arial"/>
            </a:endParaRPr>
          </a:p>
          <a:p>
            <a:r>
              <a:rPr lang="en-GB" sz="1400">
                <a:latin typeface="TUM Neue Helvetica 55 Regular"/>
                <a:ea typeface="ＭＳ Ｐゴシック"/>
                <a:cs typeface="Arial"/>
              </a:rPr>
              <a:t>The model did not learn at all</a:t>
            </a:r>
            <a:endParaRPr lang="tr-TR" sz="1400">
              <a:latin typeface="TUM Neue Helvetica 55 Regular"/>
              <a:ea typeface="ＭＳ Ｐゴシック"/>
              <a:cs typeface="Arial"/>
            </a:endParaRPr>
          </a:p>
          <a:p>
            <a:r>
              <a:rPr lang="tr-TR" sz="1400" err="1">
                <a:latin typeface="TUM Neue Helvetica 55 Regular"/>
                <a:ea typeface="ＭＳ Ｐゴシック"/>
                <a:cs typeface="Arial"/>
              </a:rPr>
              <a:t>Failed</a:t>
            </a:r>
            <a:r>
              <a:rPr lang="tr-TR" sz="1400">
                <a:latin typeface="TUM Neue Helvetica 55 Regular"/>
                <a:ea typeface="ＭＳ Ｐゴシック"/>
                <a:cs typeface="Arial"/>
              </a:rPr>
              <a:t> t</a:t>
            </a:r>
            <a:r>
              <a:rPr lang="en-GB" sz="1400">
                <a:latin typeface="TUM Neue Helvetica 55 Regular"/>
                <a:ea typeface="ＭＳ Ｐゴシック"/>
                <a:cs typeface="Arial"/>
              </a:rPr>
              <a:t>o generalize node representations across different graphs</a:t>
            </a:r>
            <a:endParaRPr lang="tr-TR" sz="1400">
              <a:latin typeface="TUM Neue Helvetica 55 Regular"/>
              <a:ea typeface="ＭＳ Ｐゴシック"/>
              <a:cs typeface="Arial"/>
            </a:endParaRPr>
          </a:p>
          <a:p>
            <a:r>
              <a:rPr lang="en-GB" sz="1400">
                <a:latin typeface="TUM Neue Helvetica 55 Regular"/>
                <a:ea typeface="ＭＳ Ｐゴシック"/>
                <a:cs typeface="Arial"/>
              </a:rPr>
              <a:t>No transfer of information across similar nodes in different graphs</a:t>
            </a:r>
            <a:endParaRPr lang="tr-TR" sz="1400">
              <a:latin typeface="TUM Neue Helvetica 55 Regular"/>
              <a:ea typeface="ＭＳ Ｐゴシック"/>
              <a:cs typeface="Arial"/>
            </a:endParaRPr>
          </a:p>
          <a:p>
            <a:endParaRPr lang="tr-TR" sz="1400">
              <a:latin typeface="TUM Neue Helvetica 55 Regular"/>
              <a:ea typeface="ＭＳ Ｐゴシック"/>
              <a:cs typeface="Arial"/>
            </a:endParaRPr>
          </a:p>
          <a:p>
            <a:pPr marL="0" indent="0">
              <a:buNone/>
            </a:pPr>
            <a:r>
              <a:rPr lang="tr-TR" b="1">
                <a:ea typeface="ＭＳ Ｐゴシック"/>
                <a:cs typeface="Arial"/>
              </a:rPr>
              <a:t>-</a:t>
            </a:r>
            <a:r>
              <a:rPr lang="en-GB" b="1">
                <a:latin typeface="TUM Neue Helvetica 55 Regular"/>
                <a:ea typeface="ＭＳ Ｐゴシック"/>
                <a:cs typeface="Arial"/>
              </a:rPr>
              <a:t>Introducing Global Node Embeddings</a:t>
            </a:r>
            <a:endParaRPr lang="tr-TR" b="1">
              <a:latin typeface="TUM Neue Helvetica 55 Regular"/>
              <a:ea typeface="ＭＳ Ｐゴシック"/>
              <a:cs typeface="Arial"/>
            </a:endParaRPr>
          </a:p>
          <a:p>
            <a:r>
              <a:rPr lang="tr-TR" sz="1400" err="1">
                <a:ea typeface="ＭＳ Ｐゴシック"/>
                <a:cs typeface="Arial"/>
              </a:rPr>
              <a:t>Replaced</a:t>
            </a:r>
            <a:r>
              <a:rPr lang="tr-TR" sz="1400">
                <a:ea typeface="ＭＳ Ｐゴシック"/>
                <a:cs typeface="Arial"/>
              </a:rPr>
              <a:t> </a:t>
            </a:r>
            <a:r>
              <a:rPr lang="tr-TR" sz="1400" err="1">
                <a:ea typeface="ＭＳ Ｐゴシック"/>
                <a:cs typeface="Arial"/>
              </a:rPr>
              <a:t>data.x</a:t>
            </a:r>
            <a:r>
              <a:rPr lang="tr-TR" sz="1400">
                <a:ea typeface="ＭＳ Ｐゴシック"/>
                <a:cs typeface="Arial"/>
              </a:rPr>
              <a:t> </a:t>
            </a:r>
            <a:r>
              <a:rPr lang="tr-TR" sz="1400" err="1">
                <a:ea typeface="ＭＳ Ｐゴシック"/>
                <a:cs typeface="Arial"/>
              </a:rPr>
              <a:t>with</a:t>
            </a:r>
            <a:r>
              <a:rPr lang="tr-TR" sz="1400">
                <a:ea typeface="ＭＳ Ｐゴシック"/>
                <a:cs typeface="Arial"/>
              </a:rPr>
              <a:t> </a:t>
            </a:r>
            <a:r>
              <a:rPr lang="tr-TR" sz="1400" err="1">
                <a:ea typeface="ＭＳ Ｐゴシック"/>
                <a:cs typeface="Arial"/>
              </a:rPr>
              <a:t>original_node_id</a:t>
            </a:r>
            <a:r>
              <a:rPr lang="tr-TR" sz="1400">
                <a:ea typeface="ＭＳ Ｐゴシック"/>
                <a:cs typeface="Arial"/>
              </a:rPr>
              <a:t> </a:t>
            </a:r>
            <a:r>
              <a:rPr lang="tr-TR" sz="1400" err="1">
                <a:ea typeface="ＭＳ Ｐゴシック"/>
                <a:cs typeface="Arial"/>
              </a:rPr>
              <a:t>embeddings</a:t>
            </a:r>
            <a:endParaRPr lang="tr-TR" sz="1400">
              <a:ea typeface="ＭＳ Ｐゴシック"/>
              <a:cs typeface="Arial"/>
            </a:endParaRPr>
          </a:p>
          <a:p>
            <a:r>
              <a:rPr lang="en-GB" sz="1400"/>
              <a:t>The model overfitted </a:t>
            </a:r>
            <a:endParaRPr lang="tr-TR" sz="1400"/>
          </a:p>
          <a:p>
            <a:r>
              <a:rPr lang="tr-TR" sz="1400"/>
              <a:t>Me</a:t>
            </a:r>
            <a:r>
              <a:rPr lang="en-GB" sz="1400" err="1"/>
              <a:t>morizing</a:t>
            </a:r>
            <a:r>
              <a:rPr lang="en-GB" sz="1400"/>
              <a:t> node patterns rather than learning meaningful representations</a:t>
            </a:r>
            <a:endParaRPr lang="en-US" sz="1400">
              <a:latin typeface="TUM Neue Helvetica 55 Regular"/>
              <a:ea typeface="ＭＳ Ｐゴシック"/>
              <a:cs typeface="Arial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3E4D7C-C304-5351-EEDB-B2B3C9498242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A7BDDEFD-4FCF-7348-AEF1-A537DD785750}" type="datetime4">
              <a:rPr lang="en-US" smtClean="0"/>
              <a:t>April 24,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4B12FE-58F1-2273-D643-8B5F1895E7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>
                <a:ea typeface="+mn-lt"/>
                <a:cs typeface="+mn-lt"/>
              </a:rPr>
              <a:t>MLMI </a:t>
            </a:r>
            <a:r>
              <a:rPr lang="en-US" err="1">
                <a:ea typeface="+mn-lt"/>
                <a:cs typeface="+mn-lt"/>
              </a:rPr>
              <a:t>Praktikum</a:t>
            </a:r>
            <a:r>
              <a:rPr lang="en-US">
                <a:ea typeface="+mn-lt"/>
                <a:cs typeface="+mn-lt"/>
              </a:rPr>
              <a:t> – Final Presentation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100D74-D0C7-E8C8-1D45-3849E0BC92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</a:t>
            </a:r>
            <a:fld id="{E27654B9-2CBC-E046-9B7E-70345D26D3AC}" type="slidenum">
              <a:rPr lang="en-US" smtClean="0"/>
              <a:t>13</a:t>
            </a:fld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374A97A-AC5C-F915-87EC-1D24C66FAAFA}"/>
              </a:ext>
            </a:extLst>
          </p:cNvPr>
          <p:cNvSpPr txBox="1">
            <a:spLocks/>
          </p:cNvSpPr>
          <p:nvPr/>
        </p:nvSpPr>
        <p:spPr bwMode="auto">
          <a:xfrm>
            <a:off x="357847" y="625862"/>
            <a:ext cx="84042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33"/>
                </a:solidFill>
                <a:latin typeface="+mj-lt"/>
                <a:ea typeface="ＭＳ Ｐゴシック" charset="0"/>
                <a:cs typeface="ＭＳ Ｐゴシック" charset="0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33"/>
                </a:solidFill>
                <a:latin typeface="TUM Neue Helvetica 55 Regular" pitchFamily="34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33"/>
                </a:solidFill>
                <a:latin typeface="TUM Neue Helvetica 55 Regular" pitchFamily="34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33"/>
                </a:solidFill>
                <a:latin typeface="TUM Neue Helvetica 55 Regular" pitchFamily="34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33"/>
                </a:solidFill>
                <a:latin typeface="TUM Neue Helvetica 55 Regular" pitchFamily="34" charset="0"/>
                <a:ea typeface="ＭＳ Ｐゴシック" charset="0"/>
                <a:cs typeface="ＭＳ Ｐゴシック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33"/>
                </a:solidFill>
                <a:latin typeface="TUM Neue Helvetica 55 Regular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33"/>
                </a:solidFill>
                <a:latin typeface="TUM Neue Helvetica 55 Regular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33"/>
                </a:solidFill>
                <a:latin typeface="TUM Neue Helvetica 55 Regular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33"/>
                </a:solidFill>
                <a:latin typeface="TUM Neue Helvetica 55 Regular" pitchFamily="34" charset="0"/>
              </a:defRPr>
            </a:lvl9pPr>
          </a:lstStyle>
          <a:p>
            <a:pPr defTabSz="914400"/>
            <a:r>
              <a:rPr lang="en-US" kern="0">
                <a:solidFill>
                  <a:schemeClr val="bg2"/>
                </a:solidFill>
                <a:ea typeface="ＭＳ Ｐゴシック"/>
              </a:rPr>
              <a:t>Results &amp; Milestones</a:t>
            </a:r>
            <a:endParaRPr lang="en-US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ED672422-D97D-7501-89A1-B43B6F76C1C0}"/>
              </a:ext>
            </a:extLst>
          </p:cNvPr>
          <p:cNvGrpSpPr/>
          <p:nvPr/>
        </p:nvGrpSpPr>
        <p:grpSpPr>
          <a:xfrm>
            <a:off x="6204856" y="62479"/>
            <a:ext cx="2939144" cy="4623820"/>
            <a:chOff x="6204856" y="62479"/>
            <a:chExt cx="2939144" cy="4623820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52077129-5157-1F51-F461-B4FBC299052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r="50000"/>
            <a:stretch/>
          </p:blipFill>
          <p:spPr>
            <a:xfrm>
              <a:off x="6204857" y="62479"/>
              <a:ext cx="2939143" cy="2488891"/>
            </a:xfrm>
            <a:prstGeom prst="rect">
              <a:avLst/>
            </a:prstGeom>
          </p:spPr>
        </p:pic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78240CCC-31F6-EDD5-939A-F16D7B8E5EC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50000"/>
            <a:stretch/>
          </p:blipFill>
          <p:spPr>
            <a:xfrm>
              <a:off x="6204856" y="2197408"/>
              <a:ext cx="2939143" cy="248889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615389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allAtOnce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F72E68-5849-08A0-C4E5-67E5709D6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>
            <a:extLst>
              <a:ext uri="{FF2B5EF4-FFF2-40B4-BE49-F238E27FC236}">
                <a16:creationId xmlns:a16="http://schemas.microsoft.com/office/drawing/2014/main" id="{831B8A91-2A62-D50A-6E3C-1BA5B1509655}"/>
              </a:ext>
            </a:extLst>
          </p:cNvPr>
          <p:cNvGrpSpPr/>
          <p:nvPr/>
        </p:nvGrpSpPr>
        <p:grpSpPr>
          <a:xfrm>
            <a:off x="6376183" y="0"/>
            <a:ext cx="2767816" cy="4718670"/>
            <a:chOff x="6376183" y="0"/>
            <a:chExt cx="2767816" cy="4718670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4EC1F2A8-61C2-6017-C95B-C9ACC64C5D58}"/>
                </a:ext>
              </a:extLst>
            </p:cNvPr>
            <p:cNvGrpSpPr/>
            <p:nvPr/>
          </p:nvGrpSpPr>
          <p:grpSpPr>
            <a:xfrm>
              <a:off x="6376183" y="0"/>
              <a:ext cx="2767816" cy="4718670"/>
              <a:chOff x="6376183" y="0"/>
              <a:chExt cx="2767816" cy="4718670"/>
            </a:xfrm>
          </p:grpSpPr>
          <p:pic>
            <p:nvPicPr>
              <p:cNvPr id="16" name="Picture 15">
                <a:extLst>
                  <a:ext uri="{FF2B5EF4-FFF2-40B4-BE49-F238E27FC236}">
                    <a16:creationId xmlns:a16="http://schemas.microsoft.com/office/drawing/2014/main" id="{8BAB132D-5CCF-9E01-DEE8-39C8D494DE0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rcRect l="50000"/>
              <a:stretch/>
            </p:blipFill>
            <p:spPr>
              <a:xfrm>
                <a:off x="6376183" y="2367356"/>
                <a:ext cx="2767816" cy="2351314"/>
              </a:xfrm>
              <a:prstGeom prst="rect">
                <a:avLst/>
              </a:prstGeom>
            </p:spPr>
          </p:pic>
          <p:pic>
            <p:nvPicPr>
              <p:cNvPr id="18" name="Picture 17">
                <a:extLst>
                  <a:ext uri="{FF2B5EF4-FFF2-40B4-BE49-F238E27FC236}">
                    <a16:creationId xmlns:a16="http://schemas.microsoft.com/office/drawing/2014/main" id="{24CC133A-7653-A34E-5D0E-F5D9B4305B5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rcRect r="50000"/>
              <a:stretch/>
            </p:blipFill>
            <p:spPr>
              <a:xfrm>
                <a:off x="6376184" y="0"/>
                <a:ext cx="2767815" cy="2351314"/>
              </a:xfrm>
              <a:prstGeom prst="rect">
                <a:avLst/>
              </a:prstGeom>
            </p:spPr>
          </p:pic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920C549F-1C3E-9937-6C5F-8C75E14E128F}"/>
                  </a:ext>
                </a:extLst>
              </p:cNvPr>
              <p:cNvSpPr/>
              <p:nvPr/>
            </p:nvSpPr>
            <p:spPr>
              <a:xfrm rot="1099238">
                <a:off x="7199638" y="1098904"/>
                <a:ext cx="1912397" cy="310109"/>
              </a:xfrm>
              <a:prstGeom prst="ellipse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364D6BB5-B905-4ADA-DE10-C41B2FCD99AE}"/>
                </a:ext>
              </a:extLst>
            </p:cNvPr>
            <p:cNvSpPr/>
            <p:nvPr/>
          </p:nvSpPr>
          <p:spPr>
            <a:xfrm rot="20007185">
              <a:off x="7040441" y="3724310"/>
              <a:ext cx="1912397" cy="386340"/>
            </a:xfrm>
            <a:prstGeom prst="ellipse">
              <a:avLst/>
            </a:prstGeom>
            <a:noFill/>
            <a:ln>
              <a:solidFill>
                <a:srgbClr val="FF0000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34FB599-18C5-DDAD-7672-3631DA8944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776" y="171450"/>
            <a:ext cx="8404225" cy="457200"/>
          </a:xfrm>
        </p:spPr>
        <p:txBody>
          <a:bodyPr/>
          <a:lstStyle/>
          <a:p>
            <a:r>
              <a:rPr lang="en-US" sz="2800">
                <a:ea typeface="ＭＳ Ｐゴシック"/>
              </a:rPr>
              <a:t>Project Progress &amp; Outlook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202A56-45BB-18DE-CFEE-C3A91C9580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8776" y="1530786"/>
            <a:ext cx="8405632" cy="3098364"/>
          </a:xfrm>
        </p:spPr>
        <p:txBody>
          <a:bodyPr/>
          <a:lstStyle/>
          <a:p>
            <a:pPr marL="0" indent="0">
              <a:buNone/>
            </a:pPr>
            <a:r>
              <a:rPr lang="tr-TR" b="1">
                <a:latin typeface="TUM Neue Helvetica 55 Regular"/>
                <a:ea typeface="ＭＳ Ｐゴシック"/>
                <a:cs typeface="Arial"/>
              </a:rPr>
              <a:t>-</a:t>
            </a:r>
            <a:r>
              <a:rPr lang="en-GB" b="1"/>
              <a:t>Activation Function Changes</a:t>
            </a:r>
            <a:endParaRPr lang="tr-TR" b="1">
              <a:latin typeface="TUM Neue Helvetica 55 Regular"/>
              <a:ea typeface="ＭＳ Ｐゴシック"/>
              <a:cs typeface="Arial"/>
            </a:endParaRPr>
          </a:p>
          <a:p>
            <a:r>
              <a:rPr lang="en-GB" sz="1400">
                <a:latin typeface="TUM Neue Helvetica 55 Regular"/>
                <a:ea typeface="ＭＳ Ｐゴシック"/>
                <a:cs typeface="Arial"/>
              </a:rPr>
              <a:t>Changed </a:t>
            </a:r>
            <a:r>
              <a:rPr lang="en-GB" sz="1400" err="1">
                <a:latin typeface="TUM Neue Helvetica 55 Regular"/>
                <a:ea typeface="ＭＳ Ｐゴシック"/>
                <a:cs typeface="Arial"/>
              </a:rPr>
              <a:t>ReLU</a:t>
            </a:r>
            <a:r>
              <a:rPr lang="en-GB" sz="1400">
                <a:latin typeface="TUM Neue Helvetica 55 Regular"/>
                <a:ea typeface="ＭＳ Ｐゴシック"/>
                <a:cs typeface="Arial"/>
              </a:rPr>
              <a:t> to Leaky </a:t>
            </a:r>
            <a:r>
              <a:rPr lang="en-GB" sz="1400" err="1">
                <a:latin typeface="TUM Neue Helvetica 55 Regular"/>
                <a:ea typeface="ＭＳ Ｐゴシック"/>
                <a:cs typeface="Arial"/>
              </a:rPr>
              <a:t>ReLU</a:t>
            </a:r>
            <a:r>
              <a:rPr lang="en-GB" sz="1400">
                <a:latin typeface="TUM Neue Helvetica 55 Regular"/>
                <a:ea typeface="ＭＳ Ｐゴシック"/>
                <a:cs typeface="Arial"/>
              </a:rPr>
              <a:t> in all layers</a:t>
            </a:r>
            <a:endParaRPr lang="tr-TR" sz="1400">
              <a:latin typeface="TUM Neue Helvetica 55 Regular"/>
              <a:ea typeface="ＭＳ Ｐゴシック"/>
              <a:cs typeface="Arial"/>
            </a:endParaRPr>
          </a:p>
          <a:p>
            <a:r>
              <a:rPr lang="en-GB" sz="1400">
                <a:latin typeface="TUM Neue Helvetica 55 Regular"/>
                <a:ea typeface="ＭＳ Ｐゴシック"/>
                <a:cs typeface="Arial"/>
              </a:rPr>
              <a:t>Still overfitting</a:t>
            </a:r>
            <a:endParaRPr lang="tr-TR" sz="1400">
              <a:latin typeface="TUM Neue Helvetica 55 Regular"/>
              <a:ea typeface="ＭＳ Ｐゴシック"/>
              <a:cs typeface="Arial"/>
            </a:endParaRPr>
          </a:p>
          <a:p>
            <a:r>
              <a:rPr lang="en-GB" sz="1400">
                <a:latin typeface="TUM Neue Helvetica 55 Regular"/>
                <a:ea typeface="ＭＳ Ｐゴシック"/>
                <a:cs typeface="Arial"/>
              </a:rPr>
              <a:t>Leaky </a:t>
            </a:r>
            <a:r>
              <a:rPr lang="en-GB" sz="1400" err="1">
                <a:latin typeface="TUM Neue Helvetica 55 Regular"/>
                <a:ea typeface="ＭＳ Ｐゴシック"/>
                <a:cs typeface="Arial"/>
              </a:rPr>
              <a:t>ReLU</a:t>
            </a:r>
            <a:r>
              <a:rPr lang="en-GB" sz="1400">
                <a:latin typeface="TUM Neue Helvetica 55 Regular"/>
                <a:ea typeface="ＭＳ Ｐゴシック"/>
                <a:cs typeface="Arial"/>
              </a:rPr>
              <a:t> helps with dying neurons, </a:t>
            </a:r>
            <a:r>
              <a:rPr lang="tr-TR" sz="1400">
                <a:latin typeface="TUM Neue Helvetica 55 Regular"/>
                <a:ea typeface="ＭＳ Ｐゴシック"/>
                <a:cs typeface="Arial"/>
              </a:rPr>
              <a:t>but it </a:t>
            </a:r>
            <a:r>
              <a:rPr lang="tr-TR" sz="1400" err="1">
                <a:latin typeface="TUM Neue Helvetica 55 Regular"/>
                <a:ea typeface="ＭＳ Ｐゴシック"/>
                <a:cs typeface="Arial"/>
              </a:rPr>
              <a:t>did</a:t>
            </a:r>
            <a:r>
              <a:rPr lang="tr-TR" sz="1400">
                <a:latin typeface="TUM Neue Helvetica 55 Regular"/>
                <a:ea typeface="ＭＳ Ｐゴシック"/>
                <a:cs typeface="Arial"/>
              </a:rPr>
              <a:t> </a:t>
            </a:r>
            <a:r>
              <a:rPr lang="en-GB" sz="1400">
                <a:latin typeface="TUM Neue Helvetica 55 Regular"/>
                <a:ea typeface="ＭＳ Ｐゴシック"/>
                <a:cs typeface="Arial"/>
              </a:rPr>
              <a:t>not fix overfitting</a:t>
            </a:r>
            <a:endParaRPr lang="tr-TR" sz="1400">
              <a:latin typeface="TUM Neue Helvetica 55 Regular"/>
              <a:ea typeface="ＭＳ Ｐゴシック"/>
              <a:cs typeface="Arial"/>
            </a:endParaRPr>
          </a:p>
          <a:p>
            <a:endParaRPr lang="tr-TR" sz="1400">
              <a:latin typeface="TUM Neue Helvetica 55 Regular"/>
              <a:ea typeface="ＭＳ Ｐゴシック"/>
              <a:cs typeface="Arial"/>
            </a:endParaRPr>
          </a:p>
          <a:p>
            <a:pPr marL="0" indent="0">
              <a:buNone/>
            </a:pPr>
            <a:r>
              <a:rPr lang="tr-TR" b="1">
                <a:ea typeface="ＭＳ Ｐゴシック"/>
                <a:cs typeface="Arial"/>
              </a:rPr>
              <a:t>-</a:t>
            </a:r>
            <a:r>
              <a:rPr lang="en-GB" b="1"/>
              <a:t>Additional Projection Layers Before Graph Convolution</a:t>
            </a:r>
            <a:endParaRPr lang="tr-TR" b="1"/>
          </a:p>
          <a:p>
            <a:r>
              <a:rPr lang="en-GB" sz="1400"/>
              <a:t>Added extra linear layers before </a:t>
            </a:r>
            <a:r>
              <a:rPr lang="en-GB" sz="1400" err="1"/>
              <a:t>GraphConv</a:t>
            </a:r>
            <a:r>
              <a:rPr lang="en-GB" sz="1400"/>
              <a:t> in F1</a:t>
            </a:r>
            <a:endParaRPr lang="tr-TR" sz="1400"/>
          </a:p>
          <a:p>
            <a:r>
              <a:rPr lang="en-GB" sz="1400"/>
              <a:t>Still overfitting</a:t>
            </a:r>
            <a:endParaRPr lang="tr-TR" sz="1400"/>
          </a:p>
          <a:p>
            <a:r>
              <a:rPr lang="en-GB" sz="1400"/>
              <a:t>More parameters increased model capacity but did not address generalization.</a:t>
            </a:r>
            <a:endParaRPr lang="tr-TR" sz="140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35119C-4563-AAFB-27F6-94D36E2998FC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A7BDDEFD-4FCF-7348-AEF1-A537DD785750}" type="datetime4">
              <a:rPr lang="en-US" smtClean="0"/>
              <a:t>April 24,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8DD199-B677-A45F-39F8-67D8D2E9C0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>
                <a:ea typeface="+mn-lt"/>
                <a:cs typeface="+mn-lt"/>
              </a:rPr>
              <a:t>MLMI </a:t>
            </a:r>
            <a:r>
              <a:rPr lang="en-US" err="1">
                <a:ea typeface="+mn-lt"/>
                <a:cs typeface="+mn-lt"/>
              </a:rPr>
              <a:t>Praktikum</a:t>
            </a:r>
            <a:r>
              <a:rPr lang="en-US">
                <a:ea typeface="+mn-lt"/>
                <a:cs typeface="+mn-lt"/>
              </a:rPr>
              <a:t> – Final Presentation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6EC438-720B-5464-AE7A-639A579DEF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</a:t>
            </a:r>
            <a:fld id="{E27654B9-2CBC-E046-9B7E-70345D26D3AC}" type="slidenum">
              <a:rPr lang="en-US" smtClean="0"/>
              <a:t>14</a:t>
            </a:fld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8A4A7FB-7750-B401-34C7-AB63E1462EE0}"/>
              </a:ext>
            </a:extLst>
          </p:cNvPr>
          <p:cNvSpPr txBox="1">
            <a:spLocks/>
          </p:cNvSpPr>
          <p:nvPr/>
        </p:nvSpPr>
        <p:spPr bwMode="auto">
          <a:xfrm>
            <a:off x="357847" y="625862"/>
            <a:ext cx="84042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33"/>
                </a:solidFill>
                <a:latin typeface="+mj-lt"/>
                <a:ea typeface="ＭＳ Ｐゴシック" charset="0"/>
                <a:cs typeface="ＭＳ Ｐゴシック" charset="0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33"/>
                </a:solidFill>
                <a:latin typeface="TUM Neue Helvetica 55 Regular" pitchFamily="34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33"/>
                </a:solidFill>
                <a:latin typeface="TUM Neue Helvetica 55 Regular" pitchFamily="34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33"/>
                </a:solidFill>
                <a:latin typeface="TUM Neue Helvetica 55 Regular" pitchFamily="34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33"/>
                </a:solidFill>
                <a:latin typeface="TUM Neue Helvetica 55 Regular" pitchFamily="34" charset="0"/>
                <a:ea typeface="ＭＳ Ｐゴシック" charset="0"/>
                <a:cs typeface="ＭＳ Ｐゴシック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33"/>
                </a:solidFill>
                <a:latin typeface="TUM Neue Helvetica 55 Regular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33"/>
                </a:solidFill>
                <a:latin typeface="TUM Neue Helvetica 55 Regular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33"/>
                </a:solidFill>
                <a:latin typeface="TUM Neue Helvetica 55 Regular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33"/>
                </a:solidFill>
                <a:latin typeface="TUM Neue Helvetica 55 Regular" pitchFamily="34" charset="0"/>
              </a:defRPr>
            </a:lvl9pPr>
          </a:lstStyle>
          <a:p>
            <a:pPr defTabSz="914400"/>
            <a:r>
              <a:rPr lang="en-US" kern="0">
                <a:solidFill>
                  <a:schemeClr val="bg2"/>
                </a:solidFill>
                <a:ea typeface="ＭＳ Ｐゴシック"/>
              </a:rPr>
              <a:t>Results &amp; Milestones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77505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0347D1-B032-6A07-9173-7B932618DD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54BB11D3-504A-4B68-2E79-1BF11E6067DF}"/>
              </a:ext>
            </a:extLst>
          </p:cNvPr>
          <p:cNvGrpSpPr/>
          <p:nvPr/>
        </p:nvGrpSpPr>
        <p:grpSpPr>
          <a:xfrm>
            <a:off x="6339795" y="44886"/>
            <a:ext cx="2934834" cy="4612029"/>
            <a:chOff x="6339795" y="44886"/>
            <a:chExt cx="2934834" cy="4612029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13B80B78-0939-E513-FF16-EC48F8E86FE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r="50000"/>
            <a:stretch/>
          </p:blipFill>
          <p:spPr>
            <a:xfrm>
              <a:off x="6339795" y="44886"/>
              <a:ext cx="2804205" cy="2319897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F987BA62-43AF-7669-43AB-9C0489EA58A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50000"/>
            <a:stretch/>
          </p:blipFill>
          <p:spPr>
            <a:xfrm>
              <a:off x="6339795" y="2337018"/>
              <a:ext cx="2804206" cy="2319897"/>
            </a:xfrm>
            <a:prstGeom prst="rect">
              <a:avLst/>
            </a:prstGeom>
          </p:spPr>
        </p:pic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FF9B3C13-6DF4-02DF-A727-C379DD561E5C}"/>
                </a:ext>
              </a:extLst>
            </p:cNvPr>
            <p:cNvSpPr/>
            <p:nvPr/>
          </p:nvSpPr>
          <p:spPr>
            <a:xfrm>
              <a:off x="6873756" y="973679"/>
              <a:ext cx="2400873" cy="470571"/>
            </a:xfrm>
            <a:prstGeom prst="ellipse">
              <a:avLst/>
            </a:prstGeom>
            <a:noFill/>
            <a:ln>
              <a:solidFill>
                <a:srgbClr val="FF0000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F2DCD9A-E82E-85E1-1601-66822ABDFA2B}"/>
                </a:ext>
              </a:extLst>
            </p:cNvPr>
            <p:cNvSpPr/>
            <p:nvPr/>
          </p:nvSpPr>
          <p:spPr>
            <a:xfrm>
              <a:off x="6856234" y="4008209"/>
              <a:ext cx="2400873" cy="470571"/>
            </a:xfrm>
            <a:prstGeom prst="ellipse">
              <a:avLst/>
            </a:prstGeom>
            <a:noFill/>
            <a:ln>
              <a:solidFill>
                <a:srgbClr val="FF0000"/>
              </a:solidFill>
              <a:prstDash val="sys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FE9DFE2-4BC5-AC10-5518-CAE127F69D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776" y="171450"/>
            <a:ext cx="8404225" cy="457200"/>
          </a:xfrm>
        </p:spPr>
        <p:txBody>
          <a:bodyPr/>
          <a:lstStyle/>
          <a:p>
            <a:r>
              <a:rPr lang="en-US" sz="2800">
                <a:ea typeface="ＭＳ Ｐゴシック"/>
              </a:rPr>
              <a:t>Project Progress &amp; Outlook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6ACF81-FF34-64A8-0DF9-92D69D124342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A7BDDEFD-4FCF-7348-AEF1-A537DD785750}" type="datetime4">
              <a:rPr lang="en-US" smtClean="0"/>
              <a:t>April 24,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FD50EB-16E7-BADE-148E-2B5AFAD279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>
                <a:ea typeface="+mn-lt"/>
                <a:cs typeface="+mn-lt"/>
              </a:rPr>
              <a:t>MLMI </a:t>
            </a:r>
            <a:r>
              <a:rPr lang="en-US" err="1">
                <a:ea typeface="+mn-lt"/>
                <a:cs typeface="+mn-lt"/>
              </a:rPr>
              <a:t>Praktikum</a:t>
            </a:r>
            <a:r>
              <a:rPr lang="en-US">
                <a:ea typeface="+mn-lt"/>
                <a:cs typeface="+mn-lt"/>
              </a:rPr>
              <a:t> – Final Presentation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49F24E-D51F-93B3-7F41-B0B02C4842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</a:t>
            </a:r>
            <a:fld id="{E27654B9-2CBC-E046-9B7E-70345D26D3AC}" type="slidenum">
              <a:rPr lang="en-US" smtClean="0"/>
              <a:t>15</a:t>
            </a:fld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DB7CC30-29D6-6133-5754-4646688FFFF1}"/>
              </a:ext>
            </a:extLst>
          </p:cNvPr>
          <p:cNvSpPr txBox="1">
            <a:spLocks/>
          </p:cNvSpPr>
          <p:nvPr/>
        </p:nvSpPr>
        <p:spPr bwMode="auto">
          <a:xfrm>
            <a:off x="357847" y="625862"/>
            <a:ext cx="84042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33"/>
                </a:solidFill>
                <a:latin typeface="+mj-lt"/>
                <a:ea typeface="ＭＳ Ｐゴシック" charset="0"/>
                <a:cs typeface="ＭＳ Ｐゴシック" charset="0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33"/>
                </a:solidFill>
                <a:latin typeface="TUM Neue Helvetica 55 Regular" pitchFamily="34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33"/>
                </a:solidFill>
                <a:latin typeface="TUM Neue Helvetica 55 Regular" pitchFamily="34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33"/>
                </a:solidFill>
                <a:latin typeface="TUM Neue Helvetica 55 Regular" pitchFamily="34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33"/>
                </a:solidFill>
                <a:latin typeface="TUM Neue Helvetica 55 Regular" pitchFamily="34" charset="0"/>
                <a:ea typeface="ＭＳ Ｐゴシック" charset="0"/>
                <a:cs typeface="ＭＳ Ｐゴシック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33"/>
                </a:solidFill>
                <a:latin typeface="TUM Neue Helvetica 55 Regular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33"/>
                </a:solidFill>
                <a:latin typeface="TUM Neue Helvetica 55 Regular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33"/>
                </a:solidFill>
                <a:latin typeface="TUM Neue Helvetica 55 Regular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33"/>
                </a:solidFill>
                <a:latin typeface="TUM Neue Helvetica 55 Regular" pitchFamily="34" charset="0"/>
              </a:defRPr>
            </a:lvl9pPr>
          </a:lstStyle>
          <a:p>
            <a:pPr defTabSz="914400"/>
            <a:r>
              <a:rPr lang="en-US" kern="0">
                <a:solidFill>
                  <a:schemeClr val="bg2"/>
                </a:solidFill>
                <a:ea typeface="ＭＳ Ｐゴシック"/>
              </a:rPr>
              <a:t>Results &amp; Milestones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A7B767-F3A3-47C5-C990-1743008D6D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8776" y="1530786"/>
            <a:ext cx="8405632" cy="3098364"/>
          </a:xfrm>
        </p:spPr>
        <p:txBody>
          <a:bodyPr/>
          <a:lstStyle/>
          <a:p>
            <a:pPr marL="0" indent="0">
              <a:buNone/>
            </a:pPr>
            <a:r>
              <a:rPr lang="tr-TR" b="1">
                <a:latin typeface="TUM Neue Helvetica 55 Regular"/>
                <a:ea typeface="ＭＳ Ｐゴシック"/>
                <a:cs typeface="Arial"/>
              </a:rPr>
              <a:t>-</a:t>
            </a:r>
            <a:r>
              <a:rPr lang="en-GB" b="1"/>
              <a:t>Adding Layer Norm &amp; Dropout</a:t>
            </a:r>
          </a:p>
          <a:p>
            <a:r>
              <a:rPr lang="tr-TR" sz="1400" err="1">
                <a:latin typeface="TUM Neue Helvetica 55 Regular"/>
                <a:ea typeface="ＭＳ Ｐゴシック"/>
                <a:cs typeface="Arial"/>
              </a:rPr>
              <a:t>Introduced</a:t>
            </a:r>
            <a:r>
              <a:rPr lang="tr-TR" sz="1400">
                <a:latin typeface="TUM Neue Helvetica 55 Regular"/>
                <a:ea typeface="ＭＳ Ｐゴシック"/>
                <a:cs typeface="Arial"/>
              </a:rPr>
              <a:t> </a:t>
            </a:r>
            <a:r>
              <a:rPr lang="en-GB" sz="1400">
                <a:latin typeface="TUM Neue Helvetica 55 Regular"/>
                <a:ea typeface="ＭＳ Ｐゴシック"/>
                <a:cs typeface="Arial"/>
              </a:rPr>
              <a:t>Layer Normalization and Dropout.</a:t>
            </a:r>
            <a:endParaRPr lang="tr-TR" sz="1400">
              <a:latin typeface="TUM Neue Helvetica 55 Regular"/>
              <a:ea typeface="ＭＳ Ｐゴシック"/>
              <a:cs typeface="Arial"/>
            </a:endParaRPr>
          </a:p>
          <a:p>
            <a:r>
              <a:rPr lang="en-GB" sz="1400">
                <a:latin typeface="TUM Neue Helvetica 55 Regular"/>
                <a:ea typeface="ＭＳ Ｐゴシック"/>
                <a:cs typeface="Arial"/>
              </a:rPr>
              <a:t>Still overfitting, but slightly better.</a:t>
            </a:r>
            <a:endParaRPr lang="tr-TR" sz="1400">
              <a:latin typeface="TUM Neue Helvetica 55 Regular"/>
              <a:ea typeface="ＭＳ Ｐゴシック"/>
              <a:cs typeface="Arial"/>
            </a:endParaRPr>
          </a:p>
          <a:p>
            <a:r>
              <a:rPr lang="en-GB" sz="1400">
                <a:latin typeface="TUM Neue Helvetica 55 Regular"/>
                <a:ea typeface="ＭＳ Ｐゴシック"/>
                <a:cs typeface="Arial"/>
              </a:rPr>
              <a:t>Dropout prevents some overfitting but is not enough when the model is still learning correlations.</a:t>
            </a:r>
            <a:endParaRPr lang="tr-TR" sz="1400">
              <a:latin typeface="TUM Neue Helvetica 55 Regular"/>
              <a:ea typeface="ＭＳ Ｐゴシック"/>
              <a:cs typeface="Arial"/>
            </a:endParaRPr>
          </a:p>
          <a:p>
            <a:pPr marL="0" indent="0">
              <a:buNone/>
            </a:pPr>
            <a:endParaRPr lang="tr-TR" b="1">
              <a:ea typeface="ＭＳ Ｐゴシック"/>
              <a:cs typeface="Arial"/>
            </a:endParaRPr>
          </a:p>
          <a:p>
            <a:pPr marL="0" indent="0">
              <a:buNone/>
            </a:pPr>
            <a:r>
              <a:rPr lang="tr-TR" b="1">
                <a:ea typeface="ＭＳ Ｐゴシック"/>
                <a:cs typeface="Arial"/>
              </a:rPr>
              <a:t>-</a:t>
            </a:r>
            <a:r>
              <a:rPr lang="en-GB"/>
              <a:t> </a:t>
            </a:r>
            <a:r>
              <a:rPr lang="en-GB" b="1"/>
              <a:t>Introducing </a:t>
            </a:r>
            <a:r>
              <a:rPr lang="en-GB" b="1" err="1"/>
              <a:t>GATConv</a:t>
            </a:r>
            <a:endParaRPr lang="tr-TR" b="1"/>
          </a:p>
          <a:p>
            <a:r>
              <a:rPr lang="en-GB" sz="1400"/>
              <a:t>Added </a:t>
            </a:r>
            <a:r>
              <a:rPr lang="en-GB" sz="1400" err="1"/>
              <a:t>GATConv</a:t>
            </a:r>
            <a:r>
              <a:rPr lang="en-GB" sz="1400"/>
              <a:t> (Graph Attention) instead of basic </a:t>
            </a:r>
            <a:r>
              <a:rPr lang="en-GB" sz="1400" err="1"/>
              <a:t>GraphConv</a:t>
            </a:r>
            <a:r>
              <a:rPr lang="en-GB" sz="1400"/>
              <a:t> layers.</a:t>
            </a:r>
            <a:endParaRPr lang="tr-TR" sz="1400"/>
          </a:p>
          <a:p>
            <a:r>
              <a:rPr lang="en-GB" sz="1400"/>
              <a:t>Overfitting decreased, but training loss stabilized.</a:t>
            </a:r>
            <a:endParaRPr lang="tr-TR" sz="1400"/>
          </a:p>
          <a:p>
            <a:r>
              <a:rPr lang="en-GB" sz="1400"/>
              <a:t>Attention mechanisms selectively weight node </a:t>
            </a:r>
            <a:r>
              <a:rPr lang="en-GB" sz="1400" err="1"/>
              <a:t>neighbo</a:t>
            </a:r>
            <a:r>
              <a:rPr lang="tr-TR" sz="1400"/>
              <a:t>u</a:t>
            </a:r>
            <a:r>
              <a:rPr lang="en-GB" sz="1400" err="1"/>
              <a:t>rs</a:t>
            </a:r>
            <a:endParaRPr lang="tr-TR" sz="1400"/>
          </a:p>
          <a:p>
            <a:r>
              <a:rPr lang="en-GB" sz="1400"/>
              <a:t>Helped reduce overfitting but did not improve training loss</a:t>
            </a:r>
            <a:endParaRPr lang="tr-TR" sz="1400"/>
          </a:p>
          <a:p>
            <a:r>
              <a:rPr lang="tr-TR" sz="1400"/>
              <a:t>T</a:t>
            </a:r>
            <a:r>
              <a:rPr lang="en-GB" sz="1400"/>
              <a:t>he model still ha</a:t>
            </a:r>
            <a:r>
              <a:rPr lang="tr-TR" sz="1400"/>
              <a:t>s</a:t>
            </a:r>
            <a:r>
              <a:rPr lang="en-GB" sz="1400"/>
              <a:t> poor regularization.</a:t>
            </a:r>
            <a:endParaRPr lang="tr-TR" sz="1400"/>
          </a:p>
        </p:txBody>
      </p:sp>
    </p:spTree>
    <p:extLst>
      <p:ext uri="{BB962C8B-B14F-4D97-AF65-F5344CB8AC3E}">
        <p14:creationId xmlns:p14="http://schemas.microsoft.com/office/powerpoint/2010/main" val="39320070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71347F-9A1F-B21D-1CAF-7B87C0879F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6FE72-AF29-B0A7-3B7E-030F292F5E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776" y="171450"/>
            <a:ext cx="8404225" cy="457200"/>
          </a:xfrm>
        </p:spPr>
        <p:txBody>
          <a:bodyPr/>
          <a:lstStyle/>
          <a:p>
            <a:r>
              <a:rPr lang="en-US" sz="2800">
                <a:ea typeface="ＭＳ Ｐゴシック"/>
              </a:rPr>
              <a:t>Project Progress &amp; Outlook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970686-1CF1-EBBD-B139-833E503D5190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A7BDDEFD-4FCF-7348-AEF1-A537DD785750}" type="datetime4">
              <a:rPr lang="en-US" smtClean="0"/>
              <a:t>April 24,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A4D323-7FC6-955F-B444-28316B8D6A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>
                <a:ea typeface="+mn-lt"/>
                <a:cs typeface="+mn-lt"/>
              </a:rPr>
              <a:t>MLMI </a:t>
            </a:r>
            <a:r>
              <a:rPr lang="en-US" err="1">
                <a:ea typeface="+mn-lt"/>
                <a:cs typeface="+mn-lt"/>
              </a:rPr>
              <a:t>Praktikum</a:t>
            </a:r>
            <a:r>
              <a:rPr lang="en-US">
                <a:ea typeface="+mn-lt"/>
                <a:cs typeface="+mn-lt"/>
              </a:rPr>
              <a:t> – Final Presentation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47CE19-6759-EA81-EEED-BEF76B23FB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</a:t>
            </a:r>
            <a:fld id="{E27654B9-2CBC-E046-9B7E-70345D26D3AC}" type="slidenum">
              <a:rPr lang="en-US" smtClean="0"/>
              <a:t>16</a:t>
            </a:fld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82C2150-FAE4-BE3E-D621-5C3652759560}"/>
              </a:ext>
            </a:extLst>
          </p:cNvPr>
          <p:cNvSpPr txBox="1">
            <a:spLocks/>
          </p:cNvSpPr>
          <p:nvPr/>
        </p:nvSpPr>
        <p:spPr bwMode="auto">
          <a:xfrm>
            <a:off x="357847" y="625862"/>
            <a:ext cx="84042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33"/>
                </a:solidFill>
                <a:latin typeface="+mj-lt"/>
                <a:ea typeface="ＭＳ Ｐゴシック" charset="0"/>
                <a:cs typeface="ＭＳ Ｐゴシック" charset="0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33"/>
                </a:solidFill>
                <a:latin typeface="TUM Neue Helvetica 55 Regular" pitchFamily="34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33"/>
                </a:solidFill>
                <a:latin typeface="TUM Neue Helvetica 55 Regular" pitchFamily="34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33"/>
                </a:solidFill>
                <a:latin typeface="TUM Neue Helvetica 55 Regular" pitchFamily="34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33"/>
                </a:solidFill>
                <a:latin typeface="TUM Neue Helvetica 55 Regular" pitchFamily="34" charset="0"/>
                <a:ea typeface="ＭＳ Ｐゴシック" charset="0"/>
                <a:cs typeface="ＭＳ Ｐゴシック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33"/>
                </a:solidFill>
                <a:latin typeface="TUM Neue Helvetica 55 Regular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33"/>
                </a:solidFill>
                <a:latin typeface="TUM Neue Helvetica 55 Regular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33"/>
                </a:solidFill>
                <a:latin typeface="TUM Neue Helvetica 55 Regular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33"/>
                </a:solidFill>
                <a:latin typeface="TUM Neue Helvetica 55 Regular" pitchFamily="34" charset="0"/>
              </a:defRPr>
            </a:lvl9pPr>
          </a:lstStyle>
          <a:p>
            <a:pPr defTabSz="914400"/>
            <a:r>
              <a:rPr lang="en-US" kern="0">
                <a:solidFill>
                  <a:schemeClr val="bg2"/>
                </a:solidFill>
                <a:ea typeface="ＭＳ Ｐゴシック"/>
              </a:rPr>
              <a:t>Results &amp; Milestones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942353-3439-7AD3-1D63-5CE5FB37F2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8776" y="1530786"/>
            <a:ext cx="8405632" cy="3098364"/>
          </a:xfrm>
        </p:spPr>
        <p:txBody>
          <a:bodyPr/>
          <a:lstStyle/>
          <a:p>
            <a:pPr marL="0" indent="0">
              <a:buNone/>
            </a:pPr>
            <a:r>
              <a:rPr lang="tr-TR" b="1">
                <a:latin typeface="TUM Neue Helvetica 55 Regular"/>
                <a:ea typeface="ＭＳ Ｐゴシック"/>
                <a:cs typeface="Arial"/>
              </a:rPr>
              <a:t>-</a:t>
            </a:r>
            <a:r>
              <a:rPr lang="en-GB" b="1"/>
              <a:t>Contrastive Learning with CLIP Loss</a:t>
            </a:r>
            <a:endParaRPr lang="tr-TR" b="1"/>
          </a:p>
          <a:p>
            <a:r>
              <a:rPr lang="tr-TR" sz="1400" err="1"/>
              <a:t>Implemented</a:t>
            </a:r>
            <a:r>
              <a:rPr lang="tr-TR" sz="1400"/>
              <a:t> </a:t>
            </a:r>
            <a:r>
              <a:rPr lang="tr-TR" sz="1400" err="1"/>
              <a:t>contrastive</a:t>
            </a:r>
            <a:r>
              <a:rPr lang="tr-TR" sz="1400"/>
              <a:t> CLIP </a:t>
            </a:r>
            <a:r>
              <a:rPr lang="tr-TR" sz="1400" err="1"/>
              <a:t>loss</a:t>
            </a:r>
            <a:r>
              <a:rPr lang="tr-TR" sz="1400"/>
              <a:t>. Total </a:t>
            </a:r>
            <a:r>
              <a:rPr lang="tr-TR" sz="1400" err="1"/>
              <a:t>loss</a:t>
            </a:r>
            <a:r>
              <a:rPr lang="tr-TR" sz="1400"/>
              <a:t> = CLIP </a:t>
            </a:r>
            <a:r>
              <a:rPr lang="tr-TR" sz="1400" err="1"/>
              <a:t>loss+CE</a:t>
            </a:r>
            <a:r>
              <a:rPr lang="tr-TR" sz="1400"/>
              <a:t> </a:t>
            </a:r>
            <a:r>
              <a:rPr lang="tr-TR" sz="1400" err="1"/>
              <a:t>loss</a:t>
            </a:r>
            <a:endParaRPr lang="tr-TR" sz="1400"/>
          </a:p>
          <a:p>
            <a:r>
              <a:rPr lang="tr-TR" sz="1400" err="1"/>
              <a:t>Validation</a:t>
            </a:r>
            <a:r>
              <a:rPr lang="tr-TR" sz="1400"/>
              <a:t> </a:t>
            </a:r>
            <a:r>
              <a:rPr lang="tr-TR" sz="1400" err="1"/>
              <a:t>loss</a:t>
            </a:r>
            <a:r>
              <a:rPr lang="tr-TR" sz="1400"/>
              <a:t> </a:t>
            </a:r>
            <a:r>
              <a:rPr lang="tr-TR" sz="1400" err="1"/>
              <a:t>stabilized</a:t>
            </a:r>
            <a:r>
              <a:rPr lang="tr-TR" sz="1400"/>
              <a:t>,  </a:t>
            </a:r>
            <a:r>
              <a:rPr lang="tr-TR" sz="1400" err="1"/>
              <a:t>training</a:t>
            </a:r>
            <a:r>
              <a:rPr lang="tr-TR" sz="1400"/>
              <a:t> </a:t>
            </a:r>
            <a:r>
              <a:rPr lang="tr-TR" sz="1400" err="1"/>
              <a:t>became</a:t>
            </a:r>
            <a:r>
              <a:rPr lang="tr-TR" sz="1400"/>
              <a:t> </a:t>
            </a:r>
            <a:r>
              <a:rPr lang="tr-TR" sz="1400" err="1"/>
              <a:t>very</a:t>
            </a:r>
            <a:r>
              <a:rPr lang="tr-TR" sz="1400"/>
              <a:t> </a:t>
            </a:r>
            <a:r>
              <a:rPr lang="tr-TR" sz="1400" err="1"/>
              <a:t>slow</a:t>
            </a:r>
            <a:endParaRPr lang="tr-TR" sz="1400"/>
          </a:p>
          <a:p>
            <a:r>
              <a:rPr lang="tr-TR" sz="1400" err="1"/>
              <a:t>Forced</a:t>
            </a:r>
            <a:r>
              <a:rPr lang="tr-TR" sz="1400"/>
              <a:t> </a:t>
            </a:r>
            <a:r>
              <a:rPr lang="tr-TR" sz="1400" err="1"/>
              <a:t>similar</a:t>
            </a:r>
            <a:r>
              <a:rPr lang="tr-TR" sz="1400"/>
              <a:t> </a:t>
            </a:r>
            <a:r>
              <a:rPr lang="tr-TR" sz="1400" err="1"/>
              <a:t>nodes</a:t>
            </a:r>
            <a:r>
              <a:rPr lang="tr-TR" sz="1400"/>
              <a:t> </a:t>
            </a:r>
            <a:r>
              <a:rPr lang="tr-TR" sz="1400" err="1"/>
              <a:t>closer</a:t>
            </a:r>
            <a:r>
              <a:rPr lang="tr-TR" sz="1400"/>
              <a:t> </a:t>
            </a:r>
            <a:r>
              <a:rPr lang="tr-TR" sz="1400" err="1"/>
              <a:t>and</a:t>
            </a:r>
            <a:r>
              <a:rPr lang="tr-TR" sz="1400"/>
              <a:t> </a:t>
            </a:r>
            <a:r>
              <a:rPr lang="tr-TR" sz="1400" err="1"/>
              <a:t>dissimilar</a:t>
            </a:r>
            <a:r>
              <a:rPr lang="tr-TR" sz="1400"/>
              <a:t> </a:t>
            </a:r>
            <a:r>
              <a:rPr lang="tr-TR" sz="1400" err="1"/>
              <a:t>ones</a:t>
            </a:r>
            <a:r>
              <a:rPr lang="tr-TR" sz="1400"/>
              <a:t> apart</a:t>
            </a:r>
          </a:p>
          <a:p>
            <a:r>
              <a:rPr lang="tr-TR" sz="1400" err="1"/>
              <a:t>Helped</a:t>
            </a:r>
            <a:r>
              <a:rPr lang="tr-TR" sz="1400"/>
              <a:t> </a:t>
            </a:r>
            <a:r>
              <a:rPr lang="tr-TR" sz="1400" err="1"/>
              <a:t>regularize</a:t>
            </a:r>
            <a:r>
              <a:rPr lang="tr-TR" sz="1400"/>
              <a:t> </a:t>
            </a:r>
            <a:r>
              <a:rPr lang="tr-TR" sz="1400" err="1"/>
              <a:t>embeddings</a:t>
            </a:r>
            <a:r>
              <a:rPr lang="tr-TR" sz="1400"/>
              <a:t>, but it </a:t>
            </a:r>
            <a:r>
              <a:rPr lang="tr-TR" sz="1400" err="1"/>
              <a:t>needs</a:t>
            </a:r>
            <a:r>
              <a:rPr lang="tr-TR" sz="1400"/>
              <a:t> </a:t>
            </a:r>
            <a:r>
              <a:rPr lang="tr-TR" sz="1400" err="1"/>
              <a:t>tuning</a:t>
            </a:r>
            <a:r>
              <a:rPr lang="tr-TR" sz="1400"/>
              <a:t> </a:t>
            </a:r>
            <a:r>
              <a:rPr lang="tr-TR" sz="1400" err="1"/>
              <a:t>for</a:t>
            </a:r>
            <a:r>
              <a:rPr lang="tr-TR" sz="1400"/>
              <a:t> </a:t>
            </a:r>
            <a:r>
              <a:rPr lang="tr-TR" sz="1400" err="1"/>
              <a:t>better</a:t>
            </a:r>
            <a:r>
              <a:rPr lang="tr-TR" sz="1400"/>
              <a:t> </a:t>
            </a:r>
            <a:r>
              <a:rPr lang="tr-TR" sz="1400" err="1"/>
              <a:t>optimization</a:t>
            </a:r>
            <a:endParaRPr lang="tr-TR" sz="1400"/>
          </a:p>
          <a:p>
            <a:pPr marL="0" indent="0">
              <a:buNone/>
            </a:pPr>
            <a:r>
              <a:rPr lang="tr-TR" b="1"/>
              <a:t>-</a:t>
            </a:r>
            <a:r>
              <a:rPr lang="tr-TR" b="1" err="1"/>
              <a:t>Key</a:t>
            </a:r>
            <a:r>
              <a:rPr lang="tr-TR" b="1"/>
              <a:t> </a:t>
            </a:r>
            <a:r>
              <a:rPr lang="tr-TR" b="1" err="1"/>
              <a:t>issues</a:t>
            </a:r>
            <a:r>
              <a:rPr lang="tr-TR" b="1"/>
              <a:t> </a:t>
            </a:r>
            <a:r>
              <a:rPr lang="tr-TR" b="1" err="1"/>
              <a:t>and</a:t>
            </a:r>
            <a:r>
              <a:rPr lang="tr-TR" b="1"/>
              <a:t> </a:t>
            </a:r>
            <a:r>
              <a:rPr lang="tr-TR" b="1" err="1"/>
              <a:t>future</a:t>
            </a:r>
            <a:r>
              <a:rPr lang="tr-TR" b="1"/>
              <a:t> </a:t>
            </a:r>
            <a:r>
              <a:rPr lang="tr-TR" b="1" err="1"/>
              <a:t>improvements</a:t>
            </a:r>
            <a:endParaRPr lang="tr-TR" b="1"/>
          </a:p>
          <a:p>
            <a:r>
              <a:rPr lang="en-GB" sz="1400"/>
              <a:t>Too many parameters</a:t>
            </a:r>
            <a:endParaRPr lang="tr-TR" sz="1400"/>
          </a:p>
          <a:p>
            <a:r>
              <a:rPr lang="en-GB" sz="1400"/>
              <a:t>Insufficient</a:t>
            </a:r>
            <a:r>
              <a:rPr lang="tr-TR" sz="1400"/>
              <a:t> </a:t>
            </a:r>
            <a:r>
              <a:rPr lang="tr-TR" sz="1400" err="1"/>
              <a:t>regularization</a:t>
            </a:r>
            <a:endParaRPr lang="tr-TR" sz="1400"/>
          </a:p>
          <a:p>
            <a:r>
              <a:rPr lang="en-GB" sz="1400"/>
              <a:t>Graph structure complexity </a:t>
            </a:r>
            <a:endParaRPr lang="tr-TR" sz="1400"/>
          </a:p>
          <a:p>
            <a:r>
              <a:rPr lang="en-GB" sz="1400">
                <a:solidFill>
                  <a:srgbClr val="008000"/>
                </a:solidFill>
              </a:rPr>
              <a:t>Graph </a:t>
            </a:r>
            <a:r>
              <a:rPr lang="tr-TR" sz="1400">
                <a:solidFill>
                  <a:srgbClr val="008000"/>
                </a:solidFill>
              </a:rPr>
              <a:t>a</a:t>
            </a:r>
            <a:r>
              <a:rPr lang="en-GB" sz="1400" err="1">
                <a:solidFill>
                  <a:srgbClr val="008000"/>
                </a:solidFill>
              </a:rPr>
              <a:t>ugmentation</a:t>
            </a:r>
            <a:r>
              <a:rPr lang="tr-TR" sz="1400">
                <a:solidFill>
                  <a:srgbClr val="008000"/>
                </a:solidFill>
              </a:rPr>
              <a:t> – </a:t>
            </a:r>
            <a:r>
              <a:rPr lang="tr-TR" sz="1400" err="1">
                <a:solidFill>
                  <a:srgbClr val="008000"/>
                </a:solidFill>
              </a:rPr>
              <a:t>edge</a:t>
            </a:r>
            <a:r>
              <a:rPr lang="tr-TR" sz="1400">
                <a:solidFill>
                  <a:srgbClr val="008000"/>
                </a:solidFill>
              </a:rPr>
              <a:t> </a:t>
            </a:r>
            <a:r>
              <a:rPr lang="tr-TR" sz="1400" err="1">
                <a:solidFill>
                  <a:srgbClr val="008000"/>
                </a:solidFill>
              </a:rPr>
              <a:t>dropout</a:t>
            </a:r>
            <a:r>
              <a:rPr lang="tr-TR" sz="1400">
                <a:solidFill>
                  <a:srgbClr val="008000"/>
                </a:solidFill>
              </a:rPr>
              <a:t> </a:t>
            </a:r>
            <a:r>
              <a:rPr lang="tr-TR" sz="1400" err="1">
                <a:solidFill>
                  <a:srgbClr val="008000"/>
                </a:solidFill>
              </a:rPr>
              <a:t>and</a:t>
            </a:r>
            <a:r>
              <a:rPr lang="tr-TR" sz="1400">
                <a:solidFill>
                  <a:srgbClr val="008000"/>
                </a:solidFill>
              </a:rPr>
              <a:t> </a:t>
            </a:r>
            <a:r>
              <a:rPr lang="tr-TR" sz="1400" err="1">
                <a:solidFill>
                  <a:srgbClr val="008000"/>
                </a:solidFill>
              </a:rPr>
              <a:t>node</a:t>
            </a:r>
            <a:r>
              <a:rPr lang="tr-TR" sz="1400">
                <a:solidFill>
                  <a:srgbClr val="008000"/>
                </a:solidFill>
              </a:rPr>
              <a:t> </a:t>
            </a:r>
            <a:r>
              <a:rPr lang="tr-TR" sz="1400" err="1">
                <a:solidFill>
                  <a:srgbClr val="008000"/>
                </a:solidFill>
              </a:rPr>
              <a:t>masking</a:t>
            </a:r>
            <a:endParaRPr lang="tr-TR" sz="1400">
              <a:solidFill>
                <a:srgbClr val="008000"/>
              </a:solidFill>
            </a:endParaRPr>
          </a:p>
          <a:p>
            <a:r>
              <a:rPr lang="tr-TR" sz="1400">
                <a:solidFill>
                  <a:srgbClr val="008000"/>
                </a:solidFill>
              </a:rPr>
              <a:t> </a:t>
            </a:r>
            <a:r>
              <a:rPr lang="tr-TR" sz="1400" err="1">
                <a:solidFill>
                  <a:srgbClr val="008000"/>
                </a:solidFill>
              </a:rPr>
              <a:t>Applying</a:t>
            </a:r>
            <a:r>
              <a:rPr lang="tr-TR" sz="1400">
                <a:solidFill>
                  <a:srgbClr val="008000"/>
                </a:solidFill>
              </a:rPr>
              <a:t> </a:t>
            </a:r>
            <a:r>
              <a:rPr lang="tr-TR" sz="1400" err="1">
                <a:solidFill>
                  <a:srgbClr val="008000"/>
                </a:solidFill>
              </a:rPr>
              <a:t>contrastive</a:t>
            </a:r>
            <a:r>
              <a:rPr lang="tr-TR" sz="1400">
                <a:solidFill>
                  <a:srgbClr val="008000"/>
                </a:solidFill>
              </a:rPr>
              <a:t> </a:t>
            </a:r>
            <a:r>
              <a:rPr lang="tr-TR" sz="1400" err="1">
                <a:solidFill>
                  <a:srgbClr val="008000"/>
                </a:solidFill>
              </a:rPr>
              <a:t>learning</a:t>
            </a:r>
            <a:r>
              <a:rPr lang="tr-TR" sz="1400">
                <a:solidFill>
                  <a:srgbClr val="008000"/>
                </a:solidFill>
              </a:rPr>
              <a:t> in </a:t>
            </a:r>
            <a:r>
              <a:rPr lang="tr-TR" sz="1400" err="1">
                <a:solidFill>
                  <a:srgbClr val="008000"/>
                </a:solidFill>
              </a:rPr>
              <a:t>the</a:t>
            </a:r>
            <a:r>
              <a:rPr lang="tr-TR" sz="1400">
                <a:solidFill>
                  <a:srgbClr val="008000"/>
                </a:solidFill>
              </a:rPr>
              <a:t> </a:t>
            </a:r>
            <a:r>
              <a:rPr lang="tr-TR" sz="1400" err="1">
                <a:solidFill>
                  <a:srgbClr val="008000"/>
                </a:solidFill>
              </a:rPr>
              <a:t>first</a:t>
            </a:r>
            <a:r>
              <a:rPr lang="tr-TR" sz="1400">
                <a:solidFill>
                  <a:srgbClr val="008000"/>
                </a:solidFill>
              </a:rPr>
              <a:t> </a:t>
            </a:r>
            <a:r>
              <a:rPr lang="tr-TR" sz="1400" err="1">
                <a:solidFill>
                  <a:srgbClr val="008000"/>
                </a:solidFill>
              </a:rPr>
              <a:t>projection</a:t>
            </a:r>
            <a:r>
              <a:rPr lang="tr-TR" sz="1400">
                <a:solidFill>
                  <a:srgbClr val="008000"/>
                </a:solidFill>
              </a:rPr>
              <a:t> </a:t>
            </a:r>
            <a:r>
              <a:rPr lang="tr-TR" sz="1400" err="1">
                <a:solidFill>
                  <a:srgbClr val="008000"/>
                </a:solidFill>
              </a:rPr>
              <a:t>layers</a:t>
            </a:r>
            <a:endParaRPr lang="tr-TR" sz="1400">
              <a:solidFill>
                <a:srgbClr val="008000"/>
              </a:solidFill>
            </a:endParaRPr>
          </a:p>
          <a:p>
            <a:r>
              <a:rPr lang="tr-TR" sz="1400">
                <a:solidFill>
                  <a:srgbClr val="008000"/>
                </a:solidFill>
              </a:rPr>
              <a:t>Optimal </a:t>
            </a:r>
            <a:r>
              <a:rPr lang="tr-TR" sz="1400" err="1">
                <a:solidFill>
                  <a:srgbClr val="008000"/>
                </a:solidFill>
              </a:rPr>
              <a:t>loss</a:t>
            </a:r>
            <a:r>
              <a:rPr lang="tr-TR" sz="1400">
                <a:solidFill>
                  <a:srgbClr val="008000"/>
                </a:solidFill>
              </a:rPr>
              <a:t> </a:t>
            </a:r>
            <a:r>
              <a:rPr lang="tr-TR" sz="1400" err="1">
                <a:solidFill>
                  <a:srgbClr val="008000"/>
                </a:solidFill>
              </a:rPr>
              <a:t>scheduling</a:t>
            </a:r>
            <a:endParaRPr lang="tr-TR" sz="1400">
              <a:solidFill>
                <a:srgbClr val="008000"/>
              </a:solidFill>
            </a:endParaRPr>
          </a:p>
          <a:p>
            <a:endParaRPr lang="tr-TR" sz="1400" b="1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084B7980-06C9-4DE7-B9B0-0A7404D3B31C}"/>
              </a:ext>
            </a:extLst>
          </p:cNvPr>
          <p:cNvGrpSpPr/>
          <p:nvPr/>
        </p:nvGrpSpPr>
        <p:grpSpPr>
          <a:xfrm>
            <a:off x="6119312" y="0"/>
            <a:ext cx="3045836" cy="4759712"/>
            <a:chOff x="6119312" y="0"/>
            <a:chExt cx="3045836" cy="4759712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64C2C3DE-91A3-87CB-9DCD-E82F1BDD3484}"/>
                </a:ext>
              </a:extLst>
            </p:cNvPr>
            <p:cNvGrpSpPr/>
            <p:nvPr/>
          </p:nvGrpSpPr>
          <p:grpSpPr>
            <a:xfrm>
              <a:off x="6224385" y="0"/>
              <a:ext cx="2940763" cy="4759712"/>
              <a:chOff x="6224385" y="0"/>
              <a:chExt cx="2940763" cy="4759712"/>
            </a:xfrm>
          </p:grpSpPr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CA06B9C8-CFF2-4E4C-3744-0DB9E22BE28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rcRect l="50732"/>
              <a:stretch/>
            </p:blipFill>
            <p:spPr>
              <a:xfrm>
                <a:off x="6224385" y="0"/>
                <a:ext cx="2919614" cy="2441219"/>
              </a:xfrm>
              <a:prstGeom prst="rect">
                <a:avLst/>
              </a:prstGeom>
            </p:spPr>
          </p:pic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27E7C199-786A-7BD5-7DBE-CC64F6EDEC3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rcRect r="50000"/>
              <a:stretch/>
            </p:blipFill>
            <p:spPr>
              <a:xfrm>
                <a:off x="6224385" y="2336800"/>
                <a:ext cx="2940763" cy="2422912"/>
              </a:xfrm>
              <a:prstGeom prst="rect">
                <a:avLst/>
              </a:prstGeom>
            </p:spPr>
          </p:pic>
        </p:grp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7738DAA4-A6E0-C9D3-491F-13EFD098BD78}"/>
                </a:ext>
              </a:extLst>
            </p:cNvPr>
            <p:cNvSpPr/>
            <p:nvPr/>
          </p:nvSpPr>
          <p:spPr>
            <a:xfrm rot="1099238">
              <a:off x="6145045" y="1015772"/>
              <a:ext cx="1478200" cy="626150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076C3EE8-BA94-EB95-DDAA-CE2430B19B00}"/>
                </a:ext>
              </a:extLst>
            </p:cNvPr>
            <p:cNvSpPr/>
            <p:nvPr/>
          </p:nvSpPr>
          <p:spPr>
            <a:xfrm rot="1099238">
              <a:off x="6119312" y="3309217"/>
              <a:ext cx="1455266" cy="995087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9547901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E0717F-6291-A8E1-8303-E71608433C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1AD74-3E20-ADE2-2874-2506C3AE45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776" y="171450"/>
            <a:ext cx="8404225" cy="457200"/>
          </a:xfrm>
        </p:spPr>
        <p:txBody>
          <a:bodyPr/>
          <a:lstStyle/>
          <a:p>
            <a:r>
              <a:rPr lang="en-US" sz="2800">
                <a:ea typeface="ＭＳ Ｐゴシック"/>
              </a:rPr>
              <a:t>Project Progress &amp; Outlook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BF367A-5B6B-03D2-0DA3-77571A2594F9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A7BDDEFD-4FCF-7348-AEF1-A537DD785750}" type="datetime4">
              <a:rPr lang="en-US" smtClean="0"/>
              <a:t>April 24,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76BF72-754A-E344-B2BE-CEBAC18A67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>
                <a:ea typeface="+mn-lt"/>
                <a:cs typeface="+mn-lt"/>
              </a:rPr>
              <a:t>MLMI </a:t>
            </a:r>
            <a:r>
              <a:rPr lang="en-US" err="1">
                <a:ea typeface="+mn-lt"/>
                <a:cs typeface="+mn-lt"/>
              </a:rPr>
              <a:t>Praktikum</a:t>
            </a:r>
            <a:r>
              <a:rPr lang="en-US">
                <a:ea typeface="+mn-lt"/>
                <a:cs typeface="+mn-lt"/>
              </a:rPr>
              <a:t> – Final Presentation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6D1963-FC7D-39E3-5AF2-0E661E57AE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</a:t>
            </a:r>
            <a:fld id="{E27654B9-2CBC-E046-9B7E-70345D26D3AC}" type="slidenum">
              <a:rPr lang="en-US" smtClean="0"/>
              <a:t>17</a:t>
            </a:fld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8051655-38DD-BBB0-B3A5-F2C989054CF4}"/>
              </a:ext>
            </a:extLst>
          </p:cNvPr>
          <p:cNvSpPr txBox="1">
            <a:spLocks/>
          </p:cNvSpPr>
          <p:nvPr/>
        </p:nvSpPr>
        <p:spPr bwMode="auto">
          <a:xfrm>
            <a:off x="357847" y="625862"/>
            <a:ext cx="84042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33"/>
                </a:solidFill>
                <a:latin typeface="+mj-lt"/>
                <a:ea typeface="ＭＳ Ｐゴシック" charset="0"/>
                <a:cs typeface="ＭＳ Ｐゴシック" charset="0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33"/>
                </a:solidFill>
                <a:latin typeface="TUM Neue Helvetica 55 Regular" pitchFamily="34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33"/>
                </a:solidFill>
                <a:latin typeface="TUM Neue Helvetica 55 Regular" pitchFamily="34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33"/>
                </a:solidFill>
                <a:latin typeface="TUM Neue Helvetica 55 Regular" pitchFamily="34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33"/>
                </a:solidFill>
                <a:latin typeface="TUM Neue Helvetica 55 Regular" pitchFamily="34" charset="0"/>
                <a:ea typeface="ＭＳ Ｐゴシック" charset="0"/>
                <a:cs typeface="ＭＳ Ｐゴシック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33"/>
                </a:solidFill>
                <a:latin typeface="TUM Neue Helvetica 55 Regular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33"/>
                </a:solidFill>
                <a:latin typeface="TUM Neue Helvetica 55 Regular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33"/>
                </a:solidFill>
                <a:latin typeface="TUM Neue Helvetica 55 Regular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33"/>
                </a:solidFill>
                <a:latin typeface="TUM Neue Helvetica 55 Regular" pitchFamily="34" charset="0"/>
              </a:defRPr>
            </a:lvl9pPr>
          </a:lstStyle>
          <a:p>
            <a:pPr defTabSz="914400"/>
            <a:r>
              <a:rPr lang="en-US" kern="0">
                <a:solidFill>
                  <a:schemeClr val="bg2"/>
                </a:solidFill>
                <a:ea typeface="ＭＳ Ｐゴシック"/>
              </a:rPr>
              <a:t>Results &amp; Milestones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18F506-B1DE-6CD7-7BEB-E27189F45C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8776" y="1530786"/>
            <a:ext cx="8405632" cy="3098364"/>
          </a:xfrm>
        </p:spPr>
        <p:txBody>
          <a:bodyPr/>
          <a:lstStyle/>
          <a:p>
            <a:pPr marL="0" indent="0">
              <a:buNone/>
            </a:pPr>
            <a:endParaRPr lang="tr-TR" b="1">
              <a:cs typeface="Arial"/>
            </a:endParaRPr>
          </a:p>
          <a:p>
            <a:endParaRPr lang="tr-TR" sz="1400" b="1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6B9BBD-E722-8665-7EC2-4C950C52A228}"/>
              </a:ext>
            </a:extLst>
          </p:cNvPr>
          <p:cNvSpPr txBox="1"/>
          <p:nvPr/>
        </p:nvSpPr>
        <p:spPr>
          <a:xfrm>
            <a:off x="482434" y="1172688"/>
            <a:ext cx="8327571" cy="8617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Calibri"/>
              <a:buChar char="-"/>
            </a:pPr>
            <a:r>
              <a:rPr lang="en-US" b="1">
                <a:solidFill>
                  <a:srgbClr val="333333"/>
                </a:solidFill>
                <a:latin typeface="TUM Neue Helvetica 55 Regular"/>
                <a:ea typeface="ＭＳ Ｐゴシック"/>
                <a:cs typeface="Arial"/>
              </a:rPr>
              <a:t>Model Capacity Test</a:t>
            </a:r>
          </a:p>
          <a:p>
            <a:pPr marL="742950" lvl="1" indent="-285750">
              <a:buFont typeface="Courier New"/>
              <a:buChar char="o"/>
            </a:pPr>
            <a:r>
              <a:rPr lang="en-US" sz="1400">
                <a:solidFill>
                  <a:srgbClr val="333333"/>
                </a:solidFill>
                <a:latin typeface="Arial"/>
                <a:ea typeface="ＭＳ Ｐゴシック"/>
                <a:cs typeface="Arial"/>
              </a:rPr>
              <a:t>100 training data, single layer projection, latent dim = 64</a:t>
            </a:r>
          </a:p>
          <a:p>
            <a:endParaRPr lang="en-US">
              <a:solidFill>
                <a:srgbClr val="000000"/>
              </a:solidFill>
              <a:ea typeface="ＭＳ Ｐゴシック"/>
            </a:endParaRPr>
          </a:p>
        </p:txBody>
      </p:sp>
      <p:pic>
        <p:nvPicPr>
          <p:cNvPr id="11" name="Picture 10" descr="A screenshot of a graph&#10;&#10;AI-generated content may be incorrect.">
            <a:extLst>
              <a:ext uri="{FF2B5EF4-FFF2-40B4-BE49-F238E27FC236}">
                <a16:creationId xmlns:a16="http://schemas.microsoft.com/office/drawing/2014/main" id="{8CB1ABD1-15B0-CF9A-5D19-6A6EBDBE62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7475" y="1739854"/>
            <a:ext cx="5306786" cy="2888432"/>
          </a:xfrm>
          <a:prstGeom prst="rect">
            <a:avLst/>
          </a:prstGeom>
        </p:spPr>
      </p:pic>
      <p:sp>
        <p:nvSpPr>
          <p:cNvPr id="23" name="Oval 22">
            <a:extLst>
              <a:ext uri="{FF2B5EF4-FFF2-40B4-BE49-F238E27FC236}">
                <a16:creationId xmlns:a16="http://schemas.microsoft.com/office/drawing/2014/main" id="{A942DA70-EE9A-B1A7-985B-3FDF1124882C}"/>
              </a:ext>
            </a:extLst>
          </p:cNvPr>
          <p:cNvSpPr/>
          <p:nvPr/>
        </p:nvSpPr>
        <p:spPr>
          <a:xfrm>
            <a:off x="2842654" y="4252847"/>
            <a:ext cx="313212" cy="28352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11585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595045-70F4-C753-D9B9-C88BF36884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027A36-1C10-884C-59AC-CE8AD9E25A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776" y="171450"/>
            <a:ext cx="8404225" cy="457200"/>
          </a:xfrm>
        </p:spPr>
        <p:txBody>
          <a:bodyPr/>
          <a:lstStyle/>
          <a:p>
            <a:r>
              <a:rPr lang="en-US" sz="2800">
                <a:ea typeface="ＭＳ Ｐゴシック"/>
              </a:rPr>
              <a:t>Project Progress &amp; Outlook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B3A0CD-8BB8-8603-F547-A6C34E984B40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A7BDDEFD-4FCF-7348-AEF1-A537DD785750}" type="datetime4">
              <a:rPr lang="en-US" smtClean="0"/>
              <a:t>April 24,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9C6E5C-1C28-763F-D77B-813E2D0F92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>
                <a:ea typeface="+mn-lt"/>
                <a:cs typeface="+mn-lt"/>
              </a:rPr>
              <a:t>MLMI </a:t>
            </a:r>
            <a:r>
              <a:rPr lang="en-US" err="1">
                <a:ea typeface="+mn-lt"/>
                <a:cs typeface="+mn-lt"/>
              </a:rPr>
              <a:t>Praktikum</a:t>
            </a:r>
            <a:r>
              <a:rPr lang="en-US">
                <a:ea typeface="+mn-lt"/>
                <a:cs typeface="+mn-lt"/>
              </a:rPr>
              <a:t> – Final Presentation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CB55E1-57C3-D8A3-6687-9F94F00CFF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</a:t>
            </a:r>
            <a:fld id="{E27654B9-2CBC-E046-9B7E-70345D26D3AC}" type="slidenum">
              <a:rPr lang="en-US" smtClean="0"/>
              <a:t>18</a:t>
            </a:fld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B139C7DD-925D-4667-B011-FF5AC3559180}"/>
              </a:ext>
            </a:extLst>
          </p:cNvPr>
          <p:cNvSpPr txBox="1">
            <a:spLocks/>
          </p:cNvSpPr>
          <p:nvPr/>
        </p:nvSpPr>
        <p:spPr bwMode="auto">
          <a:xfrm>
            <a:off x="357847" y="625862"/>
            <a:ext cx="84042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33"/>
                </a:solidFill>
                <a:latin typeface="+mj-lt"/>
                <a:ea typeface="ＭＳ Ｐゴシック" charset="0"/>
                <a:cs typeface="ＭＳ Ｐゴシック" charset="0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33"/>
                </a:solidFill>
                <a:latin typeface="TUM Neue Helvetica 55 Regular" pitchFamily="34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33"/>
                </a:solidFill>
                <a:latin typeface="TUM Neue Helvetica 55 Regular" pitchFamily="34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33"/>
                </a:solidFill>
                <a:latin typeface="TUM Neue Helvetica 55 Regular" pitchFamily="34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33"/>
                </a:solidFill>
                <a:latin typeface="TUM Neue Helvetica 55 Regular" pitchFamily="34" charset="0"/>
                <a:ea typeface="ＭＳ Ｐゴシック" charset="0"/>
                <a:cs typeface="ＭＳ Ｐゴシック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33"/>
                </a:solidFill>
                <a:latin typeface="TUM Neue Helvetica 55 Regular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33"/>
                </a:solidFill>
                <a:latin typeface="TUM Neue Helvetica 55 Regular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33"/>
                </a:solidFill>
                <a:latin typeface="TUM Neue Helvetica 55 Regular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33"/>
                </a:solidFill>
                <a:latin typeface="TUM Neue Helvetica 55 Regular" pitchFamily="34" charset="0"/>
              </a:defRPr>
            </a:lvl9pPr>
          </a:lstStyle>
          <a:p>
            <a:pPr defTabSz="914400"/>
            <a:r>
              <a:rPr lang="en-US" kern="0">
                <a:solidFill>
                  <a:schemeClr val="bg2"/>
                </a:solidFill>
                <a:ea typeface="ＭＳ Ｐゴシック"/>
              </a:rPr>
              <a:t>Results &amp; Milestones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5F2E35-E2DC-6A0F-D24A-A6B4DC26EE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8776" y="1530786"/>
            <a:ext cx="8405632" cy="3098364"/>
          </a:xfrm>
        </p:spPr>
        <p:txBody>
          <a:bodyPr/>
          <a:lstStyle/>
          <a:p>
            <a:pPr marL="0" indent="0">
              <a:buNone/>
            </a:pPr>
            <a:endParaRPr lang="tr-TR" b="1">
              <a:cs typeface="Arial"/>
            </a:endParaRPr>
          </a:p>
          <a:p>
            <a:endParaRPr lang="tr-TR" sz="1400" b="1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2D3ED8F-665E-839D-8856-9684B086D4A3}"/>
              </a:ext>
            </a:extLst>
          </p:cNvPr>
          <p:cNvSpPr txBox="1"/>
          <p:nvPr/>
        </p:nvSpPr>
        <p:spPr>
          <a:xfrm>
            <a:off x="482434" y="1172688"/>
            <a:ext cx="8327571" cy="8617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Calibri"/>
              <a:buChar char="-"/>
            </a:pPr>
            <a:r>
              <a:rPr lang="en-US" b="1">
                <a:solidFill>
                  <a:srgbClr val="333333"/>
                </a:solidFill>
                <a:latin typeface="TUM Neue Helvetica 55 Regular"/>
                <a:ea typeface="ＭＳ Ｐゴシック"/>
                <a:cs typeface="Arial"/>
              </a:rPr>
              <a:t>Model Capacity Test</a:t>
            </a:r>
          </a:p>
          <a:p>
            <a:pPr marL="742950" lvl="1" indent="-285750">
              <a:buFont typeface="Courier New"/>
              <a:buChar char="o"/>
            </a:pPr>
            <a:r>
              <a:rPr lang="en-US" sz="1400">
                <a:solidFill>
                  <a:srgbClr val="333333"/>
                </a:solidFill>
                <a:latin typeface="Arial"/>
                <a:ea typeface="ＭＳ Ｐゴシック"/>
                <a:cs typeface="Arial"/>
              </a:rPr>
              <a:t>500 training data, single layer projection, latent dim = 64</a:t>
            </a:r>
          </a:p>
          <a:p>
            <a:endParaRPr lang="en-US">
              <a:solidFill>
                <a:srgbClr val="000000"/>
              </a:solidFill>
              <a:ea typeface="ＭＳ Ｐゴシック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2EADE19-6E19-F6D0-B4BD-66F2867D29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3882" y="1738619"/>
            <a:ext cx="5543674" cy="3005948"/>
          </a:xfrm>
          <a:prstGeom prst="rect">
            <a:avLst/>
          </a:prstGeom>
        </p:spPr>
      </p:pic>
      <p:sp>
        <p:nvSpPr>
          <p:cNvPr id="16" name="Oval 15">
            <a:extLst>
              <a:ext uri="{FF2B5EF4-FFF2-40B4-BE49-F238E27FC236}">
                <a16:creationId xmlns:a16="http://schemas.microsoft.com/office/drawing/2014/main" id="{DA61BA05-5C70-9F19-CAF2-E5B5AF9D73A9}"/>
              </a:ext>
            </a:extLst>
          </p:cNvPr>
          <p:cNvSpPr/>
          <p:nvPr/>
        </p:nvSpPr>
        <p:spPr>
          <a:xfrm>
            <a:off x="3897209" y="4385825"/>
            <a:ext cx="411555" cy="30764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7348DA3D-C1F0-666F-0A2F-F7A685D8DD0D}"/>
              </a:ext>
            </a:extLst>
          </p:cNvPr>
          <p:cNvSpPr/>
          <p:nvPr/>
        </p:nvSpPr>
        <p:spPr>
          <a:xfrm>
            <a:off x="4483553" y="3428377"/>
            <a:ext cx="315068" cy="27795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7CCE4F2D-CA69-F154-2412-BB556B0702CA}"/>
              </a:ext>
            </a:extLst>
          </p:cNvPr>
          <p:cNvSpPr/>
          <p:nvPr/>
        </p:nvSpPr>
        <p:spPr>
          <a:xfrm>
            <a:off x="6693541" y="4357416"/>
            <a:ext cx="315068" cy="27795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49109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C1F3E4-5036-AA35-2FE6-DB24651428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19180F-105E-371E-3C38-4F2B79A9BA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776" y="171450"/>
            <a:ext cx="8404225" cy="457200"/>
          </a:xfrm>
        </p:spPr>
        <p:txBody>
          <a:bodyPr/>
          <a:lstStyle/>
          <a:p>
            <a:r>
              <a:rPr lang="en-US" sz="2800">
                <a:ea typeface="ＭＳ Ｐゴシック"/>
              </a:rPr>
              <a:t>Project Progress &amp; Outlook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C7AEA5-D340-98EC-988D-CCA9E600C2F4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A7BDDEFD-4FCF-7348-AEF1-A537DD785750}" type="datetime4">
              <a:rPr lang="en-US" smtClean="0"/>
              <a:t>April 24,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52190E-FBFF-AC0A-9978-5FFE0F2B4B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>
                <a:ea typeface="+mn-lt"/>
                <a:cs typeface="+mn-lt"/>
              </a:rPr>
              <a:t>MLMI </a:t>
            </a:r>
            <a:r>
              <a:rPr lang="en-US" err="1">
                <a:ea typeface="+mn-lt"/>
                <a:cs typeface="+mn-lt"/>
              </a:rPr>
              <a:t>Praktikum</a:t>
            </a:r>
            <a:r>
              <a:rPr lang="en-US">
                <a:ea typeface="+mn-lt"/>
                <a:cs typeface="+mn-lt"/>
              </a:rPr>
              <a:t> – Final Presentation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399993-C5F6-9F6A-ACA1-BBD3DDDD54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</a:t>
            </a:r>
            <a:fld id="{E27654B9-2CBC-E046-9B7E-70345D26D3AC}" type="slidenum">
              <a:rPr lang="en-US" smtClean="0"/>
              <a:t>19</a:t>
            </a:fld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3FA4F2D-5EBE-5695-7F17-4A0AC4012E8B}"/>
              </a:ext>
            </a:extLst>
          </p:cNvPr>
          <p:cNvSpPr txBox="1">
            <a:spLocks/>
          </p:cNvSpPr>
          <p:nvPr/>
        </p:nvSpPr>
        <p:spPr bwMode="auto">
          <a:xfrm>
            <a:off x="357847" y="625862"/>
            <a:ext cx="84042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33"/>
                </a:solidFill>
                <a:latin typeface="+mj-lt"/>
                <a:ea typeface="ＭＳ Ｐゴシック" charset="0"/>
                <a:cs typeface="ＭＳ Ｐゴシック" charset="0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33"/>
                </a:solidFill>
                <a:latin typeface="TUM Neue Helvetica 55 Regular" pitchFamily="34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33"/>
                </a:solidFill>
                <a:latin typeface="TUM Neue Helvetica 55 Regular" pitchFamily="34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33"/>
                </a:solidFill>
                <a:latin typeface="TUM Neue Helvetica 55 Regular" pitchFamily="34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33"/>
                </a:solidFill>
                <a:latin typeface="TUM Neue Helvetica 55 Regular" pitchFamily="34" charset="0"/>
                <a:ea typeface="ＭＳ Ｐゴシック" charset="0"/>
                <a:cs typeface="ＭＳ Ｐゴシック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33"/>
                </a:solidFill>
                <a:latin typeface="TUM Neue Helvetica 55 Regular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33"/>
                </a:solidFill>
                <a:latin typeface="TUM Neue Helvetica 55 Regular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33"/>
                </a:solidFill>
                <a:latin typeface="TUM Neue Helvetica 55 Regular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33"/>
                </a:solidFill>
                <a:latin typeface="TUM Neue Helvetica 55 Regular" pitchFamily="34" charset="0"/>
              </a:defRPr>
            </a:lvl9pPr>
          </a:lstStyle>
          <a:p>
            <a:pPr defTabSz="914400"/>
            <a:r>
              <a:rPr lang="en-US" kern="0">
                <a:solidFill>
                  <a:schemeClr val="bg2"/>
                </a:solidFill>
                <a:ea typeface="ＭＳ Ｐゴシック"/>
              </a:rPr>
              <a:t>Results &amp; Milestones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327461-785C-CFC2-652E-130F957278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8776" y="1530786"/>
            <a:ext cx="8405632" cy="3098364"/>
          </a:xfrm>
        </p:spPr>
        <p:txBody>
          <a:bodyPr/>
          <a:lstStyle/>
          <a:p>
            <a:pPr marL="0" indent="0">
              <a:buNone/>
            </a:pPr>
            <a:endParaRPr lang="tr-TR" b="1">
              <a:cs typeface="Arial"/>
            </a:endParaRPr>
          </a:p>
          <a:p>
            <a:endParaRPr lang="tr-TR" sz="1400" b="1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5B8436B-1DDD-081D-51AF-B681AF4F1707}"/>
              </a:ext>
            </a:extLst>
          </p:cNvPr>
          <p:cNvSpPr txBox="1"/>
          <p:nvPr/>
        </p:nvSpPr>
        <p:spPr>
          <a:xfrm>
            <a:off x="482434" y="1172688"/>
            <a:ext cx="8327571" cy="10772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Calibri"/>
              <a:buChar char="-"/>
            </a:pPr>
            <a:r>
              <a:rPr lang="en-US" b="1">
                <a:solidFill>
                  <a:srgbClr val="333333"/>
                </a:solidFill>
                <a:latin typeface="TUM Neue Helvetica 55 Regular"/>
                <a:ea typeface="ＭＳ Ｐゴシック"/>
                <a:cs typeface="Arial"/>
              </a:rPr>
              <a:t>Model Capacity Test</a:t>
            </a:r>
          </a:p>
          <a:p>
            <a:pPr marL="742950" lvl="1" indent="-285750">
              <a:buFont typeface="Courier New"/>
              <a:buChar char="o"/>
            </a:pPr>
            <a:r>
              <a:rPr lang="en-US" sz="1400">
                <a:solidFill>
                  <a:srgbClr val="333333"/>
                </a:solidFill>
                <a:latin typeface="Arial"/>
                <a:ea typeface="ＭＳ Ｐゴシック"/>
                <a:cs typeface="Arial"/>
              </a:rPr>
              <a:t>500 training data, single layer projection, latent dim = 128</a:t>
            </a:r>
          </a:p>
          <a:p>
            <a:pPr lvl="1"/>
            <a:endParaRPr lang="en-US" sz="1400">
              <a:solidFill>
                <a:srgbClr val="333333"/>
              </a:solidFill>
              <a:ea typeface="ＭＳ Ｐゴシック"/>
            </a:endParaRPr>
          </a:p>
          <a:p>
            <a:endParaRPr lang="en-US">
              <a:solidFill>
                <a:srgbClr val="000000"/>
              </a:solidFill>
              <a:ea typeface="ＭＳ Ｐゴシック"/>
            </a:endParaRPr>
          </a:p>
        </p:txBody>
      </p:sp>
      <p:pic>
        <p:nvPicPr>
          <p:cNvPr id="9" name="Picture 8" descr="A screenshot of a graph&#10;&#10;AI-generated content may be incorrect.">
            <a:extLst>
              <a:ext uri="{FF2B5EF4-FFF2-40B4-BE49-F238E27FC236}">
                <a16:creationId xmlns:a16="http://schemas.microsoft.com/office/drawing/2014/main" id="{D902A3B4-69AC-778F-E194-DA97BB2A86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2126" y="1710738"/>
            <a:ext cx="5592537" cy="3028309"/>
          </a:xfrm>
          <a:prstGeom prst="rect">
            <a:avLst/>
          </a:prstGeom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EF5C1EA0-6C60-6BBF-E3FF-66034DC44599}"/>
              </a:ext>
            </a:extLst>
          </p:cNvPr>
          <p:cNvSpPr/>
          <p:nvPr/>
        </p:nvSpPr>
        <p:spPr>
          <a:xfrm>
            <a:off x="6831489" y="4357416"/>
            <a:ext cx="315068" cy="27795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46CE51EF-04E5-18B0-DBDD-9EFADF6149F2}"/>
              </a:ext>
            </a:extLst>
          </p:cNvPr>
          <p:cNvSpPr/>
          <p:nvPr/>
        </p:nvSpPr>
        <p:spPr>
          <a:xfrm>
            <a:off x="4105027" y="4356136"/>
            <a:ext cx="315068" cy="27795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07D2BC0-17FA-4623-CEC0-F6C3534E6EB4}"/>
              </a:ext>
            </a:extLst>
          </p:cNvPr>
          <p:cNvSpPr/>
          <p:nvPr/>
        </p:nvSpPr>
        <p:spPr>
          <a:xfrm>
            <a:off x="4575049" y="3510019"/>
            <a:ext cx="315068" cy="27795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3475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65739B-C381-AF33-C600-AE5A3FC34A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20394F-5AD4-1C23-7D6B-F8296E4DD6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776" y="171450"/>
            <a:ext cx="8404225" cy="457200"/>
          </a:xfrm>
        </p:spPr>
        <p:txBody>
          <a:bodyPr/>
          <a:lstStyle/>
          <a:p>
            <a:r>
              <a:rPr lang="en-US" sz="2800">
                <a:ea typeface="ＭＳ Ｐゴシック"/>
              </a:rPr>
              <a:t>Project Progress &amp; Outlook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6A195C-D529-2A08-4447-7BDF6E53CEC4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A7BDDEFD-4FCF-7348-AEF1-A537DD785750}" type="datetime4">
              <a:rPr lang="en-US" smtClean="0"/>
              <a:t>April 24,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F35774-B5CB-EBCA-2144-6C619B759E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>
                <a:ea typeface="+mn-lt"/>
                <a:cs typeface="+mn-lt"/>
              </a:rPr>
              <a:t>MLMI </a:t>
            </a:r>
            <a:r>
              <a:rPr lang="en-US" err="1">
                <a:ea typeface="+mn-lt"/>
                <a:cs typeface="+mn-lt"/>
              </a:rPr>
              <a:t>Praktikum</a:t>
            </a:r>
            <a:r>
              <a:rPr lang="en-US">
                <a:ea typeface="+mn-lt"/>
                <a:cs typeface="+mn-lt"/>
              </a:rPr>
              <a:t> – Final Presentation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020112-1F6C-703A-1F1D-83A82AC777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</a:t>
            </a:r>
            <a:fld id="{E27654B9-2CBC-E046-9B7E-70345D26D3AC}" type="slidenum">
              <a:rPr lang="en-US" smtClean="0"/>
              <a:t>20</a:t>
            </a:fld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61F3B49-8A38-4DBF-0488-D48378EA9F29}"/>
              </a:ext>
            </a:extLst>
          </p:cNvPr>
          <p:cNvSpPr txBox="1">
            <a:spLocks/>
          </p:cNvSpPr>
          <p:nvPr/>
        </p:nvSpPr>
        <p:spPr bwMode="auto">
          <a:xfrm>
            <a:off x="357847" y="625862"/>
            <a:ext cx="84042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33"/>
                </a:solidFill>
                <a:latin typeface="+mj-lt"/>
                <a:ea typeface="ＭＳ Ｐゴシック" charset="0"/>
                <a:cs typeface="ＭＳ Ｐゴシック" charset="0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33"/>
                </a:solidFill>
                <a:latin typeface="TUM Neue Helvetica 55 Regular" pitchFamily="34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33"/>
                </a:solidFill>
                <a:latin typeface="TUM Neue Helvetica 55 Regular" pitchFamily="34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33"/>
                </a:solidFill>
                <a:latin typeface="TUM Neue Helvetica 55 Regular" pitchFamily="34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33"/>
                </a:solidFill>
                <a:latin typeface="TUM Neue Helvetica 55 Regular" pitchFamily="34" charset="0"/>
                <a:ea typeface="ＭＳ Ｐゴシック" charset="0"/>
                <a:cs typeface="ＭＳ Ｐゴシック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33"/>
                </a:solidFill>
                <a:latin typeface="TUM Neue Helvetica 55 Regular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33"/>
                </a:solidFill>
                <a:latin typeface="TUM Neue Helvetica 55 Regular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33"/>
                </a:solidFill>
                <a:latin typeface="TUM Neue Helvetica 55 Regular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33"/>
                </a:solidFill>
                <a:latin typeface="TUM Neue Helvetica 55 Regular" pitchFamily="34" charset="0"/>
              </a:defRPr>
            </a:lvl9pPr>
          </a:lstStyle>
          <a:p>
            <a:pPr defTabSz="914400"/>
            <a:r>
              <a:rPr lang="en-US" kern="0">
                <a:solidFill>
                  <a:schemeClr val="bg2"/>
                </a:solidFill>
                <a:ea typeface="ＭＳ Ｐゴシック"/>
              </a:rPr>
              <a:t>Results &amp; Milestones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0D6C1D-C682-9905-AD50-80E8C95445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8776" y="1530786"/>
            <a:ext cx="8405632" cy="3098364"/>
          </a:xfrm>
        </p:spPr>
        <p:txBody>
          <a:bodyPr/>
          <a:lstStyle/>
          <a:p>
            <a:pPr marL="0" indent="0">
              <a:buNone/>
            </a:pPr>
            <a:endParaRPr lang="tr-TR" b="1">
              <a:cs typeface="Arial"/>
            </a:endParaRPr>
          </a:p>
          <a:p>
            <a:endParaRPr lang="tr-TR" sz="1400" b="1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73A16F9-69B4-A67C-524D-622328931BF9}"/>
              </a:ext>
            </a:extLst>
          </p:cNvPr>
          <p:cNvSpPr txBox="1"/>
          <p:nvPr/>
        </p:nvSpPr>
        <p:spPr>
          <a:xfrm>
            <a:off x="482434" y="1172688"/>
            <a:ext cx="8327571" cy="10772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Calibri"/>
              <a:buChar char="-"/>
            </a:pPr>
            <a:r>
              <a:rPr lang="en-US" b="1">
                <a:solidFill>
                  <a:srgbClr val="333333"/>
                </a:solidFill>
                <a:latin typeface="TUM Neue Helvetica 55 Regular"/>
                <a:ea typeface="ＭＳ Ｐゴシック"/>
                <a:cs typeface="Arial"/>
              </a:rPr>
              <a:t>Model Capacity Test</a:t>
            </a:r>
          </a:p>
          <a:p>
            <a:pPr marL="742950" lvl="1" indent="-285750">
              <a:buFont typeface="Courier New"/>
              <a:buChar char="o"/>
            </a:pPr>
            <a:r>
              <a:rPr lang="en-US" sz="1400">
                <a:solidFill>
                  <a:srgbClr val="333333"/>
                </a:solidFill>
                <a:latin typeface="Arial"/>
                <a:ea typeface="ＭＳ Ｐゴシック"/>
                <a:cs typeface="Arial"/>
              </a:rPr>
              <a:t>1000 training data, single layer projection, latent dim = 128</a:t>
            </a:r>
          </a:p>
          <a:p>
            <a:pPr lvl="1"/>
            <a:endParaRPr lang="en-US" sz="1400">
              <a:solidFill>
                <a:srgbClr val="333333"/>
              </a:solidFill>
              <a:ea typeface="ＭＳ Ｐゴシック"/>
            </a:endParaRPr>
          </a:p>
          <a:p>
            <a:endParaRPr lang="en-US">
              <a:solidFill>
                <a:srgbClr val="000000"/>
              </a:solidFill>
              <a:ea typeface="ＭＳ Ｐゴシック"/>
            </a:endParaRPr>
          </a:p>
        </p:txBody>
      </p:sp>
      <p:pic>
        <p:nvPicPr>
          <p:cNvPr id="14" name="Picture 13" descr="A screenshot of a graph&#10;&#10;AI-generated content may be incorrect.">
            <a:extLst>
              <a:ext uri="{FF2B5EF4-FFF2-40B4-BE49-F238E27FC236}">
                <a16:creationId xmlns:a16="http://schemas.microsoft.com/office/drawing/2014/main" id="{97FB3D48-9D62-89FF-494F-9FB9765984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9017" y="1711159"/>
            <a:ext cx="5245555" cy="2918610"/>
          </a:xfrm>
          <a:prstGeom prst="rect">
            <a:avLst/>
          </a:prstGeom>
        </p:spPr>
      </p:pic>
      <p:sp>
        <p:nvSpPr>
          <p:cNvPr id="16" name="Oval 15">
            <a:extLst>
              <a:ext uri="{FF2B5EF4-FFF2-40B4-BE49-F238E27FC236}">
                <a16:creationId xmlns:a16="http://schemas.microsoft.com/office/drawing/2014/main" id="{12F0FF25-6577-CFDD-E67F-6E303B168850}"/>
              </a:ext>
            </a:extLst>
          </p:cNvPr>
          <p:cNvSpPr/>
          <p:nvPr/>
        </p:nvSpPr>
        <p:spPr>
          <a:xfrm>
            <a:off x="4131174" y="4272019"/>
            <a:ext cx="342282" cy="27795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391E53C1-25DE-696F-A4FB-36241D05E500}"/>
              </a:ext>
            </a:extLst>
          </p:cNvPr>
          <p:cNvSpPr/>
          <p:nvPr/>
        </p:nvSpPr>
        <p:spPr>
          <a:xfrm>
            <a:off x="4572001" y="3462393"/>
            <a:ext cx="253836" cy="22353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4FBF3B9C-CFC4-D5FF-4BCB-A803FEE43BCE}"/>
              </a:ext>
            </a:extLst>
          </p:cNvPr>
          <p:cNvSpPr/>
          <p:nvPr/>
        </p:nvSpPr>
        <p:spPr>
          <a:xfrm>
            <a:off x="6713248" y="4268735"/>
            <a:ext cx="315068" cy="27795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72665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258222-707C-02B5-C924-36ABEC11C5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93C1E-E7BA-BB31-2A5B-D93D91ED3D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776" y="171450"/>
            <a:ext cx="8404225" cy="457200"/>
          </a:xfrm>
        </p:spPr>
        <p:txBody>
          <a:bodyPr/>
          <a:lstStyle/>
          <a:p>
            <a:r>
              <a:rPr lang="en-US" sz="2800">
                <a:ea typeface="ＭＳ Ｐゴシック"/>
              </a:rPr>
              <a:t>Project Progress &amp; Outlook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9737EC-ADEC-AE26-7364-6CC32B5C19DD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A7BDDEFD-4FCF-7348-AEF1-A537DD785750}" type="datetime4">
              <a:rPr lang="en-US" smtClean="0"/>
              <a:t>April 24,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A75C68-2745-DAC7-6D5E-0DBB7B3446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>
                <a:ea typeface="+mn-lt"/>
                <a:cs typeface="+mn-lt"/>
              </a:rPr>
              <a:t>MLMI </a:t>
            </a:r>
            <a:r>
              <a:rPr lang="en-US" err="1">
                <a:ea typeface="+mn-lt"/>
                <a:cs typeface="+mn-lt"/>
              </a:rPr>
              <a:t>Praktikum</a:t>
            </a:r>
            <a:r>
              <a:rPr lang="en-US">
                <a:ea typeface="+mn-lt"/>
                <a:cs typeface="+mn-lt"/>
              </a:rPr>
              <a:t> – Final Presentation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82DEA2-917A-9017-1474-21B9EE88CA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</a:t>
            </a:r>
            <a:fld id="{E27654B9-2CBC-E046-9B7E-70345D26D3AC}" type="slidenum">
              <a:rPr lang="en-US" smtClean="0"/>
              <a:t>21</a:t>
            </a:fld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C1ED0EBC-9B73-F148-A7B3-00820E5B192F}"/>
              </a:ext>
            </a:extLst>
          </p:cNvPr>
          <p:cNvSpPr txBox="1">
            <a:spLocks/>
          </p:cNvSpPr>
          <p:nvPr/>
        </p:nvSpPr>
        <p:spPr bwMode="auto">
          <a:xfrm>
            <a:off x="357847" y="625862"/>
            <a:ext cx="84042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33"/>
                </a:solidFill>
                <a:latin typeface="+mj-lt"/>
                <a:ea typeface="ＭＳ Ｐゴシック" charset="0"/>
                <a:cs typeface="ＭＳ Ｐゴシック" charset="0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33"/>
                </a:solidFill>
                <a:latin typeface="TUM Neue Helvetica 55 Regular" pitchFamily="34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33"/>
                </a:solidFill>
                <a:latin typeface="TUM Neue Helvetica 55 Regular" pitchFamily="34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33"/>
                </a:solidFill>
                <a:latin typeface="TUM Neue Helvetica 55 Regular" pitchFamily="34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33"/>
                </a:solidFill>
                <a:latin typeface="TUM Neue Helvetica 55 Regular" pitchFamily="34" charset="0"/>
                <a:ea typeface="ＭＳ Ｐゴシック" charset="0"/>
                <a:cs typeface="ＭＳ Ｐゴシック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33"/>
                </a:solidFill>
                <a:latin typeface="TUM Neue Helvetica 55 Regular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33"/>
                </a:solidFill>
                <a:latin typeface="TUM Neue Helvetica 55 Regular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33"/>
                </a:solidFill>
                <a:latin typeface="TUM Neue Helvetica 55 Regular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33"/>
                </a:solidFill>
                <a:latin typeface="TUM Neue Helvetica 55 Regular" pitchFamily="34" charset="0"/>
              </a:defRPr>
            </a:lvl9pPr>
          </a:lstStyle>
          <a:p>
            <a:pPr defTabSz="914400"/>
            <a:r>
              <a:rPr lang="en-US" kern="0">
                <a:solidFill>
                  <a:schemeClr val="bg2"/>
                </a:solidFill>
                <a:ea typeface="ＭＳ Ｐゴシック"/>
              </a:rPr>
              <a:t>Results &amp; Milestones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926738-E969-3A4A-7CF2-C9BBB48583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8776" y="1530786"/>
            <a:ext cx="8405632" cy="3098364"/>
          </a:xfrm>
        </p:spPr>
        <p:txBody>
          <a:bodyPr/>
          <a:lstStyle/>
          <a:p>
            <a:pPr marL="0" indent="0">
              <a:buNone/>
            </a:pPr>
            <a:endParaRPr lang="tr-TR" b="1">
              <a:cs typeface="Arial"/>
            </a:endParaRPr>
          </a:p>
          <a:p>
            <a:endParaRPr lang="tr-TR" sz="1400" b="1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55F389F-AD4A-07AB-5C68-78518D1501F6}"/>
              </a:ext>
            </a:extLst>
          </p:cNvPr>
          <p:cNvSpPr txBox="1"/>
          <p:nvPr/>
        </p:nvSpPr>
        <p:spPr>
          <a:xfrm>
            <a:off x="482434" y="1172688"/>
            <a:ext cx="8327571" cy="10772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Calibri"/>
              <a:buChar char="-"/>
            </a:pPr>
            <a:r>
              <a:rPr lang="en-US" b="1">
                <a:solidFill>
                  <a:srgbClr val="333333"/>
                </a:solidFill>
                <a:latin typeface="TUM Neue Helvetica 55 Regular"/>
                <a:ea typeface="ＭＳ Ｐゴシック"/>
                <a:cs typeface="Arial"/>
              </a:rPr>
              <a:t>Model Capacity Test</a:t>
            </a:r>
          </a:p>
          <a:p>
            <a:pPr marL="742950" lvl="1" indent="-285750">
              <a:buFont typeface="Courier New"/>
              <a:buChar char="o"/>
            </a:pPr>
            <a:r>
              <a:rPr lang="en-US" sz="1400">
                <a:solidFill>
                  <a:srgbClr val="333333"/>
                </a:solidFill>
                <a:latin typeface="Arial"/>
                <a:ea typeface="ＭＳ Ｐゴシック"/>
                <a:cs typeface="Arial"/>
              </a:rPr>
              <a:t>1000 training data, three layers projection, latent dim = 128</a:t>
            </a:r>
          </a:p>
          <a:p>
            <a:pPr lvl="1"/>
            <a:endParaRPr lang="en-US" sz="1400">
              <a:solidFill>
                <a:srgbClr val="333333"/>
              </a:solidFill>
              <a:ea typeface="ＭＳ Ｐゴシック"/>
            </a:endParaRPr>
          </a:p>
          <a:p>
            <a:endParaRPr lang="en-US">
              <a:solidFill>
                <a:srgbClr val="000000"/>
              </a:solidFill>
              <a:ea typeface="ＭＳ Ｐゴシック"/>
            </a:endParaRPr>
          </a:p>
        </p:txBody>
      </p:sp>
      <p:pic>
        <p:nvPicPr>
          <p:cNvPr id="11" name="Picture 10" descr="A screenshot of a graph&#10;&#10;AI-generated content may be incorrect.">
            <a:extLst>
              <a:ext uri="{FF2B5EF4-FFF2-40B4-BE49-F238E27FC236}">
                <a16:creationId xmlns:a16="http://schemas.microsoft.com/office/drawing/2014/main" id="{D694BE13-E7B3-C05F-FF30-89AB204BCE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6123" y="1711405"/>
            <a:ext cx="5222051" cy="2856888"/>
          </a:xfrm>
          <a:prstGeom prst="rect">
            <a:avLst/>
          </a:prstGeom>
        </p:spPr>
      </p:pic>
      <p:sp>
        <p:nvSpPr>
          <p:cNvPr id="10" name="Oval 9">
            <a:extLst>
              <a:ext uri="{FF2B5EF4-FFF2-40B4-BE49-F238E27FC236}">
                <a16:creationId xmlns:a16="http://schemas.microsoft.com/office/drawing/2014/main" id="{84ECA967-2AC6-B07C-8B14-C7B6B2A73F92}"/>
              </a:ext>
            </a:extLst>
          </p:cNvPr>
          <p:cNvSpPr/>
          <p:nvPr/>
        </p:nvSpPr>
        <p:spPr>
          <a:xfrm>
            <a:off x="3770417" y="4278822"/>
            <a:ext cx="253836" cy="22353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EFCA056B-12B8-7E21-9B19-6C62A66C478E}"/>
              </a:ext>
            </a:extLst>
          </p:cNvPr>
          <p:cNvSpPr/>
          <p:nvPr/>
        </p:nvSpPr>
        <p:spPr>
          <a:xfrm>
            <a:off x="4646222" y="3395594"/>
            <a:ext cx="253836" cy="22353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CECB059-6813-D71E-0F03-429135CE7A66}"/>
              </a:ext>
            </a:extLst>
          </p:cNvPr>
          <p:cNvSpPr/>
          <p:nvPr/>
        </p:nvSpPr>
        <p:spPr>
          <a:xfrm>
            <a:off x="6360722" y="4282404"/>
            <a:ext cx="253836" cy="22353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53326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FDBEDF-E462-7B23-5E07-2EC349C2B9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A41950-3D2E-8CF4-B06A-C1F94DCC53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776" y="171450"/>
            <a:ext cx="8404225" cy="457200"/>
          </a:xfrm>
        </p:spPr>
        <p:txBody>
          <a:bodyPr/>
          <a:lstStyle/>
          <a:p>
            <a:r>
              <a:rPr lang="tr-TR" err="1">
                <a:solidFill>
                  <a:schemeClr val="tx1"/>
                </a:solidFill>
                <a:ea typeface="+mj-lt"/>
                <a:cs typeface="+mj-lt"/>
              </a:rPr>
              <a:t>Take</a:t>
            </a:r>
            <a:r>
              <a:rPr lang="tr-TR">
                <a:solidFill>
                  <a:schemeClr val="tx1"/>
                </a:solidFill>
                <a:ea typeface="+mj-lt"/>
                <a:cs typeface="+mj-lt"/>
              </a:rPr>
              <a:t>-Home </a:t>
            </a:r>
            <a:r>
              <a:rPr lang="tr-TR" err="1">
                <a:solidFill>
                  <a:schemeClr val="tx1"/>
                </a:solidFill>
                <a:ea typeface="+mj-lt"/>
                <a:cs typeface="+mj-lt"/>
              </a:rPr>
              <a:t>Messages</a:t>
            </a:r>
            <a:r>
              <a:rPr lang="tr-TR">
                <a:solidFill>
                  <a:schemeClr val="tx1"/>
                </a:solidFill>
                <a:ea typeface="+mj-lt"/>
                <a:cs typeface="+mj-lt"/>
              </a:rPr>
              <a:t> &amp; Feedback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29BA36-58CA-7A0F-E397-98B2FC2DBD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8776" y="1530786"/>
            <a:ext cx="8405632" cy="3098364"/>
          </a:xfrm>
        </p:spPr>
        <p:txBody>
          <a:bodyPr/>
          <a:lstStyle/>
          <a:p>
            <a:r>
              <a:rPr lang="en-GB">
                <a:latin typeface="TUM Neue Helvetica 55 Regular"/>
                <a:ea typeface="ＭＳ Ｐゴシック"/>
                <a:cs typeface="Arial"/>
              </a:rPr>
              <a:t>Working with a complex dataset requires careful design</a:t>
            </a:r>
            <a:endParaRPr lang="tr-TR">
              <a:latin typeface="TUM Neue Helvetica 55 Regular"/>
              <a:ea typeface="ＭＳ Ｐゴシック"/>
              <a:cs typeface="Arial"/>
            </a:endParaRPr>
          </a:p>
          <a:p>
            <a:pPr lvl="1"/>
            <a:r>
              <a:rPr lang="tr-TR" err="1">
                <a:latin typeface="TUM Neue Helvetica 55 Regular"/>
                <a:ea typeface="ＭＳ Ｐゴシック"/>
                <a:cs typeface="Arial"/>
              </a:rPr>
              <a:t>More</a:t>
            </a:r>
            <a:r>
              <a:rPr lang="tr-TR">
                <a:latin typeface="TUM Neue Helvetica 55 Regular"/>
                <a:ea typeface="ＭＳ Ｐゴシック"/>
                <a:cs typeface="Arial"/>
              </a:rPr>
              <a:t> </a:t>
            </a:r>
            <a:r>
              <a:rPr lang="tr-TR" err="1">
                <a:latin typeface="TUM Neue Helvetica 55 Regular"/>
                <a:ea typeface="ＭＳ Ｐゴシック"/>
                <a:cs typeface="Arial"/>
              </a:rPr>
              <a:t>than</a:t>
            </a:r>
            <a:r>
              <a:rPr lang="tr-TR">
                <a:latin typeface="TUM Neue Helvetica 55 Regular"/>
                <a:ea typeface="ＭＳ Ｐゴシック"/>
                <a:cs typeface="Arial"/>
              </a:rPr>
              <a:t> 40k </a:t>
            </a:r>
            <a:r>
              <a:rPr lang="tr-TR" err="1">
                <a:latin typeface="TUM Neue Helvetica 55 Regular"/>
                <a:ea typeface="ＭＳ Ｐゴシック"/>
                <a:cs typeface="Arial"/>
              </a:rPr>
              <a:t>graphs</a:t>
            </a:r>
            <a:r>
              <a:rPr lang="tr-TR">
                <a:latin typeface="TUM Neue Helvetica 55 Regular"/>
                <a:ea typeface="ＭＳ Ｐゴシック"/>
                <a:cs typeface="Arial"/>
              </a:rPr>
              <a:t> </a:t>
            </a:r>
            <a:r>
              <a:rPr lang="tr-TR" err="1">
                <a:latin typeface="TUM Neue Helvetica 55 Regular"/>
                <a:ea typeface="ＭＳ Ｐゴシック"/>
                <a:cs typeface="Arial"/>
              </a:rPr>
              <a:t>and</a:t>
            </a:r>
            <a:r>
              <a:rPr lang="tr-TR">
                <a:latin typeface="TUM Neue Helvetica 55 Regular"/>
                <a:ea typeface="ＭＳ Ｐゴシック"/>
                <a:cs typeface="Arial"/>
              </a:rPr>
              <a:t> 2405 </a:t>
            </a:r>
            <a:r>
              <a:rPr lang="tr-TR" err="1">
                <a:latin typeface="TUM Neue Helvetica 55 Regular"/>
                <a:ea typeface="ＭＳ Ｐゴシック"/>
                <a:cs typeface="Arial"/>
              </a:rPr>
              <a:t>classes</a:t>
            </a:r>
            <a:endParaRPr lang="tr-TR">
              <a:latin typeface="TUM Neue Helvetica 55 Regular"/>
              <a:ea typeface="ＭＳ Ｐゴシック"/>
              <a:cs typeface="Arial"/>
            </a:endParaRPr>
          </a:p>
          <a:p>
            <a:r>
              <a:rPr lang="tr-TR"/>
              <a:t>C</a:t>
            </a:r>
            <a:r>
              <a:rPr lang="en-GB" err="1"/>
              <a:t>hoice</a:t>
            </a:r>
            <a:r>
              <a:rPr lang="en-GB"/>
              <a:t> of the loss function is critical</a:t>
            </a:r>
            <a:endParaRPr lang="tr-TR"/>
          </a:p>
          <a:p>
            <a:pPr lvl="1"/>
            <a:r>
              <a:rPr lang="tr-TR"/>
              <a:t>L</a:t>
            </a:r>
            <a:r>
              <a:rPr lang="en-GB" err="1"/>
              <a:t>oss</a:t>
            </a:r>
            <a:r>
              <a:rPr lang="en-GB"/>
              <a:t> function tailored to the dataset</a:t>
            </a:r>
            <a:r>
              <a:rPr lang="tr-TR"/>
              <a:t> </a:t>
            </a:r>
          </a:p>
          <a:p>
            <a:pPr lvl="1"/>
            <a:endParaRPr lang="tr-TR">
              <a:latin typeface="TUM Neue Helvetica 55 Regular"/>
              <a:ea typeface="ＭＳ Ｐゴシック"/>
              <a:cs typeface="Arial"/>
            </a:endParaRPr>
          </a:p>
          <a:p>
            <a:pPr lvl="1"/>
            <a:endParaRPr lang="tr-TR">
              <a:latin typeface="TUM Neue Helvetica 55 Regular"/>
              <a:ea typeface="ＭＳ Ｐゴシック"/>
              <a:cs typeface="Arial"/>
            </a:endParaRPr>
          </a:p>
          <a:p>
            <a:r>
              <a:rPr lang="en-GB"/>
              <a:t>More Face-to-Face </a:t>
            </a:r>
            <a:r>
              <a:rPr lang="tr-TR"/>
              <a:t>m</a:t>
            </a:r>
            <a:r>
              <a:rPr lang="en-GB" err="1"/>
              <a:t>eetings</a:t>
            </a:r>
            <a:endParaRPr lang="tr-TR"/>
          </a:p>
          <a:p>
            <a:pPr lvl="1"/>
            <a:r>
              <a:rPr lang="tr-TR" err="1">
                <a:latin typeface="TUM Neue Helvetica 55 Regular"/>
                <a:ea typeface="ＭＳ Ｐゴシック"/>
                <a:cs typeface="Arial"/>
              </a:rPr>
              <a:t>To</a:t>
            </a:r>
            <a:r>
              <a:rPr lang="tr-TR">
                <a:latin typeface="TUM Neue Helvetica 55 Regular"/>
                <a:ea typeface="ＭＳ Ｐゴシック"/>
                <a:cs typeface="Arial"/>
              </a:rPr>
              <a:t> </a:t>
            </a:r>
            <a:r>
              <a:rPr lang="tr-TR" err="1">
                <a:latin typeface="TUM Neue Helvetica 55 Regular"/>
                <a:ea typeface="ＭＳ Ｐゴシック"/>
                <a:cs typeface="Arial"/>
              </a:rPr>
              <a:t>improve</a:t>
            </a:r>
            <a:r>
              <a:rPr lang="tr-TR">
                <a:latin typeface="TUM Neue Helvetica 55 Regular"/>
                <a:ea typeface="ＭＳ Ｐゴシック"/>
                <a:cs typeface="Arial"/>
              </a:rPr>
              <a:t> </a:t>
            </a:r>
            <a:r>
              <a:rPr lang="tr-TR" err="1">
                <a:latin typeface="TUM Neue Helvetica 55 Regular"/>
                <a:ea typeface="ＭＳ Ｐゴシック"/>
                <a:cs typeface="Arial"/>
              </a:rPr>
              <a:t>better</a:t>
            </a:r>
            <a:r>
              <a:rPr lang="tr-TR">
                <a:latin typeface="TUM Neue Helvetica 55 Regular"/>
                <a:ea typeface="ＭＳ Ｐゴシック"/>
                <a:cs typeface="Arial"/>
              </a:rPr>
              <a:t> </a:t>
            </a:r>
            <a:r>
              <a:rPr lang="tr-TR" err="1">
                <a:latin typeface="TUM Neue Helvetica 55 Regular"/>
                <a:ea typeface="ＭＳ Ｐゴシック"/>
                <a:cs typeface="Arial"/>
              </a:rPr>
              <a:t>communication</a:t>
            </a:r>
            <a:r>
              <a:rPr lang="tr-TR">
                <a:latin typeface="TUM Neue Helvetica 55 Regular"/>
                <a:ea typeface="ＭＳ Ｐゴシック"/>
                <a:cs typeface="Arial"/>
              </a:rPr>
              <a:t> </a:t>
            </a:r>
            <a:r>
              <a:rPr lang="tr-TR" err="1">
                <a:latin typeface="TUM Neue Helvetica 55 Regular"/>
                <a:ea typeface="ＭＳ Ｐゴシック"/>
                <a:cs typeface="Arial"/>
              </a:rPr>
              <a:t>among</a:t>
            </a:r>
            <a:r>
              <a:rPr lang="tr-TR">
                <a:latin typeface="TUM Neue Helvetica 55 Regular"/>
                <a:ea typeface="ＭＳ Ｐゴシック"/>
                <a:cs typeface="Arial"/>
              </a:rPr>
              <a:t> </a:t>
            </a:r>
            <a:r>
              <a:rPr lang="tr-TR" err="1">
                <a:latin typeface="TUM Neue Helvetica 55 Regular"/>
                <a:ea typeface="ＭＳ Ｐゴシック"/>
                <a:cs typeface="Arial"/>
              </a:rPr>
              <a:t>team</a:t>
            </a:r>
            <a:r>
              <a:rPr lang="tr-TR">
                <a:latin typeface="TUM Neue Helvetica 55 Regular"/>
                <a:ea typeface="ＭＳ Ｐゴシック"/>
                <a:cs typeface="Arial"/>
              </a:rPr>
              <a:t> </a:t>
            </a:r>
            <a:r>
              <a:rPr lang="tr-TR" err="1">
                <a:latin typeface="TUM Neue Helvetica 55 Regular"/>
                <a:ea typeface="ＭＳ Ｐゴシック"/>
                <a:cs typeface="Arial"/>
              </a:rPr>
              <a:t>members</a:t>
            </a:r>
            <a:endParaRPr lang="tr-TR">
              <a:latin typeface="TUM Neue Helvetica 55 Regular"/>
              <a:ea typeface="ＭＳ Ｐゴシック"/>
              <a:cs typeface="Arial"/>
            </a:endParaRPr>
          </a:p>
          <a:p>
            <a:r>
              <a:rPr lang="en-GB">
                <a:latin typeface="TUM Neue Helvetica 55 Regular"/>
                <a:ea typeface="ＭＳ Ｐゴシック"/>
                <a:cs typeface="Arial"/>
              </a:rPr>
              <a:t> Ask </a:t>
            </a:r>
            <a:r>
              <a:rPr lang="tr-TR">
                <a:latin typeface="TUM Neue Helvetica 55 Regular"/>
                <a:ea typeface="ＭＳ Ｐゴシック"/>
                <a:cs typeface="Arial"/>
              </a:rPr>
              <a:t>q</a:t>
            </a:r>
            <a:r>
              <a:rPr lang="en-GB" err="1">
                <a:latin typeface="TUM Neue Helvetica 55 Regular"/>
                <a:ea typeface="ＭＳ Ｐゴシック"/>
                <a:cs typeface="Arial"/>
              </a:rPr>
              <a:t>uestions</a:t>
            </a:r>
            <a:r>
              <a:rPr lang="en-GB">
                <a:latin typeface="TUM Neue Helvetica 55 Regular"/>
                <a:ea typeface="ＭＳ Ｐゴシック"/>
                <a:cs typeface="Arial"/>
              </a:rPr>
              <a:t> at the </a:t>
            </a:r>
            <a:r>
              <a:rPr lang="tr-TR">
                <a:latin typeface="TUM Neue Helvetica 55 Regular"/>
                <a:ea typeface="ＭＳ Ｐゴシック"/>
                <a:cs typeface="Arial"/>
              </a:rPr>
              <a:t>r</a:t>
            </a:r>
            <a:r>
              <a:rPr lang="en-GB" err="1">
                <a:latin typeface="TUM Neue Helvetica 55 Regular"/>
                <a:ea typeface="ＭＳ Ｐゴシック"/>
                <a:cs typeface="Arial"/>
              </a:rPr>
              <a:t>ight</a:t>
            </a:r>
            <a:r>
              <a:rPr lang="en-GB">
                <a:latin typeface="TUM Neue Helvetica 55 Regular"/>
                <a:ea typeface="ＭＳ Ｐゴシック"/>
                <a:cs typeface="Arial"/>
              </a:rPr>
              <a:t> </a:t>
            </a:r>
            <a:r>
              <a:rPr lang="tr-TR">
                <a:latin typeface="TUM Neue Helvetica 55 Regular"/>
                <a:ea typeface="ＭＳ Ｐゴシック"/>
                <a:cs typeface="Arial"/>
              </a:rPr>
              <a:t>t</a:t>
            </a:r>
            <a:r>
              <a:rPr lang="en-GB" err="1">
                <a:latin typeface="TUM Neue Helvetica 55 Regular"/>
                <a:ea typeface="ＭＳ Ｐゴシック"/>
                <a:cs typeface="Arial"/>
              </a:rPr>
              <a:t>ime</a:t>
            </a:r>
            <a:endParaRPr lang="tr-TR">
              <a:latin typeface="TUM Neue Helvetica 55 Regular"/>
              <a:ea typeface="ＭＳ Ｐゴシック"/>
              <a:cs typeface="Arial"/>
            </a:endParaRPr>
          </a:p>
          <a:p>
            <a:pPr lvl="1"/>
            <a:r>
              <a:rPr lang="tr-TR" err="1">
                <a:latin typeface="TUM Neue Helvetica 55 Regular"/>
                <a:ea typeface="ＭＳ Ｐゴシック"/>
                <a:cs typeface="Arial"/>
              </a:rPr>
              <a:t>To</a:t>
            </a:r>
            <a:r>
              <a:rPr lang="tr-TR">
                <a:latin typeface="TUM Neue Helvetica 55 Regular"/>
                <a:ea typeface="ＭＳ Ｐゴシック"/>
                <a:cs typeface="Arial"/>
              </a:rPr>
              <a:t> </a:t>
            </a:r>
            <a:r>
              <a:rPr lang="tr-TR" err="1">
                <a:latin typeface="TUM Neue Helvetica 55 Regular"/>
                <a:ea typeface="ＭＳ Ｐゴシック"/>
                <a:cs typeface="Arial"/>
              </a:rPr>
              <a:t>prevent</a:t>
            </a:r>
            <a:r>
              <a:rPr lang="tr-TR">
                <a:latin typeface="TUM Neue Helvetica 55 Regular"/>
                <a:ea typeface="ＭＳ Ｐゴシック"/>
                <a:cs typeface="Arial"/>
              </a:rPr>
              <a:t> </a:t>
            </a:r>
            <a:r>
              <a:rPr lang="tr-TR" err="1">
                <a:latin typeface="TUM Neue Helvetica 55 Regular"/>
                <a:ea typeface="ＭＳ Ｐゴシック"/>
                <a:cs typeface="Arial"/>
              </a:rPr>
              <a:t>delays</a:t>
            </a:r>
            <a:r>
              <a:rPr lang="tr-TR">
                <a:latin typeface="TUM Neue Helvetica 55 Regular"/>
                <a:ea typeface="ＭＳ Ｐゴシック"/>
                <a:cs typeface="Arial"/>
              </a:rPr>
              <a:t> </a:t>
            </a:r>
            <a:r>
              <a:rPr lang="tr-TR" err="1">
                <a:latin typeface="TUM Neue Helvetica 55 Regular"/>
                <a:ea typeface="ＭＳ Ｐゴシック"/>
                <a:cs typeface="Arial"/>
              </a:rPr>
              <a:t>and</a:t>
            </a:r>
            <a:r>
              <a:rPr lang="tr-TR">
                <a:latin typeface="TUM Neue Helvetica 55 Regular"/>
                <a:ea typeface="ＭＳ Ｐゴシック"/>
                <a:cs typeface="Arial"/>
              </a:rPr>
              <a:t> </a:t>
            </a:r>
            <a:r>
              <a:rPr lang="tr-TR" err="1">
                <a:latin typeface="TUM Neue Helvetica 55 Regular"/>
                <a:ea typeface="ＭＳ Ｐゴシック"/>
                <a:cs typeface="Arial"/>
              </a:rPr>
              <a:t>roadblockings</a:t>
            </a:r>
            <a:endParaRPr lang="tr-TR">
              <a:latin typeface="TUM Neue Helvetica 55 Regular"/>
              <a:ea typeface="ＭＳ Ｐゴシック"/>
              <a:cs typeface="Arial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FBFC88-9AAA-B951-CC88-53535F46EA51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A7BDDEFD-4FCF-7348-AEF1-A537DD785750}" type="datetime4">
              <a:rPr lang="en-US" smtClean="0"/>
              <a:t>April 24,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4DCEE5-B434-BB5C-2F49-FF366CF5DB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>
                <a:ea typeface="+mn-lt"/>
                <a:cs typeface="+mn-lt"/>
              </a:rPr>
              <a:t>MLMI </a:t>
            </a:r>
            <a:r>
              <a:rPr lang="en-US" err="1">
                <a:ea typeface="+mn-lt"/>
                <a:cs typeface="+mn-lt"/>
              </a:rPr>
              <a:t>Praktikum</a:t>
            </a:r>
            <a:r>
              <a:rPr lang="en-US">
                <a:ea typeface="+mn-lt"/>
                <a:cs typeface="+mn-lt"/>
              </a:rPr>
              <a:t> – Final Presentation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CBB43A-3A74-F959-F100-FAAB1B0399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</a:t>
            </a:r>
            <a:fld id="{E27654B9-2CBC-E046-9B7E-70345D26D3AC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1572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3EE1CE-1B9E-3BBF-3C48-A20F39CE36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78E047-EF1D-C827-1A03-D1A57B2251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>
                <a:ea typeface="ＭＳ Ｐゴシック"/>
              </a:rPr>
              <a:t>Conclusion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F3D3F5-5CE7-91E3-A7E4-67B83C675E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8776" y="1083526"/>
            <a:ext cx="8415571" cy="3545624"/>
          </a:xfrm>
        </p:spPr>
        <p:txBody>
          <a:bodyPr/>
          <a:lstStyle/>
          <a:p>
            <a:pPr>
              <a:buFont typeface="Arial"/>
              <a:buChar char="•"/>
            </a:pPr>
            <a:r>
              <a:rPr lang="tr-TR" err="1">
                <a:ea typeface="ＭＳ Ｐゴシック"/>
              </a:rPr>
              <a:t>GiG</a:t>
            </a:r>
            <a:r>
              <a:rPr lang="tr-TR">
                <a:ea typeface="ＭＳ Ｐゴシック"/>
              </a:rPr>
              <a:t> </a:t>
            </a:r>
            <a:r>
              <a:rPr lang="tr-TR" err="1">
                <a:ea typeface="ＭＳ Ｐゴシック"/>
              </a:rPr>
              <a:t>architecture</a:t>
            </a:r>
            <a:r>
              <a:rPr lang="tr-TR">
                <a:ea typeface="ＭＳ Ｐゴシック"/>
              </a:rPr>
              <a:t> </a:t>
            </a:r>
            <a:r>
              <a:rPr lang="tr-TR" err="1">
                <a:ea typeface="ＭＳ Ｐゴシック"/>
              </a:rPr>
              <a:t>for</a:t>
            </a:r>
            <a:r>
              <a:rPr lang="tr-TR">
                <a:ea typeface="ＭＳ Ｐゴシック"/>
              </a:rPr>
              <a:t> </a:t>
            </a:r>
            <a:r>
              <a:rPr lang="tr-TR" err="1">
                <a:ea typeface="ＭＳ Ｐゴシック"/>
              </a:rPr>
              <a:t>true</a:t>
            </a:r>
            <a:r>
              <a:rPr lang="tr-TR">
                <a:ea typeface="ＭＳ Ｐゴシック"/>
              </a:rPr>
              <a:t> gene </a:t>
            </a:r>
            <a:r>
              <a:rPr lang="tr-TR" err="1">
                <a:ea typeface="ＭＳ Ｐゴシック"/>
              </a:rPr>
              <a:t>classification</a:t>
            </a:r>
            <a:r>
              <a:rPr lang="tr-TR">
                <a:ea typeface="ＭＳ Ｐゴシック"/>
              </a:rPr>
              <a:t> </a:t>
            </a:r>
            <a:r>
              <a:rPr lang="tr-TR" err="1">
                <a:ea typeface="ＭＳ Ｐゴシック"/>
              </a:rPr>
              <a:t>with</a:t>
            </a:r>
            <a:r>
              <a:rPr lang="tr-TR">
                <a:ea typeface="ＭＳ Ｐゴシック"/>
              </a:rPr>
              <a:t> 2405 </a:t>
            </a:r>
            <a:r>
              <a:rPr lang="tr-TR" err="1">
                <a:ea typeface="ＭＳ Ｐゴシック"/>
              </a:rPr>
              <a:t>classes</a:t>
            </a:r>
            <a:endParaRPr lang="tr-TR">
              <a:ea typeface="ＭＳ Ｐゴシック"/>
            </a:endParaRPr>
          </a:p>
          <a:p>
            <a:pPr>
              <a:buFont typeface="Arial"/>
              <a:buChar char="•"/>
            </a:pPr>
            <a:r>
              <a:rPr lang="tr-TR">
                <a:ea typeface="ＭＳ Ｐゴシック"/>
              </a:rPr>
              <a:t>Main </a:t>
            </a:r>
            <a:r>
              <a:rPr lang="tr-TR" err="1">
                <a:ea typeface="ＭＳ Ｐゴシック"/>
              </a:rPr>
              <a:t>issues</a:t>
            </a:r>
            <a:r>
              <a:rPr lang="tr-TR">
                <a:ea typeface="ＭＳ Ｐゴシック"/>
              </a:rPr>
              <a:t> </a:t>
            </a:r>
            <a:r>
              <a:rPr lang="tr-TR" err="1">
                <a:ea typeface="ＭＳ Ｐゴシック"/>
              </a:rPr>
              <a:t>are</a:t>
            </a:r>
            <a:r>
              <a:rPr lang="tr-TR">
                <a:ea typeface="ＭＳ Ｐゴシック"/>
              </a:rPr>
              <a:t> </a:t>
            </a:r>
            <a:r>
              <a:rPr lang="tr-TR" err="1">
                <a:ea typeface="ＭＳ Ｐゴシック"/>
              </a:rPr>
              <a:t>overfitting</a:t>
            </a:r>
            <a:r>
              <a:rPr lang="tr-TR">
                <a:ea typeface="ＭＳ Ｐゴシック"/>
              </a:rPr>
              <a:t>, </a:t>
            </a:r>
            <a:r>
              <a:rPr lang="tr-TR" err="1">
                <a:ea typeface="ＭＳ Ｐゴシック"/>
              </a:rPr>
              <a:t>loss</a:t>
            </a:r>
            <a:r>
              <a:rPr lang="tr-TR">
                <a:ea typeface="ＭＳ Ｐゴシック"/>
              </a:rPr>
              <a:t> </a:t>
            </a:r>
            <a:r>
              <a:rPr lang="tr-TR" err="1">
                <a:ea typeface="ＭＳ Ｐゴシック"/>
              </a:rPr>
              <a:t>function</a:t>
            </a:r>
            <a:r>
              <a:rPr lang="tr-TR">
                <a:ea typeface="ＭＳ Ｐゴシック"/>
              </a:rPr>
              <a:t> </a:t>
            </a:r>
            <a:r>
              <a:rPr lang="tr-TR" err="1">
                <a:ea typeface="ＭＳ Ｐゴシック"/>
              </a:rPr>
              <a:t>selection</a:t>
            </a:r>
            <a:r>
              <a:rPr lang="tr-TR">
                <a:ea typeface="ＭＳ Ｐゴシック"/>
              </a:rPr>
              <a:t> </a:t>
            </a:r>
            <a:r>
              <a:rPr lang="tr-TR" err="1">
                <a:ea typeface="ＭＳ Ｐゴシック"/>
              </a:rPr>
              <a:t>and</a:t>
            </a:r>
            <a:r>
              <a:rPr lang="tr-TR">
                <a:ea typeface="ＭＳ Ｐゴシック"/>
              </a:rPr>
              <a:t> </a:t>
            </a:r>
            <a:r>
              <a:rPr lang="tr-TR" err="1">
                <a:ea typeface="ＭＳ Ｐゴシック"/>
              </a:rPr>
              <a:t>architecture</a:t>
            </a:r>
            <a:r>
              <a:rPr lang="tr-TR">
                <a:ea typeface="ＭＳ Ｐゴシック"/>
              </a:rPr>
              <a:t> </a:t>
            </a:r>
            <a:r>
              <a:rPr lang="tr-TR" err="1">
                <a:ea typeface="ＭＳ Ｐゴシック"/>
              </a:rPr>
              <a:t>configuration</a:t>
            </a:r>
            <a:endParaRPr lang="tr-TR">
              <a:ea typeface="ＭＳ Ｐゴシック"/>
            </a:endParaRPr>
          </a:p>
          <a:p>
            <a:pPr>
              <a:buFont typeface="Arial"/>
              <a:buChar char="•"/>
            </a:pPr>
            <a:r>
              <a:rPr lang="tr-TR">
                <a:ea typeface="ＭＳ Ｐゴシック"/>
              </a:rPr>
              <a:t>O</a:t>
            </a:r>
            <a:r>
              <a:rPr lang="en-GB" err="1">
                <a:ea typeface="ＭＳ Ｐゴシック"/>
              </a:rPr>
              <a:t>ur</a:t>
            </a:r>
            <a:r>
              <a:rPr lang="en-GB">
                <a:ea typeface="ＭＳ Ｐゴシック"/>
              </a:rPr>
              <a:t> work lays a </a:t>
            </a:r>
            <a:r>
              <a:rPr lang="en-GB" err="1">
                <a:ea typeface="ＭＳ Ｐゴシック"/>
              </a:rPr>
              <a:t>foundatio</a:t>
            </a:r>
            <a:r>
              <a:rPr lang="tr-TR">
                <a:ea typeface="ＭＳ Ｐゴシック"/>
              </a:rPr>
              <a:t>n </a:t>
            </a:r>
            <a:r>
              <a:rPr lang="tr-TR" err="1">
                <a:ea typeface="ＭＳ Ｐゴシック"/>
              </a:rPr>
              <a:t>for</a:t>
            </a:r>
            <a:r>
              <a:rPr lang="tr-TR">
                <a:ea typeface="ＭＳ Ｐゴシック"/>
              </a:rPr>
              <a:t> </a:t>
            </a:r>
            <a:r>
              <a:rPr lang="en-US">
                <a:ea typeface="ＭＳ Ｐゴシック"/>
                <a:cs typeface="Arial"/>
              </a:rPr>
              <a:t>unknown disease and gene patterns</a:t>
            </a:r>
            <a:endParaRPr lang="tr-TR"/>
          </a:p>
          <a:p>
            <a:pPr>
              <a:buFont typeface="Arial"/>
              <a:buChar char="•"/>
            </a:pPr>
            <a:r>
              <a:rPr lang="tr-TR" err="1">
                <a:ea typeface="ＭＳ Ｐゴシック"/>
              </a:rPr>
              <a:t>Graph-based</a:t>
            </a:r>
            <a:r>
              <a:rPr lang="tr-TR">
                <a:ea typeface="ＭＳ Ｐゴシック"/>
              </a:rPr>
              <a:t> </a:t>
            </a:r>
            <a:r>
              <a:rPr lang="tr-TR" err="1">
                <a:ea typeface="ＭＳ Ｐゴシック"/>
              </a:rPr>
              <a:t>learning</a:t>
            </a:r>
            <a:r>
              <a:rPr lang="tr-TR">
                <a:ea typeface="ＭＳ Ｐゴシック"/>
              </a:rPr>
              <a:t> is </a:t>
            </a:r>
            <a:r>
              <a:rPr lang="tr-TR" err="1">
                <a:ea typeface="ＭＳ Ｐゴシック"/>
              </a:rPr>
              <a:t>challenging</a:t>
            </a:r>
            <a:r>
              <a:rPr lang="tr-TR">
                <a:ea typeface="ＭＳ Ｐゴシック"/>
              </a:rPr>
              <a:t> but it </a:t>
            </a:r>
            <a:r>
              <a:rPr lang="tr-TR" err="1">
                <a:ea typeface="ＭＳ Ｐゴシック"/>
              </a:rPr>
              <a:t>teaches</a:t>
            </a:r>
            <a:r>
              <a:rPr lang="tr-TR">
                <a:ea typeface="ＭＳ Ｐゴシック"/>
              </a:rPr>
              <a:t> a lot</a:t>
            </a:r>
          </a:p>
          <a:p>
            <a:pPr>
              <a:buFont typeface="Arial"/>
              <a:buChar char="•"/>
            </a:pPr>
            <a:r>
              <a:rPr lang="tr-TR" err="1">
                <a:ea typeface="ＭＳ Ｐゴシック"/>
              </a:rPr>
              <a:t>Always</a:t>
            </a:r>
            <a:r>
              <a:rPr lang="tr-TR">
                <a:ea typeface="ＭＳ Ｐゴシック"/>
              </a:rPr>
              <a:t> start </a:t>
            </a:r>
            <a:r>
              <a:rPr lang="tr-TR" err="1">
                <a:ea typeface="ＭＳ Ｐゴシック"/>
              </a:rPr>
              <a:t>with</a:t>
            </a:r>
            <a:r>
              <a:rPr lang="tr-TR">
                <a:ea typeface="ＭＳ Ｐゴシック"/>
              </a:rPr>
              <a:t> </a:t>
            </a:r>
            <a:r>
              <a:rPr lang="tr-TR" err="1">
                <a:ea typeface="ＭＳ Ｐゴシック"/>
              </a:rPr>
              <a:t>small</a:t>
            </a:r>
            <a:r>
              <a:rPr lang="tr-TR">
                <a:ea typeface="ＭＳ Ｐゴシック"/>
              </a:rPr>
              <a:t> model </a:t>
            </a:r>
            <a:r>
              <a:rPr lang="tr-TR" err="1">
                <a:ea typeface="ＭＳ Ｐゴシック"/>
              </a:rPr>
              <a:t>with</a:t>
            </a:r>
            <a:r>
              <a:rPr lang="tr-TR">
                <a:ea typeface="ＭＳ Ｐゴシック"/>
              </a:rPr>
              <a:t> </a:t>
            </a:r>
            <a:r>
              <a:rPr lang="tr-TR" err="1">
                <a:ea typeface="ＭＳ Ｐゴシック"/>
              </a:rPr>
              <a:t>few</a:t>
            </a:r>
            <a:r>
              <a:rPr lang="tr-TR">
                <a:ea typeface="ＭＳ Ｐゴシック"/>
              </a:rPr>
              <a:t> </a:t>
            </a:r>
            <a:r>
              <a:rPr lang="tr-TR" err="1">
                <a:ea typeface="ＭＳ Ｐゴシック"/>
              </a:rPr>
              <a:t>dataset</a:t>
            </a:r>
            <a:r>
              <a:rPr lang="tr-TR">
                <a:ea typeface="ＭＳ Ｐゴシック"/>
              </a:rPr>
              <a:t> </a:t>
            </a:r>
            <a:r>
              <a:rPr lang="tr-TR" err="1">
                <a:ea typeface="ＭＳ Ｐゴシック"/>
              </a:rPr>
              <a:t>samples</a:t>
            </a:r>
            <a:endParaRPr lang="tr-T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FDFFC7-FBD3-B0D0-8A8D-6683264C6295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A7BDDEFD-4FCF-7348-AEF1-A537DD785750}" type="datetime4">
              <a:rPr lang="en-US" smtClean="0"/>
              <a:t>April 24, 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4D36A1-23DB-22AE-4C9A-1BABD3682C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>
                <a:ea typeface="+mn-lt"/>
                <a:cs typeface="+mn-lt"/>
              </a:rPr>
              <a:t>MLMI </a:t>
            </a:r>
            <a:r>
              <a:rPr lang="en-US" err="1">
                <a:ea typeface="+mn-lt"/>
                <a:cs typeface="+mn-lt"/>
              </a:rPr>
              <a:t>Praktikum</a:t>
            </a:r>
            <a:r>
              <a:rPr lang="en-US">
                <a:ea typeface="+mn-lt"/>
                <a:cs typeface="+mn-lt"/>
              </a:rPr>
              <a:t> – Final Presentation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FA4BD5-2137-09A9-C2EF-5EA54054FC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Slide </a:t>
            </a:r>
            <a:fld id="{E27654B9-2CBC-E046-9B7E-70345D26D3AC}" type="slidenum">
              <a:rPr lang="en-US" smtClean="0"/>
              <a:t>23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85DBC5F9-328E-A328-F729-DBD37D26FBC0}"/>
              </a:ext>
            </a:extLst>
          </p:cNvPr>
          <p:cNvGrpSpPr/>
          <p:nvPr/>
        </p:nvGrpSpPr>
        <p:grpSpPr>
          <a:xfrm>
            <a:off x="-1323" y="2974204"/>
            <a:ext cx="9070376" cy="1579373"/>
            <a:chOff x="-1323" y="2974204"/>
            <a:chExt cx="9070376" cy="1579373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54CA23E8-865E-C240-6800-57B2FA8053B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18983" y="2974204"/>
              <a:ext cx="6850070" cy="1579373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52DEE2A3-3620-3156-D7D7-899E1EBDB5F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r="32343"/>
            <a:stretch/>
          </p:blipFill>
          <p:spPr>
            <a:xfrm>
              <a:off x="-1323" y="3193993"/>
              <a:ext cx="1515307" cy="926111"/>
            </a:xfrm>
            <a:prstGeom prst="rect">
              <a:avLst/>
            </a:prstGeom>
          </p:spPr>
        </p:pic>
        <p:sp>
          <p:nvSpPr>
            <p:cNvPr id="10" name="Arrow: Right 9">
              <a:extLst>
                <a:ext uri="{FF2B5EF4-FFF2-40B4-BE49-F238E27FC236}">
                  <a16:creationId xmlns:a16="http://schemas.microsoft.com/office/drawing/2014/main" id="{DB4E69B4-46C9-34D8-7E6C-79E71F44CFA1}"/>
                </a:ext>
              </a:extLst>
            </p:cNvPr>
            <p:cNvSpPr/>
            <p:nvPr/>
          </p:nvSpPr>
          <p:spPr>
            <a:xfrm>
              <a:off x="1619884" y="3539820"/>
              <a:ext cx="597108" cy="234456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9435346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0F7D96-3124-EC79-CBE9-FE71C23C36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5E7F0597-6669-C4E3-7B3A-AED3FD69ED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89705" y="168931"/>
            <a:ext cx="6954100" cy="539441"/>
          </a:xfrm>
        </p:spPr>
        <p:txBody>
          <a:bodyPr/>
          <a:lstStyle/>
          <a:p>
            <a:r>
              <a:rPr lang="en-US">
                <a:ea typeface="ＭＳ Ｐゴシック"/>
              </a:rPr>
              <a:t>Q&amp;A</a:t>
            </a:r>
            <a:endParaRPr lang="en-US"/>
          </a:p>
        </p:txBody>
      </p:sp>
      <p:sp>
        <p:nvSpPr>
          <p:cNvPr id="5" name="Title 6">
            <a:extLst>
              <a:ext uri="{FF2B5EF4-FFF2-40B4-BE49-F238E27FC236}">
                <a16:creationId xmlns:a16="http://schemas.microsoft.com/office/drawing/2014/main" id="{AD8D0503-B729-E0A1-A869-E351A03F2626}"/>
              </a:ext>
            </a:extLst>
          </p:cNvPr>
          <p:cNvSpPr txBox="1">
            <a:spLocks/>
          </p:cNvSpPr>
          <p:nvPr/>
        </p:nvSpPr>
        <p:spPr bwMode="auto">
          <a:xfrm>
            <a:off x="2188776" y="1863916"/>
            <a:ext cx="6954100" cy="818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+mj-lt"/>
                <a:ea typeface="ＭＳ Ｐゴシック" charset="0"/>
                <a:cs typeface="ＭＳ Ｐゴシック" charset="0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33"/>
                </a:solidFill>
                <a:latin typeface="TUM Neue Helvetica 55 Regular" pitchFamily="34" charset="0"/>
                <a:ea typeface="ＭＳ Ｐゴシック" charset="0"/>
                <a:cs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33"/>
                </a:solidFill>
                <a:latin typeface="TUM Neue Helvetica 55 Regular" pitchFamily="34" charset="0"/>
                <a:ea typeface="ＭＳ Ｐゴシック" charset="0"/>
                <a:cs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33"/>
                </a:solidFill>
                <a:latin typeface="TUM Neue Helvetica 55 Regular" pitchFamily="34" charset="0"/>
                <a:ea typeface="ＭＳ Ｐゴシック" charset="0"/>
                <a:cs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33"/>
                </a:solidFill>
                <a:latin typeface="TUM Neue Helvetica 55 Regular" pitchFamily="34" charset="0"/>
                <a:ea typeface="ＭＳ Ｐゴシック" charset="0"/>
                <a:cs typeface="ＭＳ Ｐゴシック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33"/>
                </a:solidFill>
                <a:latin typeface="TUM Neue Helvetica 55 Regular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33"/>
                </a:solidFill>
                <a:latin typeface="TUM Neue Helvetica 55 Regular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33"/>
                </a:solidFill>
                <a:latin typeface="TUM Neue Helvetica 55 Regular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333333"/>
                </a:solidFill>
                <a:latin typeface="TUM Neue Helvetica 55 Regular" pitchFamily="34" charset="0"/>
              </a:defRPr>
            </a:lvl9pPr>
          </a:lstStyle>
          <a:p>
            <a:pPr defTabSz="914400"/>
            <a:r>
              <a:rPr lang="en-US" sz="2400" b="0" kern="0">
                <a:ea typeface="ＭＳ Ｐゴシック"/>
              </a:rPr>
              <a:t>Thank you for your attention,</a:t>
            </a:r>
            <a:endParaRPr lang="en-US" sz="2400" b="0" kern="0"/>
          </a:p>
          <a:p>
            <a:pPr defTabSz="914400"/>
            <a:r>
              <a:rPr lang="en-US" sz="2400" b="0" kern="0">
                <a:ea typeface="ＭＳ Ｐゴシック"/>
              </a:rPr>
              <a:t>do you have any questions?</a:t>
            </a:r>
            <a:endParaRPr lang="en-US" sz="2400" b="0" kern="0"/>
          </a:p>
        </p:txBody>
      </p:sp>
    </p:spTree>
    <p:extLst>
      <p:ext uri="{BB962C8B-B14F-4D97-AF65-F5344CB8AC3E}">
        <p14:creationId xmlns:p14="http://schemas.microsoft.com/office/powerpoint/2010/main" val="4252275760"/>
      </p:ext>
    </p:extLst>
  </p:cSld>
  <p:clrMapOvr>
    <a:masterClrMapping/>
  </p:clrMapOvr>
</p:sld>
</file>

<file path=ppt/theme/theme1.xml><?xml version="1.0" encoding="utf-8"?>
<a:theme xmlns:a="http://schemas.openxmlformats.org/drawingml/2006/main" name="camp-tum-jhu-slides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TUM Neue Helvetica 55 Regular"/>
        <a:ea typeface=""/>
        <a:cs typeface=""/>
      </a:majorFont>
      <a:minorFont>
        <a:latin typeface="TUM Neue Helvetica 55 Regula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2014-04-21_2_TUM_JHU_template.potx" id="{A844F364-FC86-4F6B-B063-4CB3193CFD33}" vid="{02C20712-33D1-4C90-BE68-BFEAC6B84A3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camp-tum-jhu-slides-16_9 (3)</Template>
  <Application>Microsoft Office PowerPoint</Application>
  <PresentationFormat>On-screen Show (16:9)</PresentationFormat>
  <Slides>24</Slides>
  <Notes>6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5" baseType="lpstr">
      <vt:lpstr>camp-tum-jhu-slides</vt:lpstr>
      <vt:lpstr>Investigating Patients with Rare Diseases Using Graph-Based Models</vt:lpstr>
      <vt:lpstr>Table of Contents</vt:lpstr>
      <vt:lpstr>Project Outline</vt:lpstr>
      <vt:lpstr>Project Outline</vt:lpstr>
      <vt:lpstr>Project Outline</vt:lpstr>
      <vt:lpstr>Project Progress &amp; Outlook</vt:lpstr>
      <vt:lpstr>Shepherd Dataset Overview</vt:lpstr>
      <vt:lpstr>Methodology</vt:lpstr>
      <vt:lpstr>Methodology</vt:lpstr>
      <vt:lpstr>Methodology</vt:lpstr>
      <vt:lpstr>Methodology</vt:lpstr>
      <vt:lpstr>Methodology</vt:lpstr>
      <vt:lpstr>Project Progress &amp; Outlook</vt:lpstr>
      <vt:lpstr>Project Progress &amp; Outlook</vt:lpstr>
      <vt:lpstr>Project Progress &amp; Outlook</vt:lpstr>
      <vt:lpstr>Project Progress &amp; Outlook</vt:lpstr>
      <vt:lpstr>Project Progress &amp; Outlook</vt:lpstr>
      <vt:lpstr>Project Progress &amp; Outlook</vt:lpstr>
      <vt:lpstr>Project Progress &amp; Outlook</vt:lpstr>
      <vt:lpstr>Project Progress &amp; Outlook</vt:lpstr>
      <vt:lpstr>Project Progress &amp; Outlook</vt:lpstr>
      <vt:lpstr>Take-Home Messages &amp; Feedback</vt:lpstr>
      <vt:lpstr>Conclusion</vt:lpstr>
      <vt:lpstr>Q&amp;A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Büşra Nur Zeybek</dc:creator>
  <cp:revision>2</cp:revision>
  <dcterms:created xsi:type="dcterms:W3CDTF">2025-02-25T13:04:51Z</dcterms:created>
  <dcterms:modified xsi:type="dcterms:W3CDTF">2025-04-24T14:16:36Z</dcterms:modified>
</cp:coreProperties>
</file>